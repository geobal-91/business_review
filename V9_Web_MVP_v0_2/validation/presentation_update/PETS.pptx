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80" r:id="rId22"/>
    <p:sldId id="260" r:id="rId11"/>
    <p:sldId id="281" r:id="rId21"/>
    <p:sldId id="261" r:id="rId12"/>
    <p:sldId id="262" r:id="rId13"/>
    <p:sldId id="282" r:id="rId20"/>
    <p:sldId id="266" r:id="rId17"/>
    <p:sldId id="268" r:id="rId19"/>
    <p:sldId id="277" r:id="rId29"/>
    <p:sldId id="278" r:id="rId30"/>
    <p:sldId id="279" r:id="rId31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7" Type="http://schemas.openxmlformats.org/officeDocument/2006/relationships/slide" Target="slides/slide11.xml"/><Relationship Id="rId19" Type="http://schemas.openxmlformats.org/officeDocument/2006/relationships/slide" Target="slides/slide13.xml"/><Relationship Id="rId20" Type="http://schemas.openxmlformats.org/officeDocument/2006/relationships/slide" Target="slides/slide24.xml"/><Relationship Id="rId21" Type="http://schemas.openxmlformats.org/officeDocument/2006/relationships/slide" Target="slides/slide23.xml"/><Relationship Id="rId22" Type="http://schemas.openxmlformats.org/officeDocument/2006/relationships/slide" Target="slides/slide22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€#,##0.00</c:formatCode>
                <c:ptCount val="2"/>
                <c:pt idx="0">
                  <c:v>14.626436781609195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€#,##0.00</c:formatCode>
                <c:ptCount val="2"/>
                <c:pt idx="1">
                  <c:v>16.710824014275204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1.72407121855776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0.18599999999999997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0.2640490936985056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43263821808057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0.9440000000000001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0.9130246652046374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272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0.037096774193548385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798451257027686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0.02258064516129032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3295852339026201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0.038775510204081653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0.05342537960078331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7539536817861928"/>
          <c:min val="-0.027464205744993832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0.05454545454545445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0.03524329240563895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7539536817861928"/>
          <c:min val="-0.027464205744993832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-0.014954257565094942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0.017563105531351875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7539536817861928"/>
          <c:min val="-0.027464205744993832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GMV (€)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Sheet1!$A$2:$A$13</c:f>
              <c:strCache>
                <c:ptCount val="12"/>
                <c:pt idx="0">
                  <c:v>Sep 25</c:v>
                </c:pt>
                <c:pt idx="1">
                  <c:v>Oct 25</c:v>
                </c:pt>
                <c:pt idx="2">
                  <c:v>Nov 25</c:v>
                </c:pt>
                <c:pt idx="3">
                  <c:v>Dec 25</c:v>
                </c:pt>
                <c:pt idx="4">
                  <c:v>Jan 26</c:v>
                </c:pt>
                <c:pt idx="5">
                  <c:v>Feb 26</c:v>
                </c:pt>
                <c:pt idx="6">
                  <c:v>Mar 26</c:v>
                </c:pt>
                <c:pt idx="7">
                  <c:v>Apr 26</c:v>
                </c:pt>
                <c:pt idx="8">
                  <c:v>May 26</c:v>
                </c:pt>
                <c:pt idx="9">
                  <c:v>Jun 26</c:v>
                </c:pt>
                <c:pt idx="10">
                  <c:v>Jul 26</c:v>
                </c:pt>
                <c:pt idx="11">
                  <c:v>Aug 26</c:v>
                </c:pt>
              </c:strCache>
            </c:strRef>
          </c:cat>
          <c:val>
            <c:numRef>
              <c:f>Sheet1!$B$2:$B$13</c:f>
              <c:numCache>
                <c:formatCode>#,##0</c:formatCode>
                <c:ptCount val="12"/>
                <c:pt idx="0">
                  <c:v>3000.0</c:v>
                </c:pt>
                <c:pt idx="1">
                  <c:v>3190.0</c:v>
                </c:pt>
                <c:pt idx="2">
                  <c:v>3380.0</c:v>
                </c:pt>
                <c:pt idx="3">
                  <c:v>3570.0</c:v>
                </c:pt>
                <c:pt idx="4">
                  <c:v>3760.0</c:v>
                </c:pt>
                <c:pt idx="5">
                  <c:v>3950.0</c:v>
                </c:pt>
                <c:pt idx="6">
                  <c:v>4140.0</c:v>
                </c:pt>
                <c:pt idx="7">
                  <c:v>4330.0</c:v>
                </c:pt>
                <c:pt idx="8">
                  <c:v>4520.0</c:v>
                </c:pt>
                <c:pt idx="9">
                  <c:v>4710.0</c:v>
                </c:pt>
                <c:pt idx="10">
                  <c:v>4900.0</c:v>
                </c:pt>
                <c:pt idx="11">
                  <c:v>5090.0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</c:marker>
          <c:cat>
            <c:strRef>
              <c:f>Sheet1!$A$2:$A$13</c:f>
              <c:strCache>
                <c:ptCount val="12"/>
                <c:pt idx="0">
                  <c:v>Sep 25</c:v>
                </c:pt>
                <c:pt idx="1">
                  <c:v>Oct 25</c:v>
                </c:pt>
                <c:pt idx="2">
                  <c:v>Nov 25</c:v>
                </c:pt>
                <c:pt idx="3">
                  <c:v>Dec 25</c:v>
                </c:pt>
                <c:pt idx="4">
                  <c:v>Jan 26</c:v>
                </c:pt>
                <c:pt idx="5">
                  <c:v>Feb 26</c:v>
                </c:pt>
                <c:pt idx="6">
                  <c:v>Mar 26</c:v>
                </c:pt>
                <c:pt idx="7">
                  <c:v>Apr 26</c:v>
                </c:pt>
                <c:pt idx="8">
                  <c:v>May 26</c:v>
                </c:pt>
                <c:pt idx="9">
                  <c:v>Jun 26</c:v>
                </c:pt>
                <c:pt idx="10">
                  <c:v>Jul 26</c:v>
                </c:pt>
                <c:pt idx="11">
                  <c:v>Aug 26</c:v>
                </c:pt>
              </c:strCache>
            </c:strRef>
          </c:cat>
          <c:val>
            <c:numRef>
              <c:f>Sheet1!$C$2:$C$13</c:f>
              <c:numCache>
                <c:formatCode>#,##0</c:formatCode>
                <c:ptCount val="12"/>
                <c:pt idx="0">
                  <c:v>150.0</c:v>
                </c:pt>
                <c:pt idx="1">
                  <c:v>168.0</c:v>
                </c:pt>
                <c:pt idx="2">
                  <c:v>186.0</c:v>
                </c:pt>
                <c:pt idx="3">
                  <c:v>204.0</c:v>
                </c:pt>
                <c:pt idx="4">
                  <c:v>222.0</c:v>
                </c:pt>
                <c:pt idx="5">
                  <c:v>240.0</c:v>
                </c:pt>
                <c:pt idx="6">
                  <c:v>258.0</c:v>
                </c:pt>
                <c:pt idx="7">
                  <c:v>276.0</c:v>
                </c:pt>
                <c:pt idx="8">
                  <c:v>294.0</c:v>
                </c:pt>
                <c:pt idx="9">
                  <c:v>312.0</c:v>
                </c:pt>
                <c:pt idx="10">
                  <c:v>330.0</c:v>
                </c:pt>
                <c:pt idx="11">
                  <c:v>348.0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title>
          <c:tx>
            <c:rich>
              <a:bodyPr/>
              <a:lstStyle/>
              <a:p>
                <a:r>
                  <a:t>GMV (€)</a:t>
                </a:r>
              </a:p>
            </c:rich>
          </c:tx>
          <c:layout/>
          <c:overlay val="0"/>
        </c:title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title>
          <c:tx>
            <c:rich>
              <a:bodyPr/>
              <a:lstStyle/>
              <a:p>
                <a:r>
                  <a:t>Orders</a:t>
                </a:r>
              </a:p>
            </c:rich>
          </c:tx>
          <c:layout/>
          <c:overlay val="0"/>
        </c:title>
        <c:numFmt formatCode="#,##0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11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 Sessions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Sheet1!$A$2:$A$13</c:f>
              <c:strCache>
                <c:ptCount val="12"/>
                <c:pt idx="0">
                  <c:v>Sep 25</c:v>
                </c:pt>
                <c:pt idx="1">
                  <c:v>Oct 25</c:v>
                </c:pt>
                <c:pt idx="2">
                  <c:v>Nov 25</c:v>
                </c:pt>
                <c:pt idx="3">
                  <c:v>Dec 25</c:v>
                </c:pt>
                <c:pt idx="4">
                  <c:v>Jan 26</c:v>
                </c:pt>
                <c:pt idx="5">
                  <c:v>Feb 26</c:v>
                </c:pt>
                <c:pt idx="6">
                  <c:v>Mar 26</c:v>
                </c:pt>
                <c:pt idx="7">
                  <c:v>Apr 26</c:v>
                </c:pt>
                <c:pt idx="8">
                  <c:v>May 26</c:v>
                </c:pt>
                <c:pt idx="9">
                  <c:v>Jun 26</c:v>
                </c:pt>
                <c:pt idx="10">
                  <c:v>Jul 26</c:v>
                </c:pt>
                <c:pt idx="11">
                  <c:v>Aug 26</c:v>
                </c:pt>
              </c:strCache>
            </c:strRef>
          </c:cat>
          <c:val>
            <c:numRef>
              <c:f>Sheet1!$B$2:$B$13</c:f>
              <c:numCache>
                <c:formatCode>#,##0</c:formatCode>
                <c:ptCount val="12"/>
                <c:pt idx="0">
                  <c:v>1000.0</c:v>
                </c:pt>
                <c:pt idx="1">
                  <c:v>1070.0</c:v>
                </c:pt>
                <c:pt idx="2">
                  <c:v>1140.0</c:v>
                </c:pt>
                <c:pt idx="3">
                  <c:v>1210.0</c:v>
                </c:pt>
                <c:pt idx="4">
                  <c:v>1280.0</c:v>
                </c:pt>
                <c:pt idx="5">
                  <c:v>1350.0</c:v>
                </c:pt>
                <c:pt idx="6">
                  <c:v>1420.0</c:v>
                </c:pt>
                <c:pt idx="7">
                  <c:v>1490.0</c:v>
                </c:pt>
                <c:pt idx="8">
                  <c:v>1560.0</c:v>
                </c:pt>
                <c:pt idx="9">
                  <c:v>1630.0</c:v>
                </c:pt>
                <c:pt idx="10">
                  <c:v>1700.0</c:v>
                </c:pt>
                <c:pt idx="11">
                  <c:v>1770.0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Partner CVR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</c:marker>
          <c:cat>
            <c:strRef>
              <c:f>Sheet1!$A$2:$A$13</c:f>
              <c:strCache>
                <c:ptCount val="12"/>
                <c:pt idx="0">
                  <c:v>Sep 25</c:v>
                </c:pt>
                <c:pt idx="1">
                  <c:v>Oct 25</c:v>
                </c:pt>
                <c:pt idx="2">
                  <c:v>Nov 25</c:v>
                </c:pt>
                <c:pt idx="3">
                  <c:v>Dec 25</c:v>
                </c:pt>
                <c:pt idx="4">
                  <c:v>Jan 26</c:v>
                </c:pt>
                <c:pt idx="5">
                  <c:v>Feb 26</c:v>
                </c:pt>
                <c:pt idx="6">
                  <c:v>Mar 26</c:v>
                </c:pt>
                <c:pt idx="7">
                  <c:v>Apr 26</c:v>
                </c:pt>
                <c:pt idx="8">
                  <c:v>May 26</c:v>
                </c:pt>
                <c:pt idx="9">
                  <c:v>Jun 26</c:v>
                </c:pt>
                <c:pt idx="10">
                  <c:v>Jul 26</c:v>
                </c:pt>
                <c:pt idx="11">
                  <c:v>Aug 26</c:v>
                </c:pt>
              </c:strCache>
            </c:strRef>
          </c:cat>
          <c:val>
            <c:numRef>
              <c:f>Sheet1!$C$2:$C$13</c:f>
              <c:numCache>
                <c:formatCode>0.0%</c:formatCode>
                <c:ptCount val="12"/>
                <c:pt idx="0">
                  <c:v>0.12</c:v>
                </c:pt>
                <c:pt idx="1">
                  <c:v>0.126</c:v>
                </c:pt>
                <c:pt idx="2">
                  <c:v>0.132</c:v>
                </c:pt>
                <c:pt idx="3">
                  <c:v>0.138</c:v>
                </c:pt>
                <c:pt idx="4">
                  <c:v>0.144</c:v>
                </c:pt>
                <c:pt idx="5">
                  <c:v>0.15</c:v>
                </c:pt>
                <c:pt idx="6">
                  <c:v>0.156</c:v>
                </c:pt>
                <c:pt idx="7">
                  <c:v>0.162</c:v>
                </c:pt>
                <c:pt idx="8">
                  <c:v>0.16799999999999998</c:v>
                </c:pt>
                <c:pt idx="9">
                  <c:v>0.17400000000000002</c:v>
                </c:pt>
                <c:pt idx="10">
                  <c:v>0.18</c:v>
                </c:pt>
                <c:pt idx="11">
                  <c:v>0.18599999999999997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title>
          <c:tx>
            <c:rich>
              <a:bodyPr/>
              <a:lstStyle/>
              <a:p>
                <a:r>
                  <a:t>Partner Sessions</a:t>
                </a:r>
              </a:p>
            </c:rich>
          </c:tx>
          <c:layout/>
          <c:overlay val="0"/>
        </c:title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title>
          <c:tx>
            <c:rich>
              <a:bodyPr/>
              <a:lstStyle/>
              <a:p>
                <a:r>
                  <a:t>Partner CVR</a:t>
                </a:r>
              </a:p>
            </c:rich>
          </c:tx>
          <c:layout/>
          <c:overlay val="0"/>
        </c:title>
        <c:numFmt formatCode="0%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11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0.9440000000000001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95% target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349999999999999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0.037096774193548385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798451257027686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0.02258064516129032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3295852339026201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"CVR", "Likely Operational Driver": "Assortment / pricing / content / discoverability / funnel quality: investigate",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Relationship Id="rId5" Type="http://schemas.openxmlformats.org/officeDocument/2006/relationships/chart" Target="../charts/chart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notesSlide" Target="../notesSlides/notesSlide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notesSlide" Target="../notesSlides/notesSlide1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CC3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07969"/>
            <a:ext cx="2331720" cy="7648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85632" y="256032"/>
            <a:ext cx="22860" cy="84124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8479" y="274320"/>
            <a:ext cx="2509024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21488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000" b="1">
                <a:solidFill>
                  <a:srgbClr val="232323"/>
                </a:solidFill>
                <a:latin typeface="Montserrat"/>
              </a:defRPr>
            </a:pPr>
            <a:r>
              <a:t>Partner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718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September 2025 –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29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Sub-Business Unit: PETS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28232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V9_Beta2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Business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SBU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€152,169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5.3%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9,106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3.5%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1.8%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CVR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0.3 pp vs prev.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Composition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30752"/>
            <a:ext cx="512064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77639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97763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050791"/>
            <a:ext cx="732782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62272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4622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535424"/>
            <a:ext cx="483396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4690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94690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020056"/>
            <a:ext cx="240895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337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Key Takeaways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30752"/>
            <a:ext cx="539496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9592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GMV increased 5.3% vs previous month.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9884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Both order volume and average basket supported growth.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0017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CVR improved by 0.3 pp to 26.4%.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Performance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Last 12 available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bu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Across the displayed period, PETS GMV changed +100.4%, while orders changed +73.2%.</a:t>
            </a:r>
          </a:p>
        </p:txBody>
      </p:sp>
      <p:pic>
        <p:nvPicPr>
          <p:cNvPr id="8" name="Picture 7" descr="sbu_p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51308"/>
            <a:ext cx="1371600" cy="1366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Partner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Comparable period: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€14.63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933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12.5% worse than PETS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18.6%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791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7.8 pp worse than PETS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94.4%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649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3.1 pp better than PETS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3.7%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050791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2.4 pp better than PETS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36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365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0.3 pp better than PETS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Growth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+3.9%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01168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-1.5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788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+5.5%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78892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+1.9 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5661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-1.5%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56616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-3.3 pp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Partner Share of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GMV as a share of PETS GMV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8288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Share of PETS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29260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3.3%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0.0 pp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pic>
        <p:nvPicPr>
          <p:cNvPr id="10" name="Picture 9" descr="partner_sbu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6949440" cy="4206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Partner lost 0.05 pp of PETS GMV share vs previous month.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€5,090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3.9% vs prev. month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348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5.5% vs prev. month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€14.63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1.5% vs prev. month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12.5% worse than PETS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CVR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18.6%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0.6 pp vs prev. month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7.8 pp worse than PETS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42900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• GMV changed +3.9% vs previous month.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995928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• Order volume moved more sharply than basket size during the month.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562856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• Partner CVR is 7.8 pp worse than the selected PETS benchmark (August 2026).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Uptime vs 95% target; PNA/Cancels vs PETS (August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Operating Store Uptime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94.4%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0.4 pp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0.6 pp worse than 95%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3.7%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▲ 0.0 pp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2.4 pp better than PETS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Cancels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▲ 0.1 pp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0.3 pp better than PETS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22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97296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Uptime is evaluated against a 95% operating target. Lower is better for PNA and Cancels. Green indicates improvement; red indicates deterioration. Uptime coverage: 1/1 operating store. Missing current store records: 0.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8580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15468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94.4%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438912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85800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3.7%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809244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056132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Top GMV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7818120" cy="448056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536192"/>
            <a:ext cx="941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153619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Commercial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53619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Operational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96596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9397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39112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Central, 123 Long Avenue, Tbilisi, Georgia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039112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€5,090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039112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039112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Watch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68512" y="1417320"/>
            <a:ext cx="2916936" cy="4873752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6184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Top Stores</a:t>
            </a:r>
          </a:p>
        </p:txBody>
      </p:sp>
      <p:pic>
        <p:nvPicPr>
          <p:cNvPr id="18" name="Picture 17" descr="goldCrown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388" y="1965960"/>
            <a:ext cx="1716607" cy="17099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69680" y="376732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900" b="1">
                <a:solidFill>
                  <a:srgbClr val="00A082"/>
                </a:solidFill>
                <a:latin typeface="Montserrat"/>
              </a:defRPr>
            </a:pPr>
            <a:r>
              <a:t>100.0%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4553712"/>
            <a:ext cx="248716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Top 1 store generated 100.0% of total partner GMV in August 2026.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5815584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Reported partner GMV: €5,090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How We Prioritize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Higher Priority = stronger case for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37028"/>
            <a:ext cx="429768" cy="428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9304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SEVERITY — 0–100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large is the KPI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Compared with the relevant SBU benchmark or operating target.</a:t>
            </a:r>
            <a:br/>
            <a:br/>
            <a:r>
              <a:t>Evidence volume and confidence are considered. Larger reliable negative gaps create higher Severity.</a:t>
            </a:r>
            <a:br/>
            <a:br/>
            <a:r>
              <a:t>Dominant-KPI protection keeps a major problem from being hidden by healthy KPIs.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537028"/>
            <a:ext cx="429768" cy="428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0056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IMPACT —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much business exposure</a:t>
            </a:r>
            <a:br/>
            <a:r>
              <a:t>sits behind the problem?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Order-related exposure behind the KPI gap. Higher-volume problems generally create higher Impact.</a:t>
            </a:r>
            <a:br/>
            <a:br/>
            <a:r>
              <a:t>Not euros. Not guaranteed recovered orders. Not a financial forecast.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537028"/>
            <a:ext cx="429768" cy="4280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50808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PRIORITY — 0–100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Where should we act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Metric Priority =</a:t>
            </a:r>
            <a:br/>
            <a:r>
              <a:t>KPI Severity × KPI Impact / 100</a:t>
            </a:r>
            <a:br/>
            <a:br/>
            <a:r>
              <a:t>Store Priority combines eligible KPI-level priorities, with dominant-KPI protection so one major issue cannot be diluted.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44568"/>
            <a:ext cx="544068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8172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38344"/>
            <a:ext cx="5056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The KPI with the strongest paired business case for action at that 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4544568"/>
            <a:ext cx="5486400" cy="96012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681728"/>
            <a:ext cx="5102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BASE ACTION RULE · Priority ≥ 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038344"/>
            <a:ext cx="5102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The 5.0 threshold remains provisional. V2.1 overrides can classify lower-score stores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65099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6E6E6E"/>
                </a:solidFill>
                <a:latin typeface="Montserrat"/>
              </a:defRPr>
            </a:pPr>
            <a:r>
              <a:t>Priority ranks stores. Separate V2.1 triage assigns ACTION / MONITOR / HEALTHY / UNCLASSIFIED (six ACTION stores shown by default).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Missing evidence → incomplete assessment, not zero. Critical observations are reviewed separately from business Priority.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Uptime: 95% target; restoration exposure uses healthy history where available.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Exposure components may overlap; headline exposure uses the largest. An opportunity signal, not a recovery promise.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Benchmark: 2026-08. SBU peer composition is not available.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49011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pportunity store: PETS-01"/>
          <p:cNvSpPr txBox="1"/>
          <p:nvPr/>
        </p:nvSpPr>
        <p:spPr>
          <a:xfrm>
            <a:off x="841248" y="1527048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00A082"/>
                </a:solidFill>
                <a:latin typeface="Montserrat"/>
              </a:defRPr>
            </a:pPr>
            <a:r>
              <a:t>#1 · Pet Supplies Central, 123 Long Avenue, Tbilisi, Georgia</a:t>
            </a:r>
          </a:p>
        </p:txBody>
      </p:sp>
      <p:sp>
        <p:nvSpPr>
          <p:cNvPr id="8" name="V2.1 action field 0: PETS-01"/>
          <p:cNvSpPr txBox="1"/>
          <p:nvPr/>
        </p:nvSpPr>
        <p:spPr>
          <a:xfrm>
            <a:off x="841248" y="2249424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Priority 14.94 · Primary Action KPI: CVR</a:t>
            </a:r>
          </a:p>
        </p:txBody>
      </p:sp>
      <p:sp>
        <p:nvSpPr>
          <p:cNvPr id="9" name="V2.1 action field 1: PETS-01"/>
          <p:cNvSpPr txBox="1"/>
          <p:nvPr/>
        </p:nvSpPr>
        <p:spPr>
          <a:xfrm>
            <a:off x="841248" y="2761488"/>
            <a:ext cx="731520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0" name="V2.1 action field 2: PETS-01"/>
          <p:cNvSpPr txBox="1"/>
          <p:nvPr/>
        </p:nvSpPr>
        <p:spPr>
          <a:xfrm>
            <a:off x="841248" y="3163824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0">
                <a:solidFill>
                  <a:srgbClr val="6E6E6E"/>
                </a:solidFill>
                <a:latin typeface="Montserrat"/>
              </a:defRPr>
            </a:pPr>
            <a:r>
              <a:t>CVR 18.6% vs SBU 26.4%</a:t>
            </a:r>
          </a:p>
        </p:txBody>
      </p:sp>
      <p:sp>
        <p:nvSpPr>
          <p:cNvPr id="11" name="V2.1 action field 3: PETS-01"/>
          <p:cNvSpPr txBox="1"/>
          <p:nvPr/>
        </p:nvSpPr>
        <p:spPr>
          <a:xfrm>
            <a:off x="841248" y="3685032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Likely operational driver: Assortment / pricing / content / discoverability / funnel quality: investigate</a:t>
            </a:r>
          </a:p>
        </p:txBody>
      </p:sp>
      <p:sp>
        <p:nvSpPr>
          <p:cNvPr id="12" name="V2.1 action field 4: PETS-01"/>
          <p:cNvSpPr txBox="1"/>
          <p:nvPr/>
        </p:nvSpPr>
        <p:spPr>
          <a:xfrm>
            <a:off x="841248" y="4471416"/>
            <a:ext cx="7315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Review assortment, pricing, content and discoverability, then investigate the conversion journey</a:t>
            </a:r>
          </a:p>
        </p:txBody>
      </p:sp>
      <p:sp>
        <p:nvSpPr>
          <p:cNvPr id="13" name="V2.1 action field 5: PETS-01"/>
          <p:cNvSpPr txBox="1"/>
          <p:nvPr/>
        </p:nvSpPr>
        <p:spPr>
          <a:xfrm>
            <a:off x="841248" y="53492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Intended effect: Improve conversion against the SBU benchmark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78824" y="1627632"/>
            <a:ext cx="2532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OVERALL ACTION 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78824" y="1965960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1 selected of 1 ACTION store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78824" y="233172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78824" y="256946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78824" y="292607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Requiring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78824" y="316382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1 store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78824" y="352043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Priority Range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78824" y="375818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Highest 14.94 · Lowest 14.94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8824" y="411480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/ Review Items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435254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0 items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78824" y="4745736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Review items are separate from Priority.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06256" y="51663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06256" y="5532120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2288" y="5532120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06256" y="579729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2288" y="579729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06256" y="606247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62288" y="606247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Agree owners and dates for the selected V2.1 ACTION stores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182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Store / Primary KPI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371600"/>
            <a:ext cx="5925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Recommended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59" y="1371600"/>
            <a:ext cx="14447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Owner / deadline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31821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Central, 123 Long Avenue, Tbilisi, Georgia / CVR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965960"/>
            <a:ext cx="59253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Review assortment, pricing, content and discoverability, then investigate the conversion journey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59" y="1965960"/>
            <a:ext cx="14447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To agree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29992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Store /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1371600"/>
            <a:ext cx="36393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371600"/>
            <a:ext cx="39136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No items in this list. See the separate review and diagnostic sections.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Confirm actions, responsibilities and the next review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232323"/>
                </a:solidFill>
                <a:latin typeface="Montserrat"/>
              </a:defRPr>
            </a:pPr>
            <a:r>
              <a:t>Which interventions should we start first?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Business Review · V9_Beta2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600" b="1">
                <a:solidFill>
                  <a:srgbClr val="00A082"/>
                </a:solidFill>
                <a:latin typeface="Montserrat"/>
              </a:defRPr>
            </a:pPr>
            <a:r>
              <a:t>Let’s turn the agreed actions into measurable progress.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APPENDIX — 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1 store · Reference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00A082"/>
                </a:solidFill>
                <a:latin typeface="Montserrat"/>
              </a:defRPr>
            </a:pPr>
            <a:r>
              <a:t>Store-level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32323"/>
                </a:solidFill>
                <a:latin typeface="Montserrat"/>
              </a:defRPr>
            </a:pPr>
            <a:r>
              <a:t>Lifecycle, KPI evidence and recommendations for each store.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regression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€5,090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348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1,770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620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18.6%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-7.8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71312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3.7%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-2.4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611464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75810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2.3%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-0.3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901678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537883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94.4%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-0.6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1005977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20.16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74.10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14.94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92% · n=1,770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736502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95% · n=620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796725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98% · n=620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53764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2a65899f9a6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E6E6E"/>
                </a:solidFill>
                <a:latin typeface="Montserrat"/>
              </a:defRPr>
            </a:pPr>
            <a:r>
              <a:t>Assessment evidence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Current sessions or order activity · Critical observations: None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Assortment / pricing / content / discoverability / funnel quality: investigate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assortment, pricing, content and discoverability, then investigate the conversion journey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Improve conversion against the SBU benchmark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Partner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 · Comparable performance metrics · Each metric uses its own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(€)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423160" y="1426464"/>
          <a:ext cx="5257800" cy="813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26679" y="152933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€14.63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36242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563624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12.5% worse than PETS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423160" y="2286000"/>
          <a:ext cx="5257800" cy="8138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26679" y="238887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18.6%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7957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42316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7.8 pp worse than PETS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467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 (%)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423160" y="3145536"/>
          <a:ext cx="5257800" cy="8138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726679" y="324840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94.4%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65531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282696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3.1 pp better than PETS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 (%)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423160" y="4005072"/>
          <a:ext cx="5257800" cy="813816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726679" y="41079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3.7%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514849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14223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2.4 pp better than PETS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6577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 (%)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2423160" y="4864608"/>
          <a:ext cx="5257800" cy="81381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726679" y="49674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537438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001768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0.3 pp better than PETS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98932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Growth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 · Shared percentage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476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514600" y="1554480"/>
          <a:ext cx="5120640" cy="11247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735073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+3.9%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974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8196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-1.5 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514600" y="2926080"/>
          <a:ext cx="5120640" cy="1124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80960" y="31066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+5.5%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6690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1912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+1.9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908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514600" y="4297680"/>
          <a:ext cx="5120640" cy="11247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80960" y="44782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-1.5%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0406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5628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-3.3 pp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Partner Performance &amp; Conversion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Monthly GMV and delivered orders · Partner sessions and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&amp; Orders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73352"/>
          <a:ext cx="10789920" cy="208483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877056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Partner Sessions × Partner CVR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4178808"/>
          <a:ext cx="10789920" cy="2084831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cp:version>V9_Beta2</cp:version>
</cp:coreProperties>
</file>
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10.xml" ContentType="application/vnd.openxmlformats-officedocument.drawingml.chart+xml"/>
  <Override PartName="/ppt/charts/chart11.xml" ContentType="application/vnd.openxmlformats-officedocument.drawingml.chart+xml"/>
  <Override PartName="/ppt/charts/chart12.xml" ContentType="application/vnd.openxmlformats-officedocument.drawingml.chart+xml"/>
  <Override PartName="/ppt/charts/chart13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1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82" r:id="rId22"/>
    <p:sldId id="260" r:id="rId11"/>
    <p:sldId id="283" r:id="rId21"/>
    <p:sldId id="261" r:id="rId12"/>
    <p:sldId id="262" r:id="rId13"/>
    <p:sldId id="284" r:id="rId20"/>
    <p:sldId id="266" r:id="rId17"/>
    <p:sldId id="268" r:id="rId19"/>
    <p:sldId id="279" r:id="rId31"/>
    <p:sldId id="280" r:id="rId32"/>
    <p:sldId id="281" r:id="rId33"/>
    <p:sldId id="272" r:id="rId23"/>
    <p:sldId id="273" r:id="rId24"/>
    <p:sldId id="274" r:id="rId25"/>
    <p:sldId id="275" r:id="rId26"/>
    <p:sldId id="276" r:id="rId27"/>
    <p:sldId id="277" r:id="rId28"/>
    <p:sldId id="278" r:id="rId2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7" Type="http://schemas.openxmlformats.org/officeDocument/2006/relationships/slide" Target="slides/slide11.xml"/><Relationship Id="rId19" Type="http://schemas.openxmlformats.org/officeDocument/2006/relationships/slide" Target="slides/slide13.xml"/><Relationship Id="rId20" Type="http://schemas.openxmlformats.org/officeDocument/2006/relationships/slide" Target="slides/slide26.xml"/><Relationship Id="rId21" Type="http://schemas.openxmlformats.org/officeDocument/2006/relationships/slide" Target="slides/slide25.xml"/><Relationship Id="rId22" Type="http://schemas.openxmlformats.org/officeDocument/2006/relationships/slide" Target="slides/slide24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notesMaster" Target="notesMasters/notesMaster1.xml"/><Relationship Id="rId31" Type="http://schemas.openxmlformats.org/officeDocument/2006/relationships/slide" Target="slides/slide14.xml"/><Relationship Id="rId32" Type="http://schemas.openxmlformats.org/officeDocument/2006/relationships/slide" Target="slides/slide15.xml"/><Relationship Id="rId33" Type="http://schemas.openxmlformats.org/officeDocument/2006/relationships/slide" Target="slides/slide1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.xlsx"/></Relationships>
</file>

<file path=ppt/charts/_rels/chart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7.xlsx"/></Relationships>
</file>

<file path=ppt/charts/_rels/chart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8.xlsx"/></Relationships>
</file>

<file path=ppt/charts/_rels/chart9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9.xlsx"/></Relationships>
</file>

<file path=ppt/charts/_rels/chart10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0.xlsx"/></Relationships>
</file>

<file path=ppt/charts/_rels/chart1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1.xlsx"/></Relationships>
</file>

<file path=ppt/charts/_rels/chart1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2.xlsx"/></Relationships>
</file>

<file path=ppt/charts/_rels/chart1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Partner</c:v>
                </c:pt>
              </c:strCache>
            </c:strRef>
          </c:tx>
          <c:spPr>
            <a:solidFill>
              <a:srgbClr val="00A082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Sheet1!$B$2:$B$3</c:f>
              <c:numCache>
                <c:formatCode>€#,##0.00</c:formatCode>
                <c:ptCount val="2"/>
                <c:pt idx="0">
                  <c:v>10.0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SBU</c:v>
                </c:pt>
              </c:strCache>
            </c:strRef>
          </c:tx>
          <c:spPr>
            <a:solidFill>
              <a:srgbClr val="F2CC38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Sheet1!$C$2:$C$3</c:f>
              <c:numCache>
                <c:formatCode>€#,##0.00</c:formatCode>
                <c:ptCount val="2"/>
                <c:pt idx="1">
                  <c:v>40.43541788722749</c:v>
                </c:pt>
              </c:numCache>
            </c:numRef>
          </c:val>
        </c:ser>
        <c:gapWidth val="65"/>
        <c:overlap val="10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none"/>
        <c:minorTickMark val="none"/>
        <c:tickLblPos val="low"/>
        <c:spPr>
          <a:ln>
            <a:noFill/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52.56604325339573"/>
          <c:min val="0.0"/>
        </c:scaling>
        <c:delete/>
        <c:axPos val="b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000">
          <a:solidFill>
            <a:srgbClr val="232323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Partner</c:v>
                </c:pt>
              </c:strCache>
            </c:strRef>
          </c:tx>
          <c:spPr>
            <a:solidFill>
              <a:srgbClr val="00A082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Sheet1!$B$2:$B$3</c:f>
              <c:numCache>
                <c:formatCode>0.0%</c:formatCode>
                <c:ptCount val="2"/>
                <c:pt idx="0">
                  <c:v>0.2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SBU</c:v>
                </c:pt>
              </c:strCache>
            </c:strRef>
          </c:tx>
          <c:spPr>
            <a:solidFill>
              <a:srgbClr val="F2CC38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Sheet1!$C$2:$C$3</c:f>
              <c:numCache>
                <c:formatCode>0.0%</c:formatCode>
                <c:ptCount val="2"/>
                <c:pt idx="1">
                  <c:v>0.039466666666666664</c:v>
                </c:pt>
              </c:numCache>
            </c:numRef>
          </c:val>
        </c:ser>
        <c:gapWidth val="65"/>
        <c:overlap val="10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none"/>
        <c:minorTickMark val="none"/>
        <c:tickLblPos val="low"/>
        <c:spPr>
          <a:ln>
            <a:noFill/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0.26"/>
          <c:min val="0.0"/>
        </c:scaling>
        <c:delete/>
        <c:axPos val="b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000">
          <a:solidFill>
            <a:srgbClr val="232323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Partner</c:v>
                </c:pt>
              </c:strCache>
            </c:strRef>
          </c:tx>
          <c:spPr>
            <a:solidFill>
              <a:srgbClr val="00A082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Sheet1!$B$2:$B$3</c:f>
              <c:numCache>
                <c:formatCode>0.0%</c:formatCode>
                <c:ptCount val="2"/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SBU</c:v>
                </c:pt>
              </c:strCache>
            </c:strRef>
          </c:tx>
          <c:spPr>
            <a:solidFill>
              <a:srgbClr val="F2CC38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Sheet1!$C$2:$C$3</c:f>
              <c:numCache>
                <c:formatCode>0.0%</c:formatCode>
                <c:ptCount val="2"/>
                <c:pt idx="1">
                  <c:v>0.6195671753333872</c:v>
                </c:pt>
              </c:numCache>
            </c:numRef>
          </c:val>
        </c:ser>
        <c:gapWidth val="65"/>
        <c:overlap val="10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none"/>
        <c:minorTickMark val="none"/>
        <c:tickLblPos val="low"/>
        <c:spPr>
          <a:ln>
            <a:noFill/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0.8054373279334034"/>
          <c:min val="0.0"/>
        </c:scaling>
        <c:delete/>
        <c:axPos val="b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000">
          <a:solidFill>
            <a:srgbClr val="232323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Partner</c:v>
                </c:pt>
              </c:strCache>
            </c:strRef>
          </c:tx>
          <c:spPr>
            <a:solidFill>
              <a:srgbClr val="00A082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Sheet1!$B$2:$B$3</c:f>
              <c:numCache>
                <c:formatCode>0.0%</c:formatCode>
                <c:ptCount val="2"/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SBU</c:v>
                </c:pt>
              </c:strCache>
            </c:strRef>
          </c:tx>
          <c:spPr>
            <a:solidFill>
              <a:srgbClr val="F2CC38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Sheet1!$C$2:$C$3</c:f>
              <c:numCache>
                <c:formatCode>0.0%</c:formatCode>
                <c:ptCount val="2"/>
                <c:pt idx="1">
                  <c:v>0.07772020725388601</c:v>
                </c:pt>
              </c:numCache>
            </c:numRef>
          </c:val>
        </c:ser>
        <c:gapWidth val="65"/>
        <c:overlap val="10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none"/>
        <c:minorTickMark val="none"/>
        <c:tickLblPos val="low"/>
        <c:spPr>
          <a:ln>
            <a:noFill/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0.10103626943005181"/>
          <c:min val="0.0"/>
        </c:scaling>
        <c:delete/>
        <c:axPos val="b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000">
          <a:solidFill>
            <a:srgbClr val="232323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Partner</c:v>
                </c:pt>
              </c:strCache>
            </c:strRef>
          </c:tx>
          <c:spPr>
            <a:solidFill>
              <a:srgbClr val="00A082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Sheet1!$B$2:$B$3</c:f>
              <c:numCache>
                <c:formatCode>0.0%</c:formatCode>
                <c:ptCount val="2"/>
                <c:pt idx="0">
                  <c:v>0.025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SBU</c:v>
                </c:pt>
              </c:strCache>
            </c:strRef>
          </c:tx>
          <c:spPr>
            <a:solidFill>
              <a:srgbClr val="F2CC38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Sheet1!$C$2:$C$3</c:f>
              <c:numCache>
                <c:formatCode>0.0%</c:formatCode>
                <c:ptCount val="2"/>
                <c:pt idx="1">
                  <c:v>0.08393782383419689</c:v>
                </c:pt>
              </c:numCache>
            </c:numRef>
          </c:val>
        </c:ser>
        <c:gapWidth val="65"/>
        <c:overlap val="10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none"/>
        <c:minorTickMark val="none"/>
        <c:tickLblPos val="low"/>
        <c:spPr>
          <a:ln>
            <a:noFill/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0.10911917098445596"/>
          <c:min val="0.0"/>
        </c:scaling>
        <c:delete/>
        <c:axPos val="b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000">
          <a:solidFill>
            <a:srgbClr val="232323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Partner</c:v>
                </c:pt>
              </c:strCache>
            </c:strRef>
          </c:tx>
          <c:spPr>
            <a:solidFill>
              <a:srgbClr val="00A082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Sheet1!$B$2:$B$3</c:f>
              <c:numCache>
                <c:formatCode>+0.0%;-0.0%;0.0%</c:formatCode>
                <c:ptCount val="2"/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SBU</c:v>
                </c:pt>
              </c:strCache>
            </c:strRef>
          </c:tx>
          <c:spPr>
            <a:solidFill>
              <a:srgbClr val="F2CC38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Sheet1!$C$2:$C$3</c:f>
              <c:numCache>
                <c:formatCode>+0.0%;-0.0%;0.0%</c:formatCode>
                <c:ptCount val="2"/>
                <c:pt idx="1">
                  <c:v>-0.14700848400636213</c:v>
                </c:pt>
              </c:numCache>
            </c:numRef>
          </c:val>
        </c:ser>
        <c:gapWidth val="65"/>
        <c:overlap val="10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none"/>
        <c:minorTickMark val="none"/>
        <c:tickLblPos val="low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0.044102545201908636"/>
          <c:min val="-0.17347001112750732"/>
        </c:scaling>
        <c:delete/>
        <c:axPos val="b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000">
          <a:solidFill>
            <a:srgbClr val="232323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Partner</c:v>
                </c:pt>
              </c:strCache>
            </c:strRef>
          </c:tx>
          <c:spPr>
            <a:solidFill>
              <a:srgbClr val="00A082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Sheet1!$B$2:$B$3</c:f>
              <c:numCache>
                <c:formatCode>+0.0%;-0.0%;0.0%</c:formatCode>
                <c:ptCount val="2"/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SBU</c:v>
                </c:pt>
              </c:strCache>
            </c:strRef>
          </c:tx>
          <c:spPr>
            <a:solidFill>
              <a:srgbClr val="F2CC38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Sheet1!$C$2:$C$3</c:f>
              <c:numCache>
                <c:formatCode>+0.0%;-0.0%;0.0%</c:formatCode>
                <c:ptCount val="2"/>
                <c:pt idx="1">
                  <c:v>-0.09925293489861264</c:v>
                </c:pt>
              </c:numCache>
            </c:numRef>
          </c:val>
        </c:ser>
        <c:gapWidth val="65"/>
        <c:overlap val="10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none"/>
        <c:minorTickMark val="none"/>
        <c:tickLblPos val="low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0.044102545201908636"/>
          <c:min val="-0.17347001112750732"/>
        </c:scaling>
        <c:delete/>
        <c:axPos val="b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000">
          <a:solidFill>
            <a:srgbClr val="232323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Partner</c:v>
                </c:pt>
              </c:strCache>
            </c:strRef>
          </c:tx>
          <c:spPr>
            <a:solidFill>
              <a:srgbClr val="00A082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Sheet1!$B$2:$B$3</c:f>
              <c:numCache>
                <c:formatCode>+0.0%;-0.0%;0.0%</c:formatCode>
                <c:ptCount val="2"/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SBU</c:v>
                </c:pt>
              </c:strCache>
            </c:strRef>
          </c:tx>
          <c:spPr>
            <a:solidFill>
              <a:srgbClr val="F2CC38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Sheet1!$C$2:$C$3</c:f>
              <c:numCache>
                <c:formatCode>+0.0%;-0.0%;0.0%</c:formatCode>
                <c:ptCount val="2"/>
                <c:pt idx="1">
                  <c:v>-0.053017712694266916</c:v>
                </c:pt>
              </c:numCache>
            </c:numRef>
          </c:val>
        </c:ser>
        <c:gapWidth val="65"/>
        <c:overlap val="10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none"/>
        <c:minorTickMark val="none"/>
        <c:tickLblPos val="low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0.044102545201908636"/>
          <c:min val="-0.17347001112750732"/>
        </c:scaling>
        <c:delete/>
        <c:axPos val="b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000">
          <a:solidFill>
            <a:srgbClr val="232323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GMV (€)</c:v>
                </c:pt>
              </c:strCache>
            </c:strRef>
          </c:tx>
          <c:spPr>
            <a:solidFill>
              <a:srgbClr val="F2CC38"/>
            </a:solidFill>
            <a:ln>
              <a:noFill/>
            </a:ln>
          </c:spPr>
          <c:cat>
            <c:strRef>
              <c:f>Sheet1!$A$2:$A$4</c:f>
              <c:strCache>
                <c:ptCount val="3"/>
                <c:pt idx="0">
                  <c:v>Jun 26</c:v>
                </c:pt>
                <c:pt idx="1">
                  <c:v>Jul 26</c:v>
                </c:pt>
                <c:pt idx="2">
                  <c:v>Aug 26</c:v>
                </c:pt>
              </c:strCache>
            </c:strRef>
          </c:cat>
          <c:val>
            <c:numRef>
              <c:f>Sheet1!$B$2:$B$4</c:f>
              <c:numCache>
                <c:formatCode>#,##0</c:formatCode>
                <c:ptCount val="3"/>
                <c:pt idx="0">
                  <c:v>4000.0</c:v>
                </c:pt>
                <c:pt idx="2">
                  <c:v>2000.0</c:v>
                </c:pt>
              </c:numCache>
            </c:numRef>
          </c:val>
        </c:ser>
        <c:gapWidth val="85"/>
        <c:axId val="-2068027336"/>
        <c:axId val="-2113994440"/>
      </c:barChart>
      <c:lineChart>
        <c:grouping val="standard"/>
        <c:ser>
          <c:idx val="1"/>
          <c:order val="1"/>
          <c:tx>
            <c:strRef>
              <c:f>Sheet1!$C$1</c:f>
              <c:strCache>
                <c:ptCount val="1"/>
                <c:pt idx="0">
                  <c:v>Orders</c:v>
                </c:pt>
              </c:strCache>
            </c:strRef>
          </c:tx>
          <c:spPr>
            <a:ln w="31750">
              <a:solidFill>
                <a:srgbClr val="00A082"/>
              </a:solidFill>
            </a:ln>
          </c:spPr>
          <c:marker>
            <c:symbol val="circle"/>
            <c:size val="5"/>
          </c:marker>
          <c:cat>
            <c:strRef>
              <c:f>Sheet1!$A$2:$A$4</c:f>
              <c:strCache>
                <c:ptCount val="3"/>
                <c:pt idx="0">
                  <c:v>Jun 26</c:v>
                </c:pt>
                <c:pt idx="1">
                  <c:v>Jul 26</c:v>
                </c:pt>
                <c:pt idx="2">
                  <c:v>Aug 26</c:v>
                </c:pt>
              </c:strCache>
            </c:strRef>
          </c:cat>
          <c:val>
            <c:numRef>
              <c:f>Sheet1!$C$2:$C$4</c:f>
              <c:numCache>
                <c:formatCode>#,##0</c:formatCode>
                <c:ptCount val="3"/>
                <c:pt idx="0">
                  <c:v>400.0</c:v>
                </c:pt>
                <c:pt idx="2">
                  <c:v>200.0</c:v>
                </c:pt>
              </c:numCache>
            </c:numRef>
          </c:val>
          <c:smooth val="0"/>
        </c:ser>
        <c:marker val="1"/>
        <c:smooth val="0"/>
        <c:axId val="901001"/>
        <c:axId val="901002"/>
      </c:lineChart>
      <c:catAx>
        <c:axId val="-2068027336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 val="0"/>
        <c:axPos val="l"/>
        <c:title>
          <c:tx>
            <c:rich>
              <a:bodyPr/>
              <a:lstStyle/>
              <a:p>
                <a:r>
                  <a:t>GMV (€)</a:t>
                </a:r>
              </a:p>
            </c:rich>
          </c:tx>
          <c:layout/>
          <c:overlay val="0"/>
        </c:title>
        <c:numFmt formatCode="#,##0" sourceLinked="0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068027336"/>
        <c:crosses val="autoZero"/>
      </c:valAx>
      <c:catAx>
        <c:axId val="901001"/>
        <c:scaling>
          <c:orientation val="minMax"/>
        </c:scaling>
        <c:delete val="1"/>
        <c:axPos val="b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901002"/>
        <c:crosses val="max"/>
        <c:auto val="1"/>
        <c:lblAlgn val="ctr"/>
        <c:lblOffset val="100"/>
        <c:noMultiLvlLbl val="0"/>
      </c:catAx>
      <c:valAx>
        <c:axId val="901002"/>
        <c:scaling>
          <c:min val="0.0"/>
        </c:scaling>
        <c:delete val="0"/>
        <c:axPos val="r"/>
        <c:title>
          <c:tx>
            <c:rich>
              <a:bodyPr/>
              <a:lstStyle/>
              <a:p>
                <a:r>
                  <a:t>Orders</a:t>
                </a:r>
              </a:p>
            </c:rich>
          </c:tx>
          <c:layout/>
          <c:overlay val="0"/>
        </c:title>
        <c:numFmt formatCode="#,##0" sourceLinked="0"/>
        <c:majorTickMark val="none"/>
        <c:minorTickMark val="none"/>
        <c:tickLblPos val="high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901001"/>
        <c:crosses val="autoZero"/>
      </c:valAx>
    </c:plotArea>
    <c:legend>
      <c:legendPos val="t"/>
      <c:overlay val="0"/>
      <c:txPr>
        <a:bodyPr/>
        <a:lstStyle/>
        <a:p>
          <a:pPr>
            <a:defRPr sz="1100">
              <a:latin typeface="Montserrat"/>
            </a:defRPr>
          </a:pPr>
        </a:p>
      </c:txPr>
    </c:legend>
    <c:dispBlanksAs val="gap"/>
  </c:chart>
  <c:txPr>
    <a:bodyPr/>
    <a:lstStyle/>
    <a:p>
      <a:pPr>
        <a:defRPr sz="1000">
          <a:solidFill>
            <a:srgbClr val="232323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Partner Sessions</c:v>
                </c:pt>
              </c:strCache>
            </c:strRef>
          </c:tx>
          <c:spPr>
            <a:solidFill>
              <a:srgbClr val="F2CC38"/>
            </a:solidFill>
            <a:ln>
              <a:noFill/>
            </a:ln>
          </c:spPr>
          <c:cat>
            <c:strRef>
              <c:f>Sheet1!$A$2:$A$4</c:f>
              <c:strCache>
                <c:ptCount val="3"/>
                <c:pt idx="0">
                  <c:v>Jun 26</c:v>
                </c:pt>
                <c:pt idx="1">
                  <c:v>Jul 26</c:v>
                </c:pt>
                <c:pt idx="2">
                  <c:v>Aug 26</c:v>
                </c:pt>
              </c:strCache>
            </c:strRef>
          </c:cat>
          <c:val>
            <c:numRef>
              <c:f>Sheet1!$B$2:$B$4</c:f>
              <c:numCache>
                <c:formatCode>#,##0</c:formatCode>
                <c:ptCount val="3"/>
                <c:pt idx="0">
                  <c:v>2000.0</c:v>
                </c:pt>
                <c:pt idx="2">
                  <c:v>1000.0</c:v>
                </c:pt>
              </c:numCache>
            </c:numRef>
          </c:val>
        </c:ser>
        <c:gapWidth val="85"/>
        <c:axId val="-2068027336"/>
        <c:axId val="-2113994440"/>
      </c:barChart>
      <c:lineChart>
        <c:grouping val="standard"/>
        <c:ser>
          <c:idx val="1"/>
          <c:order val="1"/>
          <c:tx>
            <c:strRef>
              <c:f>Sheet1!$C$1</c:f>
              <c:strCache>
                <c:ptCount val="1"/>
                <c:pt idx="0">
                  <c:v>Partner CVR</c:v>
                </c:pt>
              </c:strCache>
            </c:strRef>
          </c:tx>
          <c:spPr>
            <a:ln w="31750">
              <a:solidFill>
                <a:srgbClr val="00A082"/>
              </a:solidFill>
            </a:ln>
          </c:spPr>
          <c:marker>
            <c:symbol val="circle"/>
            <c:size val="5"/>
          </c:marker>
          <c:cat>
            <c:strRef>
              <c:f>Sheet1!$A$2:$A$4</c:f>
              <c:strCache>
                <c:ptCount val="3"/>
                <c:pt idx="0">
                  <c:v>Jun 26</c:v>
                </c:pt>
                <c:pt idx="1">
                  <c:v>Jul 26</c:v>
                </c:pt>
                <c:pt idx="2">
                  <c:v>Aug 26</c:v>
                </c:pt>
              </c:strCache>
            </c:strRef>
          </c:cat>
          <c:val>
            <c:numRef>
              <c:f>Sheet1!$C$2:$C$4</c:f>
              <c:numCache>
                <c:formatCode>0.0%</c:formatCode>
                <c:ptCount val="3"/>
                <c:pt idx="0">
                  <c:v>0.2</c:v>
                </c:pt>
                <c:pt idx="2">
                  <c:v>0.2</c:v>
                </c:pt>
              </c:numCache>
            </c:numRef>
          </c:val>
          <c:smooth val="0"/>
        </c:ser>
        <c:marker val="1"/>
        <c:smooth val="0"/>
        <c:axId val="901001"/>
        <c:axId val="901002"/>
      </c:lineChart>
      <c:catAx>
        <c:axId val="-2068027336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 val="0"/>
        <c:axPos val="l"/>
        <c:title>
          <c:tx>
            <c:rich>
              <a:bodyPr/>
              <a:lstStyle/>
              <a:p>
                <a:r>
                  <a:t>Partner Sessions</a:t>
                </a:r>
              </a:p>
            </c:rich>
          </c:tx>
          <c:layout/>
          <c:overlay val="0"/>
        </c:title>
        <c:numFmt formatCode="#,##0" sourceLinked="0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068027336"/>
        <c:crosses val="autoZero"/>
      </c:valAx>
      <c:catAx>
        <c:axId val="901001"/>
        <c:scaling>
          <c:orientation val="minMax"/>
        </c:scaling>
        <c:delete val="1"/>
        <c:axPos val="b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901002"/>
        <c:crosses val="max"/>
        <c:auto val="1"/>
        <c:lblAlgn val="ctr"/>
        <c:lblOffset val="100"/>
        <c:noMultiLvlLbl val="0"/>
      </c:catAx>
      <c:valAx>
        <c:axId val="901002"/>
        <c:scaling>
          <c:min val="0.0"/>
        </c:scaling>
        <c:delete val="0"/>
        <c:axPos val="r"/>
        <c:title>
          <c:tx>
            <c:rich>
              <a:bodyPr/>
              <a:lstStyle/>
              <a:p>
                <a:r>
                  <a:t>Partner CVR</a:t>
                </a:r>
              </a:p>
            </c:rich>
          </c:tx>
          <c:layout/>
          <c:overlay val="0"/>
        </c:title>
        <c:numFmt formatCode="0%" sourceLinked="0"/>
        <c:majorTickMark val="none"/>
        <c:minorTickMark val="none"/>
        <c:tickLblPos val="high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901001"/>
        <c:crosses val="autoZero"/>
      </c:valAx>
    </c:plotArea>
    <c:legend>
      <c:legendPos val="t"/>
      <c:overlay val="0"/>
      <c:txPr>
        <a:bodyPr/>
        <a:lstStyle/>
        <a:p>
          <a:pPr>
            <a:defRPr sz="1100">
              <a:latin typeface="Montserrat"/>
            </a:defRPr>
          </a:pPr>
        </a:p>
      </c:txPr>
    </c:legend>
    <c:dispBlanksAs val="gap"/>
  </c:chart>
  <c:txPr>
    <a:bodyPr/>
    <a:lstStyle/>
    <a:p>
      <a:pPr>
        <a:defRPr sz="1000">
          <a:solidFill>
            <a:srgbClr val="232323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Partner</c:v>
                </c:pt>
              </c:strCache>
            </c:strRef>
          </c:tx>
          <c:spPr>
            <a:solidFill>
              <a:srgbClr val="00A082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95% target</c:v>
                </c:pt>
              </c:strCache>
            </c:strRef>
          </c:cat>
          <c:val>
            <c:numRef>
              <c:f>Sheet1!$B$2:$B$3</c:f>
              <c:numCache>
                <c:formatCode>0.0%</c:formatCode>
                <c:ptCount val="2"/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95% target</c:v>
                </c:pt>
              </c:strCache>
            </c:strRef>
          </c:tx>
          <c:spPr>
            <a:solidFill>
              <a:srgbClr val="F2CC38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95% target</c:v>
                </c:pt>
              </c:strCache>
            </c:strRef>
          </c:cat>
          <c:val>
            <c:numRef>
              <c:f>Sheet1!$C$2:$C$3</c:f>
              <c:numCache>
                <c:formatCode>0.0%</c:formatCode>
                <c:ptCount val="2"/>
                <c:pt idx="1">
                  <c:v>0.95</c:v>
                </c:pt>
              </c:numCache>
            </c:numRef>
          </c:val>
        </c:ser>
        <c:gapWidth val="65"/>
        <c:overlap val="10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none"/>
        <c:minorTickMark val="none"/>
        <c:tickLblPos val="low"/>
        <c:spPr>
          <a:ln>
            <a:noFill/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.2349999999999999"/>
          <c:min val="0.0"/>
        </c:scaling>
        <c:delete/>
        <c:axPos val="b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000">
          <a:solidFill>
            <a:srgbClr val="232323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Partner</c:v>
                </c:pt>
              </c:strCache>
            </c:strRef>
          </c:tx>
          <c:spPr>
            <a:solidFill>
              <a:srgbClr val="00A082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Sheet1!$B$2:$B$3</c:f>
              <c:numCache>
                <c:formatCode>0.0%</c:formatCode>
                <c:ptCount val="2"/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SBU</c:v>
                </c:pt>
              </c:strCache>
            </c:strRef>
          </c:tx>
          <c:spPr>
            <a:solidFill>
              <a:srgbClr val="F2CC38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Sheet1!$C$2:$C$3</c:f>
              <c:numCache>
                <c:formatCode>0.0%</c:formatCode>
                <c:ptCount val="2"/>
                <c:pt idx="1">
                  <c:v>0.07772020725388601</c:v>
                </c:pt>
              </c:numCache>
            </c:numRef>
          </c:val>
        </c:ser>
        <c:gapWidth val="65"/>
        <c:overlap val="10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none"/>
        <c:minorTickMark val="none"/>
        <c:tickLblPos val="low"/>
        <c:spPr>
          <a:ln>
            <a:noFill/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0.10103626943005181"/>
          <c:min val="0.0"/>
        </c:scaling>
        <c:delete/>
        <c:axPos val="b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000">
          <a:solidFill>
            <a:srgbClr val="232323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Partner</c:v>
                </c:pt>
              </c:strCache>
            </c:strRef>
          </c:tx>
          <c:spPr>
            <a:solidFill>
              <a:srgbClr val="00A082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Sheet1!$B$2:$B$3</c:f>
              <c:numCache>
                <c:formatCode>0.0%</c:formatCode>
                <c:ptCount val="2"/>
                <c:pt idx="0">
                  <c:v>0.025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SBU</c:v>
                </c:pt>
              </c:strCache>
            </c:strRef>
          </c:tx>
          <c:spPr>
            <a:solidFill>
              <a:srgbClr val="F2CC38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Sheet1!$C$2:$C$3</c:f>
              <c:numCache>
                <c:formatCode>0.0%</c:formatCode>
                <c:ptCount val="2"/>
                <c:pt idx="1">
                  <c:v>0.08393782383419689</c:v>
                </c:pt>
              </c:numCache>
            </c:numRef>
          </c:val>
        </c:ser>
        <c:gapWidth val="65"/>
        <c:overlap val="10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none"/>
        <c:minorTickMark val="none"/>
        <c:tickLblPos val="low"/>
        <c:spPr>
          <a:ln>
            <a:noFill/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0.10911917098445596"/>
          <c:min val="0.0"/>
        </c:scaling>
        <c:delete/>
        <c:axPos val="b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000">
          <a:solidFill>
            <a:srgbClr val="232323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User-supplied partner_data.xlsx and subbusiness_unit_data.xlsx; periods and input hashes in accompanying audit export. Brand assets supplied with Dev5.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User-supplied partner_data.xlsx and subbusiness_unit_data.xlsx; periods and input hashes in accompanying audit export. Brand assets supplied with Dev5.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User-supplied partner_data.xlsx and subbusiness_unit_data.xlsx; periods and input hashes in accompanying audit export. Brand assets supplied with Dev5.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User-supplied partner_data.xlsx and subbusiness_unit_data.xlsx; periods and input hashes in accompanying audit export. Brand assets supplied with Dev5.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User-supplied partner_data.xlsx and subbusiness_unit_data.xlsx; periods and input hashes in accompanying audit export. Brand assets supplied with Dev5.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User-supplied partner_data.xlsx and subbusiness_unit_data.xlsx; periods and input hashes in accompanying audit export. Brand assets supplied with Dev5.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User-supplied partner_data.xlsx and subbusiness_unit_data.xlsx; periods and input hashes in accompanying audit export. Brand assets supplied with Dev5.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User-supplied partner_data.xlsx and subbusiness_unit_data.xlsx; periods and input hashes in accompanying audit export. Brand assets supplied with Dev5.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User-supplied partner_data.xlsx and subbusiness_unit_data.xlsx; periods and input hashes in accompanying audit export. Brand assets supplied with Dev5.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Existing Beta2 analysis output and presentation.context; input hashes in the unchanged audit export.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Existing Beta2 analysis output and presentation.context; input hashes in the unchanged audit export.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Existing Beta2 analysis output and presentation.context; input hashes in the unchanged audit export.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User-supplied partner_data.xlsx and subbusiness_unit_data.xlsx; periods and input hashes in accompanying audit export. Brand assets supplied with Dev5.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User-supplied partner_data.xlsx and subbusiness_unit_data.xlsx; periods and input hashes in accompanying audit export. Brand assets supplied with Dev5.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User-supplied partner_data.xlsx and subbusiness_unit_data.xlsx; periods and input hashes in accompanying audit export. Brand assets supplied with Dev5.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User-supplied partner_data.xlsx and subbusiness_unit_data.xlsx; periods and input hashes in accompanying audit export. Brand assets supplied with Dev5.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User-supplied partner_data.xlsx and subbusiness_unit_data.xlsx; periods and input hashes in accompanying audit export. Brand assets supplied with Dev5.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User-supplied partner_data.xlsx and subbusiness_unit_data.xlsx; periods and input hashes in accompanying audit export. Brand assets supplied with Dev5.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  <a:p>
            <a:r>
              <a:t>V2.1 business triage:</a:t>
            </a:r>
          </a:p>
          <a:p>
            <a:r>
              <a:t>{"Business Classification": "UNCLASSIFIED", "Action Reason": "", "Supporting Rule Matches": [], "Primary Action KPI": "None", "Likely Operational Driver": "Not assessed; review lifecycle / data evidence", "Operational/Data State": ["DATA_REVIEW", "HYGIENE_REVIEW"]}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User-supplied partner_data.xlsx and subbusiness_unit_data.xlsx; periods and input hashes in accompanying audit export. Brand assets supplied with Dev5.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  <a:p>
            <a:r>
              <a:t>V2.1 business triage:</a:t>
            </a:r>
          </a:p>
          <a:p>
            <a:r>
              <a:t>{"Business Classification": "UNCLASSIFIED", "Action Reason": "", "Supporting Rule Matches": [], "Primary Action KPI": "None", "Likely Operational Driver": "Not assessed; review lifecycle / data evidence", "Operational/Data State": ["MISSING_CURRENT"]}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Relationship Id="rId3" Type="http://schemas.openxmlformats.org/officeDocument/2006/relationships/chart" Target="../charts/chart11.xml"/><Relationship Id="rId4" Type="http://schemas.openxmlformats.org/officeDocument/2006/relationships/chart" Target="../charts/chart12.xml"/><Relationship Id="rId5" Type="http://schemas.openxmlformats.org/officeDocument/2006/relationships/chart" Target="../charts/chart13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0.png"/><Relationship Id="rId4" Type="http://schemas.openxmlformats.org/officeDocument/2006/relationships/image" Target="../media/image1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Relationship Id="rId4" Type="http://schemas.openxmlformats.org/officeDocument/2006/relationships/chart" Target="../charts/chart3.xml"/><Relationship Id="rId5" Type="http://schemas.openxmlformats.org/officeDocument/2006/relationships/chart" Target="../charts/chart4.xml"/><Relationship Id="rId6" Type="http://schemas.openxmlformats.org/officeDocument/2006/relationships/chart" Target="../charts/chart5.xml"/><Relationship Id="rId7" Type="http://schemas.openxmlformats.org/officeDocument/2006/relationships/notesSlide" Target="../notesSlides/notesSlide16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6.xml"/><Relationship Id="rId3" Type="http://schemas.openxmlformats.org/officeDocument/2006/relationships/chart" Target="../charts/chart7.xml"/><Relationship Id="rId4" Type="http://schemas.openxmlformats.org/officeDocument/2006/relationships/chart" Target="../charts/chart8.xml"/><Relationship Id="rId5" Type="http://schemas.openxmlformats.org/officeDocument/2006/relationships/notesSlide" Target="../notesSlides/notesSlide1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9.xml"/><Relationship Id="rId3" Type="http://schemas.openxmlformats.org/officeDocument/2006/relationships/chart" Target="../charts/chart10.xml"/><Relationship Id="rId4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CC38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9320" y="307969"/>
            <a:ext cx="2331720" cy="764804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8485632" y="256032"/>
            <a:ext cx="22860" cy="841248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68479" y="274320"/>
            <a:ext cx="2509024" cy="8229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2148840"/>
            <a:ext cx="105156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3000" b="1">
                <a:solidFill>
                  <a:srgbClr val="232323"/>
                </a:solidFill>
                <a:latin typeface="Montserrat"/>
              </a:defRPr>
            </a:pPr>
            <a:r>
              <a:t>Partner Business Review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2971800"/>
            <a:ext cx="9144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600" b="0">
                <a:solidFill>
                  <a:srgbClr val="232323"/>
                </a:solidFill>
                <a:latin typeface="Montserrat"/>
              </a:defRPr>
            </a:pPr>
            <a:r>
              <a:t>June 2026 – August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3429000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0">
                <a:solidFill>
                  <a:srgbClr val="232323"/>
                </a:solidFill>
                <a:latin typeface="Montserrat"/>
              </a:defRPr>
            </a:pPr>
            <a:r>
              <a:t>Sub-Business Unit: FLOWERS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428232"/>
            <a:ext cx="10515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V9_Beta2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2648" y="1115568"/>
            <a:ext cx="1097280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E69132"/>
                </a:solidFill>
                <a:latin typeface="Montserrat"/>
              </a:defRPr>
            </a:pPr>
            <a:r>
              <a:t>Partial Store Coverage · Expected 2 · Present 1 · Missing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FLOWERS Business Development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Latest SBU performance — August 2026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11480" y="1325880"/>
            <a:ext cx="2606040" cy="160020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453895"/>
            <a:ext cx="22402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SBU GMV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746504"/>
            <a:ext cx="224028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900" b="1">
                <a:solidFill>
                  <a:srgbClr val="232323"/>
                </a:solidFill>
                <a:latin typeface="Montserrat"/>
              </a:defRPr>
            </a:pPr>
            <a:r>
              <a:t>€34,127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194560"/>
            <a:ext cx="224028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50" b="1">
                <a:solidFill>
                  <a:srgbClr val="D24646"/>
                </a:solidFill>
                <a:latin typeface="Montserrat"/>
              </a:defRPr>
            </a:pPr>
            <a:r>
              <a:t>▼ 14.7% vs prev. month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478024"/>
            <a:ext cx="224028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6E6E6E"/>
                </a:solidFill>
                <a:latin typeface="Montserrat"/>
              </a:defRPr>
            </a:pPr>
            <a:r>
              <a:t>Comparison unavailable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00400" y="1325880"/>
            <a:ext cx="2606040" cy="160020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83280" y="1453895"/>
            <a:ext cx="22402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SBU Orders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83280" y="1746504"/>
            <a:ext cx="224028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900" b="1">
                <a:solidFill>
                  <a:srgbClr val="232323"/>
                </a:solidFill>
                <a:latin typeface="Montserrat"/>
              </a:defRPr>
            </a:pPr>
            <a:r>
              <a:t>844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83280" y="2194560"/>
            <a:ext cx="224028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50" b="1">
                <a:solidFill>
                  <a:srgbClr val="D24646"/>
                </a:solidFill>
                <a:latin typeface="Montserrat"/>
              </a:defRPr>
            </a:pPr>
            <a:r>
              <a:t>▼ 9.9% vs prev. month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83280" y="2478024"/>
            <a:ext cx="224028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6E6E6E"/>
                </a:solidFill>
                <a:latin typeface="Montserrat"/>
              </a:defRPr>
            </a:pPr>
            <a:r>
              <a:t>Comparison unavailable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989320" y="1325880"/>
            <a:ext cx="2606040" cy="160020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72200" y="1453895"/>
            <a:ext cx="22402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SBU AOV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72200" y="1746504"/>
            <a:ext cx="224028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900" b="1">
                <a:solidFill>
                  <a:srgbClr val="232323"/>
                </a:solidFill>
                <a:latin typeface="Montserrat"/>
              </a:defRPr>
            </a:pPr>
            <a:r>
              <a:t>€40.44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72200" y="2194560"/>
            <a:ext cx="224028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50" b="1">
                <a:solidFill>
                  <a:srgbClr val="D24646"/>
                </a:solidFill>
                <a:latin typeface="Montserrat"/>
              </a:defRPr>
            </a:pPr>
            <a:r>
              <a:t>▼ 5.3% vs prev. month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72200" y="2478024"/>
            <a:ext cx="224028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6E6E6E"/>
                </a:solidFill>
                <a:latin typeface="Montserrat"/>
              </a:defRPr>
            </a:pPr>
            <a:r>
              <a:t>Comparison unavailable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778240" y="1325880"/>
            <a:ext cx="2606040" cy="160020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961119" y="1453895"/>
            <a:ext cx="22402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SBU CVR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61119" y="1746504"/>
            <a:ext cx="224028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900" b="1">
                <a:solidFill>
                  <a:srgbClr val="232323"/>
                </a:solidFill>
                <a:latin typeface="Montserrat"/>
              </a:defRPr>
            </a:pPr>
            <a:r>
              <a:t>3.9%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61119" y="2194560"/>
            <a:ext cx="224028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50" b="1">
                <a:solidFill>
                  <a:srgbClr val="D24646"/>
                </a:solidFill>
                <a:latin typeface="Montserrat"/>
              </a:defRPr>
            </a:pPr>
            <a:r>
              <a:t>▼ 0.2 pp vs prev. month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" y="3337560"/>
            <a:ext cx="49377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232323"/>
                </a:solidFill>
                <a:latin typeface="Montserrat"/>
              </a:defRPr>
            </a:pPr>
            <a:r>
              <a:t>Growth Composition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94360" y="3730752"/>
            <a:ext cx="5120640" cy="196596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68680" y="3977639"/>
            <a:ext cx="12344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GMV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057400" y="3977639"/>
            <a:ext cx="10058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400" b="1">
                <a:solidFill>
                  <a:srgbClr val="D24646"/>
                </a:solidFill>
                <a:latin typeface="Montserrat"/>
              </a:defRPr>
            </a:pPr>
            <a:r>
              <a:t>-14.7%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063240" y="4050791"/>
            <a:ext cx="2016368" cy="146304"/>
          </a:xfrm>
          <a:prstGeom prst="roundRect">
            <a:avLst/>
          </a:prstGeom>
          <a:solidFill>
            <a:srgbClr val="D24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68680" y="4462272"/>
            <a:ext cx="12344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Orders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057400" y="4462272"/>
            <a:ext cx="10058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400" b="1">
                <a:solidFill>
                  <a:srgbClr val="D24646"/>
                </a:solidFill>
                <a:latin typeface="Montserrat"/>
              </a:defRPr>
            </a:pPr>
            <a:r>
              <a:t>-9.9%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063240" y="4535424"/>
            <a:ext cx="1361353" cy="146304"/>
          </a:xfrm>
          <a:prstGeom prst="roundRect">
            <a:avLst/>
          </a:prstGeom>
          <a:solidFill>
            <a:srgbClr val="D24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68680" y="4946904"/>
            <a:ext cx="12344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AOV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057400" y="4946904"/>
            <a:ext cx="10058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400" b="1">
                <a:solidFill>
                  <a:srgbClr val="D24646"/>
                </a:solidFill>
                <a:latin typeface="Montserrat"/>
              </a:defRPr>
            </a:pPr>
            <a:r>
              <a:t>-5.3%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063240" y="5020056"/>
            <a:ext cx="727190" cy="146304"/>
          </a:xfrm>
          <a:prstGeom prst="roundRect">
            <a:avLst/>
          </a:prstGeom>
          <a:solidFill>
            <a:srgbClr val="D24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172200" y="3337560"/>
            <a:ext cx="51206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232323"/>
                </a:solidFill>
                <a:latin typeface="Montserrat"/>
              </a:defRPr>
            </a:pPr>
            <a:r>
              <a:t>Key Takeaways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172200" y="3730752"/>
            <a:ext cx="5394960" cy="196596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46520" y="3995928"/>
            <a:ext cx="48006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50" b="0">
                <a:solidFill>
                  <a:srgbClr val="232323"/>
                </a:solidFill>
                <a:latin typeface="Montserrat"/>
              </a:defRPr>
            </a:pPr>
            <a:r>
              <a:t>• GMV decreased 14.7% vs previous month.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46520" y="4498848"/>
            <a:ext cx="48006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50" b="0">
                <a:solidFill>
                  <a:srgbClr val="232323"/>
                </a:solidFill>
                <a:latin typeface="Montserrat"/>
              </a:defRPr>
            </a:pPr>
            <a:r>
              <a:t>• Both order volume and basket size declined vs previous month.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46520" y="5001768"/>
            <a:ext cx="48006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50" b="0">
                <a:solidFill>
                  <a:srgbClr val="232323"/>
                </a:solidFill>
                <a:latin typeface="Montserrat"/>
              </a:defRPr>
            </a:pPr>
            <a:r>
              <a:t>• CVR declined by 0.2 pp to 3.9%.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FLOWERS Performance Trend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Last 12 available months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sbu_performance_tre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234440"/>
            <a:ext cx="10789920" cy="434340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685800" y="5961888"/>
            <a:ext cx="10835640" cy="50292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6099048"/>
            <a:ext cx="103327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50" b="1">
                <a:solidFill>
                  <a:srgbClr val="232323"/>
                </a:solidFill>
                <a:latin typeface="Montserrat"/>
              </a:defRPr>
            </a:pPr>
            <a:r>
              <a:t>Across the displayed period, FLOWERS GMV changed +7.5%, while orders changed +9.3%.</a:t>
            </a:r>
          </a:p>
        </p:txBody>
      </p:sp>
      <p:pic>
        <p:nvPicPr>
          <p:cNvPr id="8" name="Picture 7" descr="sbu_flower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1280" y="551308"/>
            <a:ext cx="1371600" cy="1366263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Partner vs FLOWERS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Reporting period: August 2026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13232" y="1225295"/>
            <a:ext cx="10460736" cy="521207"/>
          </a:xfrm>
          <a:prstGeom prst="roundRect">
            <a:avLst/>
          </a:prstGeom>
          <a:solidFill>
            <a:srgbClr val="EBEBEB"/>
          </a:solidFill>
          <a:ln>
            <a:solidFill>
              <a:srgbClr val="EBEB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298448"/>
            <a:ext cx="22860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KPI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0" y="1298448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Partner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52160" y="1298448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FLOWERS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38160" y="1298448"/>
            <a:ext cx="292608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Gap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1719072"/>
            <a:ext cx="10241280" cy="13716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1993392"/>
            <a:ext cx="22860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AOV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0" y="1993392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€10.00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52160" y="1993392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€40.44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38160" y="1993392"/>
            <a:ext cx="292608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100" b="1">
                <a:solidFill>
                  <a:srgbClr val="6E6E6E"/>
                </a:solidFill>
                <a:latin typeface="Montserrat"/>
              </a:defRPr>
            </a:pPr>
            <a:r>
              <a:t>Not assessed — incomplete store coverage.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2679192"/>
            <a:ext cx="22860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CVR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0" y="2679192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20.0%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52160" y="2679192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3.9%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38160" y="2679192"/>
            <a:ext cx="292608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100" b="1">
                <a:solidFill>
                  <a:srgbClr val="6E6E6E"/>
                </a:solidFill>
                <a:latin typeface="Montserrat"/>
              </a:defRPr>
            </a:pPr>
            <a:r>
              <a:t>Not assessed — incomplete store coverage.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3364992"/>
            <a:ext cx="22860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Uptime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0" y="3364992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Not assessed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852160" y="3364992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62.0%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38160" y="3364992"/>
            <a:ext cx="292608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100" b="1">
                <a:solidFill>
                  <a:srgbClr val="6E6E6E"/>
                </a:solidFill>
                <a:latin typeface="Montserrat"/>
              </a:defRPr>
            </a:pPr>
            <a:r>
              <a:t>Not assessed — incomplete store coverage.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4050791"/>
            <a:ext cx="22860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PNA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0" y="4050791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Not assessed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852160" y="4050791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7.8%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138160" y="4050791"/>
            <a:ext cx="292608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100" b="1">
                <a:solidFill>
                  <a:srgbClr val="6E6E6E"/>
                </a:solidFill>
                <a:latin typeface="Montserrat"/>
              </a:defRPr>
            </a:pPr>
            <a:r>
              <a:t>Not assessed — incomplete store coverage.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" y="4736592"/>
            <a:ext cx="22860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Cancels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57600" y="4736592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2.5%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852160" y="4736592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8.4%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138160" y="4736592"/>
            <a:ext cx="292608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100" b="1">
                <a:solidFill>
                  <a:srgbClr val="6E6E6E"/>
                </a:solidFill>
                <a:latin typeface="Montserrat"/>
              </a:defRPr>
            </a:pPr>
            <a:r>
              <a:t>Not assessed — incomplete store coverage.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85800" y="5961888"/>
            <a:ext cx="10835640" cy="50292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14400" y="6099048"/>
            <a:ext cx="103327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50" b="1">
                <a:solidFill>
                  <a:srgbClr val="232323"/>
                </a:solidFill>
                <a:latin typeface="Montserrat"/>
              </a:defRPr>
            </a:pPr>
            <a:r>
              <a:t>Not assessed — incomplete store coverage. Raw values use August 2026.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12648" y="1115568"/>
            <a:ext cx="1097280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E69132"/>
                </a:solidFill>
                <a:latin typeface="Montserrat"/>
              </a:defRPr>
            </a:pPr>
            <a:r>
              <a:t>Partial Store Coverage · Expected 2 · Present 1 · Missing 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Growth vs FLOWERS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MoM growth comparison — August 2026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13232" y="1225295"/>
            <a:ext cx="10460736" cy="521207"/>
          </a:xfrm>
          <a:prstGeom prst="roundRect">
            <a:avLst/>
          </a:prstGeom>
          <a:solidFill>
            <a:srgbClr val="EBEBEB"/>
          </a:solidFill>
          <a:ln>
            <a:solidFill>
              <a:srgbClr val="EBEB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298448"/>
            <a:ext cx="22860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KPI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0" y="1298448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Partner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52160" y="1298448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FLOWERS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38160" y="1298448"/>
            <a:ext cx="292608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Growth Gap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1719072"/>
            <a:ext cx="10241280" cy="13716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2011680"/>
            <a:ext cx="22860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GMV Growth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52160" y="2011680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-14.7%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2788920"/>
            <a:ext cx="22860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Orders Growth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52160" y="2788920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-9.9%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3566160"/>
            <a:ext cx="22860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AOV Growth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52160" y="3566160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-5.3%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2648" y="1115568"/>
            <a:ext cx="1097280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E69132"/>
                </a:solidFill>
                <a:latin typeface="Montserrat"/>
              </a:defRPr>
            </a:pPr>
            <a:r>
              <a:t>Partial Store Coverage · Expected 2 · Present 1 · Missing 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6080760"/>
            <a:ext cx="10789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6E6E6E"/>
                </a:solidFill>
                <a:latin typeface="Montserrat"/>
              </a:defRPr>
            </a:pPr>
            <a:r>
              <a:t>Partner MoM: Not comparable — incomplete store coverage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Partner Share of FLOWERS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Partner GMV as a share of FLOWERS GMV — August 2026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3291840" cy="182880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91056"/>
            <a:ext cx="2926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Share of FLOWERS GMV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883664"/>
            <a:ext cx="292608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900" b="1">
                <a:solidFill>
                  <a:srgbClr val="232323"/>
                </a:solidFill>
                <a:latin typeface="Montserrat"/>
              </a:defRPr>
            </a:pPr>
            <a:r>
              <a:t>5.9%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292608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50" b="1">
                <a:solidFill>
                  <a:srgbClr val="6E6E6E"/>
                </a:solidFill>
                <a:latin typeface="Montserrat"/>
              </a:defRPr>
            </a:pPr>
            <a:r>
              <a:t>Comparison unavailable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615184"/>
            <a:ext cx="292608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6E6E6E"/>
                </a:solidFill>
                <a:latin typeface="Montserrat"/>
              </a:defRPr>
            </a:pPr>
            <a:r>
              <a:t>Comparison unavailable</a:t>
            </a:r>
          </a:p>
        </p:txBody>
      </p:sp>
      <p:pic>
        <p:nvPicPr>
          <p:cNvPr id="10" name="Picture 9" descr="partner_sbu_sha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9120" y="1325880"/>
            <a:ext cx="6949440" cy="420624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12648" y="1115568"/>
            <a:ext cx="1097280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E69132"/>
                </a:solidFill>
                <a:latin typeface="Montserrat"/>
              </a:defRPr>
            </a:pPr>
            <a:r>
              <a:t>Partial Store Coverage · Expected 2 · Present 1 · Missing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5806440"/>
            <a:ext cx="10789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Share comparisons involving incomplete store coverage are not comparable.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Latest partner performance — August 2026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11480" y="1325880"/>
            <a:ext cx="2606040" cy="160020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453895"/>
            <a:ext cx="22402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GMV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746504"/>
            <a:ext cx="224028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900" b="1">
                <a:solidFill>
                  <a:srgbClr val="232323"/>
                </a:solidFill>
                <a:latin typeface="Montserrat"/>
              </a:defRPr>
            </a:pPr>
            <a:r>
              <a:t>€2,000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194560"/>
            <a:ext cx="224028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50" b="1">
                <a:solidFill>
                  <a:srgbClr val="6E6E6E"/>
                </a:solidFill>
                <a:latin typeface="Montserrat"/>
              </a:defRPr>
            </a:pPr>
            <a:r>
              <a:t>MoM: Not comparable — incomplete store coverage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00400" y="1325880"/>
            <a:ext cx="2606040" cy="160020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83280" y="1453895"/>
            <a:ext cx="22402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Orders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83280" y="1746504"/>
            <a:ext cx="224028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900" b="1">
                <a:solidFill>
                  <a:srgbClr val="232323"/>
                </a:solidFill>
                <a:latin typeface="Montserrat"/>
              </a:defRPr>
            </a:pPr>
            <a:r>
              <a:t>200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83280" y="2194560"/>
            <a:ext cx="224028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50" b="1">
                <a:solidFill>
                  <a:srgbClr val="6E6E6E"/>
                </a:solidFill>
                <a:latin typeface="Montserrat"/>
              </a:defRPr>
            </a:pPr>
            <a:r>
              <a:t>MoM: Not comparable — incomplete store coverage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89320" y="1325880"/>
            <a:ext cx="2606040" cy="160020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72200" y="1453895"/>
            <a:ext cx="22402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AOV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72200" y="1746504"/>
            <a:ext cx="224028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900" b="1">
                <a:solidFill>
                  <a:srgbClr val="232323"/>
                </a:solidFill>
                <a:latin typeface="Montserrat"/>
              </a:defRPr>
            </a:pPr>
            <a:r>
              <a:t>€10.00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72200" y="2194560"/>
            <a:ext cx="224028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50" b="1">
                <a:solidFill>
                  <a:srgbClr val="6E6E6E"/>
                </a:solidFill>
                <a:latin typeface="Montserrat"/>
              </a:defRPr>
            </a:pPr>
            <a:r>
              <a:t>MoM: Not comparable — incomplete store coverage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72200" y="2478024"/>
            <a:ext cx="224028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6E6E6E"/>
                </a:solidFill>
                <a:latin typeface="Montserrat"/>
              </a:defRPr>
            </a:pPr>
            <a:r>
              <a:t>SBU AOV: €40.44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778240" y="1325880"/>
            <a:ext cx="2606040" cy="160020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61119" y="1453895"/>
            <a:ext cx="22402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Partner CVR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61119" y="1746504"/>
            <a:ext cx="224028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900" b="1">
                <a:solidFill>
                  <a:srgbClr val="232323"/>
                </a:solidFill>
                <a:latin typeface="Montserrat"/>
              </a:defRPr>
            </a:pPr>
            <a:r>
              <a:t>20.0%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61119" y="2194560"/>
            <a:ext cx="224028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50" b="1">
                <a:solidFill>
                  <a:srgbClr val="6E6E6E"/>
                </a:solidFill>
                <a:latin typeface="Montserrat"/>
              </a:defRPr>
            </a:pPr>
            <a:r>
              <a:t>MoM: Not comparable — incomplete store coverage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61119" y="2478024"/>
            <a:ext cx="224028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6E6E6E"/>
                </a:solidFill>
                <a:latin typeface="Montserrat"/>
              </a:defRPr>
            </a:pPr>
            <a:r>
              <a:t>SBU CVR: 3.9%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3429000"/>
            <a:ext cx="106984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50" b="0">
                <a:solidFill>
                  <a:srgbClr val="232323"/>
                </a:solidFill>
                <a:latin typeface="Montserrat"/>
              </a:defRPr>
            </a:pPr>
            <a:r>
              <a:t>• Partner vs SBU AOV: Not assessed — incomplete store coverage.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3995928"/>
            <a:ext cx="106984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50" b="0">
                <a:solidFill>
                  <a:srgbClr val="232323"/>
                </a:solidFill>
                <a:latin typeface="Montserrat"/>
              </a:defRPr>
            </a:pPr>
            <a:r>
              <a:t>• Partner vs SBU CVR: Not assessed — incomplete store coverage.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12648" y="1115568"/>
            <a:ext cx="1097280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E69132"/>
                </a:solidFill>
                <a:latin typeface="Montserrat"/>
              </a:defRPr>
            </a:pPr>
            <a:r>
              <a:t>Partial Store Coverage · Expected 2 · Present 1 · Missing 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Operational Health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Latest partner performance — Uptime vs 95% target; PNA/Cancels vs FLOWERS (August 2026)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85800" y="1371600"/>
            <a:ext cx="3383280" cy="160020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499616"/>
            <a:ext cx="30175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Operating Store Uptime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792224"/>
            <a:ext cx="301752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900" b="1">
                <a:solidFill>
                  <a:srgbClr val="232323"/>
                </a:solidFill>
                <a:latin typeface="Montserrat"/>
              </a:defRPr>
            </a:pPr>
            <a:r>
              <a:t>Not assessed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240280"/>
            <a:ext cx="301752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50" b="1">
                <a:solidFill>
                  <a:srgbClr val="6E6E6E"/>
                </a:solidFill>
                <a:latin typeface="Montserrat"/>
              </a:defRPr>
            </a:pPr>
            <a:r>
              <a:t>MoM: Not comparable — incomplete store coverage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523744"/>
            <a:ext cx="301752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6E6E6E"/>
                </a:solidFill>
                <a:latin typeface="Montserrat"/>
              </a:defRPr>
            </a:pPr>
            <a:r>
              <a:t>Target: 95.0%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371600"/>
            <a:ext cx="3383280" cy="160020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0" y="1499616"/>
            <a:ext cx="30175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Partner PNA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1792224"/>
            <a:ext cx="301752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900" b="1">
                <a:solidFill>
                  <a:srgbClr val="232323"/>
                </a:solidFill>
                <a:latin typeface="Montserrat"/>
              </a:defRPr>
            </a:pPr>
            <a:r>
              <a:t>Not assessed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2240280"/>
            <a:ext cx="301752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50" b="1">
                <a:solidFill>
                  <a:srgbClr val="6E6E6E"/>
                </a:solidFill>
                <a:latin typeface="Montserrat"/>
              </a:defRPr>
            </a:pPr>
            <a:r>
              <a:t>MoM: Not comparable — incomplete store coverage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2523744"/>
            <a:ext cx="301752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6E6E6E"/>
                </a:solidFill>
                <a:latin typeface="Montserrat"/>
              </a:defRPr>
            </a:pPr>
            <a:r>
              <a:t>SBU PNA: 7.8%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92440" y="1371600"/>
            <a:ext cx="3383280" cy="160020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75319" y="1499616"/>
            <a:ext cx="30175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Partner Cancels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75319" y="1792224"/>
            <a:ext cx="301752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900" b="1">
                <a:solidFill>
                  <a:srgbClr val="232323"/>
                </a:solidFill>
                <a:latin typeface="Montserrat"/>
              </a:defRPr>
            </a:pPr>
            <a:r>
              <a:t>2.5%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75319" y="2240280"/>
            <a:ext cx="301752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50" b="1">
                <a:solidFill>
                  <a:srgbClr val="6E6E6E"/>
                </a:solidFill>
                <a:latin typeface="Montserrat"/>
              </a:defRPr>
            </a:pPr>
            <a:r>
              <a:t>MoM: Not comparable — incomplete store coverage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75319" y="2523744"/>
            <a:ext cx="301752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6E6E6E"/>
                </a:solidFill>
                <a:latin typeface="Montserrat"/>
              </a:defRPr>
            </a:pPr>
            <a:r>
              <a:t>SBU Cancels: 8.4%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3154680"/>
            <a:ext cx="102412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6E6E6E"/>
                </a:solidFill>
                <a:latin typeface="Montserrat"/>
              </a:defRPr>
            </a:pPr>
            <a:r>
              <a:t>Partner benchmark / target comparisons: Not assessed — incomplete store coverage.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5422392"/>
            <a:ext cx="3200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232323"/>
                </a:solidFill>
                <a:latin typeface="Montserrat"/>
              </a:defRPr>
            </a:pPr>
            <a:r>
              <a:t>Interpretation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5797296"/>
            <a:ext cx="1024128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Raw rates reflect stores with current data. FLOWERS uptime remains opening-hours hygiene, excluded from business Priority. Uptime coverage: 0/1 operating store. Missing current store records: 1.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2648" y="1115568"/>
            <a:ext cx="1097280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E69132"/>
                </a:solidFill>
                <a:latin typeface="Montserrat"/>
              </a:defRPr>
            </a:pPr>
            <a:r>
              <a:t>Partial Store Coverage · Expected 2 · Present 1 · Missing 1</a:t>
            </a:r>
          </a:p>
        </p:txBody>
      </p:sp>
      <p:graphicFrame>
        <p:nvGraphicFramePr>
          <p:cNvPr id="24" name="Chart 23"/>
          <p:cNvGraphicFramePr>
            <a:graphicFrameLocks noGrp="1"/>
          </p:cNvGraphicFramePr>
          <p:nvPr/>
        </p:nvGraphicFramePr>
        <p:xfrm>
          <a:off x="685800" y="3584448"/>
          <a:ext cx="2423160" cy="1581912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25" name="TextBox 24"/>
          <p:cNvSpPr txBox="1"/>
          <p:nvPr/>
        </p:nvSpPr>
        <p:spPr>
          <a:xfrm>
            <a:off x="3154680" y="3879341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Not assessed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154680" y="4670297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95.0%</a:t>
            </a:r>
          </a:p>
        </p:txBody>
      </p:sp>
      <p:graphicFrame>
        <p:nvGraphicFramePr>
          <p:cNvPr id="27" name="Chart 26"/>
          <p:cNvGraphicFramePr>
            <a:graphicFrameLocks noGrp="1"/>
          </p:cNvGraphicFramePr>
          <p:nvPr/>
        </p:nvGraphicFramePr>
        <p:xfrm>
          <a:off x="4389120" y="3584448"/>
          <a:ext cx="2423160" cy="1581912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28" name="TextBox 27"/>
          <p:cNvSpPr txBox="1"/>
          <p:nvPr/>
        </p:nvSpPr>
        <p:spPr>
          <a:xfrm>
            <a:off x="6858000" y="3879341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Not assessed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0" y="4670297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7.8%</a:t>
            </a:r>
          </a:p>
        </p:txBody>
      </p:sp>
      <p:graphicFrame>
        <p:nvGraphicFramePr>
          <p:cNvPr id="30" name="Chart 29"/>
          <p:cNvGraphicFramePr>
            <a:graphicFrameLocks noGrp="1"/>
          </p:cNvGraphicFramePr>
          <p:nvPr/>
        </p:nvGraphicFramePr>
        <p:xfrm>
          <a:off x="8092440" y="3584448"/>
          <a:ext cx="2423160" cy="1581912"/>
        </p:xfrm>
        <a:graphic>
          <a:graphicData uri="http://schemas.openxmlformats.org/drawingml/2006/chart">
            <c:chart xmlns:c="http://schemas.openxmlformats.org/drawingml/2006/chart" r:id="rId5"/>
          </a:graphicData>
        </a:graphic>
      </p:graphicFrame>
      <p:sp>
        <p:nvSpPr>
          <p:cNvPr id="31" name="TextBox 30"/>
          <p:cNvSpPr txBox="1"/>
          <p:nvPr/>
        </p:nvSpPr>
        <p:spPr>
          <a:xfrm>
            <a:off x="10561320" y="3879341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2.5%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561320" y="4670297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8.4%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Top GMV Stores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2026-08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12648" y="1417320"/>
            <a:ext cx="7818120" cy="448056"/>
          </a:xfrm>
          <a:prstGeom prst="roundRect">
            <a:avLst>
              <a:gd name="adj" fmla="val 9000"/>
            </a:avLst>
          </a:prstGeom>
          <a:solidFill>
            <a:srgbClr val="FFFB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536192"/>
            <a:ext cx="245059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00A082"/>
                </a:solidFill>
                <a:latin typeface="Montserrat"/>
              </a:defRPr>
            </a:pPr>
            <a:r>
              <a:t>Store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593592" y="1536192"/>
            <a:ext cx="94183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00A082"/>
                </a:solidFill>
                <a:latin typeface="Montserrat"/>
              </a:defRPr>
            </a:pPr>
            <a:r>
              <a:t>GMV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81728" y="1536192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00A082"/>
                </a:solidFill>
                <a:latin typeface="Montserrat"/>
              </a:defRPr>
            </a:pPr>
            <a:r>
              <a:t>Commercial status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20256" y="1536192"/>
            <a:ext cx="166420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00A082"/>
                </a:solidFill>
                <a:latin typeface="Montserrat"/>
              </a:defRPr>
            </a:pPr>
            <a:r>
              <a:t>Operational status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8" y="1965960"/>
            <a:ext cx="7818120" cy="649224"/>
          </a:xfrm>
          <a:prstGeom prst="roundRect">
            <a:avLst>
              <a:gd name="adj" fmla="val 9000"/>
            </a:avLst>
          </a:prstGeom>
          <a:solidFill>
            <a:srgbClr val="F7F9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2093976"/>
            <a:ext cx="219456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00A082"/>
                </a:solidFill>
                <a:latin typeface="Montserrat"/>
              </a:defRPr>
            </a:pPr>
            <a: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039112"/>
            <a:ext cx="2450592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Flowers City Centre, Extended Branch and Collection Point, 123 Chavchavadze Avenue, Tbilisi, Georgia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93592" y="2039112"/>
            <a:ext cx="941832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€2,000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81728" y="2039112"/>
            <a:ext cx="178308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Top Performer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20256" y="2039112"/>
            <a:ext cx="1664208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Data review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668512" y="1417320"/>
            <a:ext cx="2916936" cy="4873752"/>
          </a:xfrm>
          <a:prstGeom prst="roundRect">
            <a:avLst>
              <a:gd name="adj" fmla="val 9000"/>
            </a:avLst>
          </a:prstGeom>
          <a:solidFill>
            <a:srgbClr val="FFF5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869680" y="1618488"/>
            <a:ext cx="24688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500" b="1">
                <a:solidFill>
                  <a:srgbClr val="232323"/>
                </a:solidFill>
                <a:latin typeface="Montserrat"/>
              </a:defRPr>
            </a:pPr>
            <a:r>
              <a:t>Top Stores</a:t>
            </a:r>
          </a:p>
        </p:txBody>
      </p:sp>
      <p:pic>
        <p:nvPicPr>
          <p:cNvPr id="18" name="Picture 17" descr="goldCrownCelebr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50388" y="1965960"/>
            <a:ext cx="1716607" cy="1709928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8869680" y="3813048"/>
            <a:ext cx="2487168" cy="585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800" b="1">
                <a:solidFill>
                  <a:srgbClr val="00A082"/>
                </a:solidFill>
                <a:latin typeface="Montserrat"/>
              </a:defRPr>
            </a:pPr>
            <a:r>
              <a:t>1 store displayed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69680" y="4608576"/>
            <a:ext cx="2487168" cy="9875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0">
                <a:solidFill>
                  <a:srgbClr val="232323"/>
                </a:solidFill>
                <a:latin typeface="Montserrat"/>
              </a:defRPr>
            </a:pPr>
            <a:r>
              <a:t>GMV share not assessed — incomplete store coverage.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869680" y="5815584"/>
            <a:ext cx="2487168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Reported partner GMV: €2,000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2648" y="1115568"/>
            <a:ext cx="1097280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E69132"/>
                </a:solidFill>
                <a:latin typeface="Montserrat"/>
              </a:defRPr>
            </a:pPr>
            <a:r>
              <a:t>Partial Store Coverage · Expected 2 · Present 1 · Missing 1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How We Prioritize Opportunities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2026-08 · Higher Priority = stronger case for action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94360" y="1389888"/>
            <a:ext cx="3529584" cy="2999232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" y="1537028"/>
            <a:ext cx="429768" cy="42809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289304" y="1618488"/>
            <a:ext cx="267004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00A082"/>
                </a:solidFill>
                <a:latin typeface="Montserrat"/>
              </a:defRPr>
            </a:pPr>
            <a:r>
              <a:t>SEVERITY — 0–100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084831"/>
            <a:ext cx="3163824" cy="493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How large is the KPI problem?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734056"/>
            <a:ext cx="3163824" cy="1490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Compared with the relevant SBU benchmark or operating target.</a:t>
            </a:r>
            <a:br/>
            <a:br/>
            <a:r>
              <a:t>Evidence volume and confidence are considered. Larger reliable negative gaps create higher Severity.</a:t>
            </a:r>
            <a:br/>
            <a:br/>
            <a:r>
              <a:t>Dominant-KPI protection keeps a major problem from being hidden by healthy KPIs.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25112" y="1389888"/>
            <a:ext cx="3529584" cy="2999232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89704" y="1537028"/>
            <a:ext cx="429768" cy="428095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020056" y="1618488"/>
            <a:ext cx="267004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00A082"/>
                </a:solidFill>
                <a:latin typeface="Montserrat"/>
              </a:defRPr>
            </a:pPr>
            <a:r>
              <a:t>IMPACT — 0–100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07992" y="2084831"/>
            <a:ext cx="3163824" cy="493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How much business exposure</a:t>
            </a:r>
            <a:br/>
            <a:r>
              <a:t>sits behind the problem?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07992" y="2734056"/>
            <a:ext cx="3163824" cy="1490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Order-related exposure behind the KPI gap. Higher-volume problems generally create higher Impact.</a:t>
            </a:r>
            <a:br/>
            <a:br/>
            <a:r>
              <a:t>Not euros. Not guaranteed recovered orders. Not a financial forecast.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55864" y="1389888"/>
            <a:ext cx="3529584" cy="2999232"/>
          </a:xfrm>
          <a:prstGeom prst="roundRect">
            <a:avLst>
              <a:gd name="adj" fmla="val 9000"/>
            </a:avLst>
          </a:prstGeom>
          <a:solidFill>
            <a:srgbClr val="FFFBED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0456" y="1537028"/>
            <a:ext cx="429768" cy="428095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8750808" y="1618488"/>
            <a:ext cx="267004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00A082"/>
                </a:solidFill>
                <a:latin typeface="Montserrat"/>
              </a:defRPr>
            </a:pPr>
            <a:r>
              <a:t>PRIORITY — 0–100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38744" y="2084831"/>
            <a:ext cx="3163824" cy="493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Where should we act first?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38744" y="2734056"/>
            <a:ext cx="3163824" cy="1490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Metric Priority =</a:t>
            </a:r>
            <a:br/>
            <a:r>
              <a:t>KPI Severity × KPI Impact / 100</a:t>
            </a:r>
            <a:br/>
            <a:br/>
            <a:r>
              <a:t>Store Priority combines eligible KPI-level priorities, with dominant-KPI protection so one major issue cannot be diluted.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94360" y="4544568"/>
            <a:ext cx="5440680" cy="96012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" y="4681728"/>
            <a:ext cx="505663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00A082"/>
                </a:solidFill>
                <a:latin typeface="Montserrat"/>
              </a:defRPr>
            </a:pPr>
            <a:r>
              <a:t>PRIMARY ACTION KPI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5038344"/>
            <a:ext cx="505663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0">
                <a:solidFill>
                  <a:srgbClr val="232323"/>
                </a:solidFill>
                <a:latin typeface="Montserrat"/>
              </a:defRPr>
            </a:pPr>
            <a:r>
              <a:t>The KPI with the strongest paired business case for action at that store.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27064" y="4544568"/>
            <a:ext cx="5486400" cy="960120"/>
          </a:xfrm>
          <a:prstGeom prst="roundRect">
            <a:avLst>
              <a:gd name="adj" fmla="val 9000"/>
            </a:avLst>
          </a:prstGeom>
          <a:solidFill>
            <a:srgbClr val="FFF5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9944" y="4681728"/>
            <a:ext cx="510235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232323"/>
                </a:solidFill>
                <a:latin typeface="Montserrat"/>
              </a:defRPr>
            </a:pPr>
            <a:r>
              <a:t>BASE ACTION RULE · Priority ≥ 5.0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9944" y="5038344"/>
            <a:ext cx="510235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50" b="0">
                <a:solidFill>
                  <a:srgbClr val="232323"/>
                </a:solidFill>
                <a:latin typeface="Montserrat"/>
              </a:defRPr>
            </a:pPr>
            <a:r>
              <a:t>The 5.0 threshold remains provisional. V2.1 overrides can classify lower-score stores ACTION.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2648" y="5650992"/>
            <a:ext cx="110642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50" b="0">
                <a:solidFill>
                  <a:srgbClr val="6E6E6E"/>
                </a:solidFill>
                <a:latin typeface="Montserrat"/>
              </a:defRPr>
            </a:pPr>
            <a:r>
              <a:t>Priority ranks stores. Separate V2.1 triage assigns ACTION / MONITOR / HEALTHY / UNCLASSIFIED (six ACTION stores shown by default).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12648" y="5971032"/>
            <a:ext cx="5404104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50" b="0">
                <a:solidFill>
                  <a:srgbClr val="6E6E6E"/>
                </a:solidFill>
                <a:latin typeface="Montserrat"/>
              </a:defRPr>
            </a:pPr>
            <a:r>
              <a:t>Missing evidence → incomplete assessment, not zero. Critical observations are reviewed separately from business Priority.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45352" y="5971032"/>
            <a:ext cx="5404104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50" b="0">
                <a:solidFill>
                  <a:srgbClr val="6E6E6E"/>
                </a:solidFill>
                <a:latin typeface="Montserrat"/>
              </a:defRPr>
            </a:pPr>
            <a:r>
              <a:t>Uptime: 95% target; restoration exposure uses healthy history where available. FLOWERS: hygiene only; excluded from business Priority.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12648" y="6327648"/>
            <a:ext cx="5404104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50" b="0">
                <a:solidFill>
                  <a:srgbClr val="6E6E6E"/>
                </a:solidFill>
                <a:latin typeface="Montserrat"/>
              </a:defRPr>
            </a:pPr>
            <a:r>
              <a:t>Exposure components may overlap; headline exposure uses the largest. An opportunity signal, not a recovery promise.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45352" y="6327648"/>
            <a:ext cx="5404104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50" b="0">
                <a:solidFill>
                  <a:srgbClr val="6E6E6E"/>
                </a:solidFill>
                <a:latin typeface="Montserrat"/>
              </a:defRPr>
            </a:pPr>
            <a:r>
              <a:t>Benchmark: 2026-08. SBU peer composition is not available.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12648" y="1115568"/>
            <a:ext cx="1097280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E69132"/>
                </a:solidFill>
                <a:latin typeface="Montserrat"/>
              </a:defRPr>
            </a:pPr>
            <a:r>
              <a:t>Partial Store Coverage · Expected 2 · Present 1 · Missing 1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Priority Opportunities &amp; Actions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2026-08 · V2.1 business triage · Priority ranking remains unchanged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668512" y="1417320"/>
            <a:ext cx="2916936" cy="4901184"/>
          </a:xfrm>
          <a:prstGeom prst="roundRect">
            <a:avLst>
              <a:gd name="adj" fmla="val 9000"/>
            </a:avLst>
          </a:prstGeom>
          <a:solidFill>
            <a:srgbClr val="FFF5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12648" y="1417320"/>
            <a:ext cx="7818120" cy="4901184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" y="2148840"/>
            <a:ext cx="70866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300" b="1">
                <a:solidFill>
                  <a:srgbClr val="232323"/>
                </a:solidFill>
                <a:latin typeface="Montserrat"/>
              </a:defRPr>
            </a:pPr>
            <a:r>
              <a:t>No stores classified ACTION</a:t>
            </a:r>
            <a:br/>
            <a:r>
              <a:t>under the current V2.1 rules.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41832" y="3657600"/>
            <a:ext cx="70866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600" b="0">
                <a:solidFill>
                  <a:srgbClr val="6E6E6E"/>
                </a:solidFill>
                <a:latin typeface="Montserrat"/>
              </a:defRPr>
            </a:pPr>
            <a:r>
              <a:t>MONITOR, HEALTHY and UNCLASSIFIED remain separate.</a:t>
            </a:r>
            <a:br/>
            <a:r>
              <a:t>Review operational/data observations and Appendix context.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06256" y="1865376"/>
            <a:ext cx="2423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232323"/>
                </a:solidFill>
                <a:latin typeface="Montserrat"/>
              </a:defRPr>
            </a:pPr>
            <a:r>
              <a:t>Next review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06256" y="2231136"/>
            <a:ext cx="1828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00A082"/>
                </a:solidFill>
                <a:latin typeface="Montserrat"/>
              </a:defRPr>
            </a:pPr>
            <a: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62288" y="2231136"/>
            <a:ext cx="219456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Confirm priority stores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06256" y="2496312"/>
            <a:ext cx="1828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00A082"/>
                </a:solidFill>
                <a:latin typeface="Montserrat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62288" y="2496312"/>
            <a:ext cx="219456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Assign owner / deadline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06256" y="2761488"/>
            <a:ext cx="1828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00A082"/>
                </a:solidFill>
                <a:latin typeface="Montserrat"/>
              </a:defRPr>
            </a:pPr>
            <a: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62288" y="2761488"/>
            <a:ext cx="219456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Track progress next review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2648" y="1115568"/>
            <a:ext cx="1097280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E69132"/>
                </a:solidFill>
                <a:latin typeface="Montserrat"/>
              </a:defRPr>
            </a:pPr>
            <a:r>
              <a:t>Partial Store Coverage · Expected 2 · Present 1 · Missing 1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Action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Agree owners and dates for the selected V2.1 ACTION stores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318211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00A082"/>
                </a:solidFill>
                <a:latin typeface="Montserrat"/>
              </a:defRPr>
            </a:pPr>
            <a:r>
              <a:t>Store / Primary KPI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931920" y="1371600"/>
            <a:ext cx="592531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00A082"/>
                </a:solidFill>
                <a:latin typeface="Montserrat"/>
              </a:defRPr>
            </a:pPr>
            <a:r>
              <a:t>Recommended action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966959" y="1371600"/>
            <a:ext cx="144475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00A082"/>
                </a:solidFill>
                <a:latin typeface="Montserrat"/>
              </a:defRPr>
            </a:pPr>
            <a:r>
              <a:t>Owner / deadline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103120"/>
            <a:ext cx="108813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600" b="0">
                <a:solidFill>
                  <a:srgbClr val="232323"/>
                </a:solidFill>
                <a:latin typeface="Montserrat"/>
              </a:defRPr>
            </a:pPr>
            <a:r>
              <a:t>No items in this list. See the separate review and diagnostic sections.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2648" y="1115568"/>
            <a:ext cx="1097280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E69132"/>
                </a:solidFill>
                <a:latin typeface="Montserrat"/>
              </a:defRPr>
            </a:pPr>
            <a:r>
              <a:t>Partial Store Coverage · Expected 2 · Present 1 · Missing 1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Operational &amp; Data Review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Critical observations and hygiene remain visible independently of business Priority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299923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00A082"/>
                </a:solidFill>
                <a:latin typeface="Montserrat"/>
              </a:defRPr>
            </a:pPr>
            <a:r>
              <a:t>Store / type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749039" y="1371600"/>
            <a:ext cx="3639311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00A082"/>
                </a:solidFill>
                <a:latin typeface="Montserrat"/>
              </a:defRPr>
            </a:pPr>
            <a:r>
              <a:t>Evidence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79" y="1371600"/>
            <a:ext cx="391363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00A082"/>
                </a:solidFill>
                <a:latin typeface="Montserrat"/>
              </a:defRPr>
            </a:pPr>
            <a:r>
              <a:t>Review action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965960"/>
            <a:ext cx="2999232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Flowers City Centre, Extended Branch and Collection Point, 123 Chavchavadze Avenue, Tbilisi, Georgia / Data quality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749039" y="1965960"/>
            <a:ext cx="3639311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Missing scoring evidence: PNA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79" y="1965960"/>
            <a:ext cx="3913632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Reconcile current activity, lifecycle, missing inputs and benchmark coverage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596896"/>
            <a:ext cx="2999232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FLOWERS-02 / Data quality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49039" y="2596896"/>
            <a:ext cx="3639311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No store row in the reporting month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98079" y="2596896"/>
            <a:ext cx="3913632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Reconcile current activity, lifecycle, missing inputs and benchmark coverage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3227832"/>
            <a:ext cx="2999232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Flowers City Centre, Extended Branch and Collection Point, 123 Chavchavadze Avenue, Tbilisi, Georgia / Opening-hours hygiene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49039" y="3227832"/>
            <a:ext cx="3639311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Uptime: not assessed (Opening-hours/uptime data quality policy)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98079" y="3227832"/>
            <a:ext cx="3913632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Verify and correct configured store opening hours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2648" y="1115568"/>
            <a:ext cx="1097280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E69132"/>
                </a:solidFill>
                <a:latin typeface="Montserrat"/>
              </a:defRPr>
            </a:pPr>
            <a:r>
              <a:t>Partial Store Coverage · Expected 2 · Present 1 · Missing 1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Operational &amp; Data Review · Store Coverage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Raw totals are retained. Incomplete-period growth comparisons are suppressed.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417320"/>
            <a:ext cx="108813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July 2026 · Partial Store Coverage · Expected 2 · Present 0 · Missing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828800"/>
            <a:ext cx="108813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0">
                <a:solidFill>
                  <a:srgbClr val="232323"/>
                </a:solidFill>
                <a:latin typeface="Montserrat"/>
              </a:defRPr>
            </a:pPr>
            <a:r>
              <a:t>Missing: FLOWERS-01 | FLOWERS-02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560320"/>
            <a:ext cx="108813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August 2026 · Partial Store Coverage · Expected 2 · Present 1 · Missing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971800"/>
            <a:ext cx="108813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0">
                <a:solidFill>
                  <a:srgbClr val="232323"/>
                </a:solidFill>
                <a:latin typeface="Montserrat"/>
              </a:defRPr>
            </a:pPr>
            <a:r>
              <a:t>Missing: FLOWERS-02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2648" y="1115568"/>
            <a:ext cx="1097280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E69132"/>
                </a:solidFill>
                <a:latin typeface="Montserrat"/>
              </a:defRPr>
            </a:pPr>
            <a:r>
              <a:t>Partial Store Coverage · Expected 2 · Present 1 · Missing 1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Discussion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Confirm actions, responsibilities and the next review date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286000"/>
            <a:ext cx="105156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800" b="1">
                <a:solidFill>
                  <a:srgbClr val="232323"/>
                </a:solidFill>
                <a:latin typeface="Montserrat"/>
              </a:defRPr>
            </a:pPr>
            <a:r>
              <a:t>Which interventions should we start first?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Partner Business Review · V9_Beta2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286000"/>
            <a:ext cx="105156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600" b="1">
                <a:solidFill>
                  <a:srgbClr val="00A082"/>
                </a:solidFill>
                <a:latin typeface="Montserrat"/>
              </a:defRPr>
            </a:pPr>
            <a:r>
              <a:t>Let’s turn the agreed actions into measurable progress.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APPENDIX — Store Diagnostics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2026-08 · 2 stores · Reference section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286000"/>
            <a:ext cx="105156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800" b="1">
                <a:solidFill>
                  <a:srgbClr val="00A082"/>
                </a:solidFill>
                <a:latin typeface="Montserrat"/>
              </a:defRPr>
            </a:pPr>
            <a:r>
              <a:t>Store-level context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246120"/>
            <a:ext cx="105156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800" b="0">
                <a:solidFill>
                  <a:srgbClr val="232323"/>
                </a:solidFill>
                <a:latin typeface="Montserrat"/>
              </a:defRPr>
            </a:pPr>
            <a:r>
              <a:t>Lifecycle, KPI evidence and recommendations for each store.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2648" y="1115568"/>
            <a:ext cx="1097280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E69132"/>
                </a:solidFill>
                <a:latin typeface="Montserrat"/>
              </a:defRPr>
            </a:pPr>
            <a:r>
              <a:t>Partial Store Coverage · Expected 2 · Present 1 · Missing 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74320"/>
            <a:ext cx="73152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1">
                <a:solidFill>
                  <a:srgbClr val="6E6E6E"/>
                </a:solidFill>
                <a:latin typeface="Montserrat"/>
              </a:defRPr>
            </a:pPr>
            <a:r>
              <a:t>Store Diagnostics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493776"/>
            <a:ext cx="10927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500" b="1">
                <a:solidFill>
                  <a:srgbClr val="232323"/>
                </a:solidFill>
                <a:latin typeface="Montserrat"/>
              </a:defRPr>
            </a:pPr>
            <a:r>
              <a:t>Flowers City Centre, Extended Branch and Collection Point, 123 Chavchavadze Avenue, Tbilisi, Georgia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923544"/>
            <a:ext cx="55778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August 2026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207008"/>
            <a:ext cx="1207008" cy="228600"/>
          </a:xfrm>
          <a:prstGeom prst="roundRect">
            <a:avLst>
              <a:gd name="adj" fmla="val 9000"/>
            </a:avLst>
          </a:prstGeom>
          <a:solidFill>
            <a:srgbClr val="E9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67512" y="1239012"/>
            <a:ext cx="1060704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232323"/>
                </a:solidFill>
                <a:latin typeface="Montserrat"/>
              </a:defRPr>
            </a:pPr>
            <a:r>
              <a:t>ACTIVE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892808" y="1207008"/>
            <a:ext cx="1481328" cy="228600"/>
          </a:xfrm>
          <a:prstGeom prst="roundRect">
            <a:avLst>
              <a:gd name="adj" fmla="val 9000"/>
            </a:avLst>
          </a:prstGeom>
          <a:solidFill>
            <a:srgbClr val="E9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965960" y="1239012"/>
            <a:ext cx="1335024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232323"/>
                </a:solidFill>
                <a:latin typeface="Montserrat"/>
              </a:defRPr>
            </a:pPr>
            <a:r>
              <a:t>DATA OK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65576" y="1207008"/>
            <a:ext cx="1481328" cy="228600"/>
          </a:xfrm>
          <a:prstGeom prst="roundRect">
            <a:avLst>
              <a:gd name="adj" fmla="val 9000"/>
            </a:avLst>
          </a:prstGeom>
          <a:solidFill>
            <a:srgbClr val="FFF5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38728" y="1239012"/>
            <a:ext cx="1335024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232323"/>
                </a:solidFill>
                <a:latin typeface="Montserrat"/>
              </a:defRPr>
            </a:pPr>
            <a:r>
              <a:t>INCOMPLETE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0" y="978408"/>
            <a:ext cx="12801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0">
                <a:solidFill>
                  <a:srgbClr val="6E6E6E"/>
                </a:solidFill>
                <a:latin typeface="Montserrat"/>
              </a:defRPr>
            </a:pPr>
            <a:r>
              <a:t>GMV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0" y="1197864"/>
            <a:ext cx="129844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€2,000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07808" y="978408"/>
            <a:ext cx="12801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0">
                <a:solidFill>
                  <a:srgbClr val="6E6E6E"/>
                </a:solidFill>
                <a:latin typeface="Montserrat"/>
              </a:defRPr>
            </a:pPr>
            <a:r>
              <a:t>DELIVERED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07808" y="1197864"/>
            <a:ext cx="129844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200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97696" y="978408"/>
            <a:ext cx="12801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0">
                <a:solidFill>
                  <a:srgbClr val="6E6E6E"/>
                </a:solidFill>
                <a:latin typeface="Montserrat"/>
              </a:defRPr>
            </a:pPr>
            <a:r>
              <a:t>SESSIONS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97696" y="1197864"/>
            <a:ext cx="129844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1,000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387584" y="978408"/>
            <a:ext cx="12801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0">
                <a:solidFill>
                  <a:srgbClr val="6E6E6E"/>
                </a:solidFill>
                <a:latin typeface="Montserrat"/>
              </a:defRPr>
            </a:pPr>
            <a:r>
              <a:t>ATTEMPTS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387584" y="1197864"/>
            <a:ext cx="129844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400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94360" y="1609344"/>
            <a:ext cx="2688336" cy="1225296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2376" y="1700784"/>
            <a:ext cx="1463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6E6E6E"/>
                </a:solidFill>
                <a:latin typeface="Montserrat"/>
              </a:defRPr>
            </a:pPr>
            <a:r>
              <a:t>CVR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2376" y="1929384"/>
            <a:ext cx="24231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100" b="1">
                <a:solidFill>
                  <a:srgbClr val="232323"/>
                </a:solidFill>
                <a:latin typeface="Montserrat"/>
              </a:defRPr>
            </a:pPr>
            <a:r>
              <a:t>20.0%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2376" y="2295144"/>
            <a:ext cx="243230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SBU 3.9%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22376" y="2505456"/>
            <a:ext cx="2432304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Above SBU · +16.1 pp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965960" y="2345436"/>
            <a:ext cx="1133856" cy="50292"/>
          </a:xfrm>
          <a:prstGeom prst="roundRect">
            <a:avLst>
              <a:gd name="adj" fmla="val 9000"/>
            </a:avLst>
          </a:prstGeom>
          <a:solidFill>
            <a:srgbClr val="DCE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1965960" y="2345436"/>
            <a:ext cx="1012371" cy="50292"/>
          </a:xfrm>
          <a:prstGeom prst="roundRect">
            <a:avLst>
              <a:gd name="adj" fmla="val 9000"/>
            </a:avLst>
          </a:prstGeom>
          <a:solidFill>
            <a:srgbClr val="00A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165734" y="2322576"/>
            <a:ext cx="16459" cy="9144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3374136" y="1609344"/>
            <a:ext cx="2688336" cy="1225296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502152" y="1700784"/>
            <a:ext cx="1463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6E6E6E"/>
                </a:solidFill>
                <a:latin typeface="Montserrat"/>
              </a:defRPr>
            </a:pPr>
            <a:r>
              <a:t>PNA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502152" y="1929384"/>
            <a:ext cx="24231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500" b="1">
                <a:solidFill>
                  <a:srgbClr val="232323"/>
                </a:solidFill>
                <a:latin typeface="Montserrat"/>
              </a:defRPr>
            </a:pPr>
            <a:r>
              <a:t>Not assessed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502152" y="2295144"/>
            <a:ext cx="243230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SBU 7.8%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502152" y="2505456"/>
            <a:ext cx="2432304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Gap not assessed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153912" y="1609344"/>
            <a:ext cx="2688336" cy="1225296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281928" y="1700784"/>
            <a:ext cx="1463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6E6E6E"/>
                </a:solidFill>
                <a:latin typeface="Montserrat"/>
              </a:defRPr>
            </a:pPr>
            <a:r>
              <a:t>Cancels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281928" y="1929384"/>
            <a:ext cx="24231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100" b="1">
                <a:solidFill>
                  <a:srgbClr val="232323"/>
                </a:solidFill>
                <a:latin typeface="Montserrat"/>
              </a:defRPr>
            </a:pPr>
            <a:r>
              <a:t>2.5%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81928" y="2295144"/>
            <a:ext cx="243230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SBU 8.4%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81928" y="2505456"/>
            <a:ext cx="2432304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Below SBU · -5.9 pp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525512" y="2345436"/>
            <a:ext cx="1133856" cy="50292"/>
          </a:xfrm>
          <a:prstGeom prst="roundRect">
            <a:avLst>
              <a:gd name="adj" fmla="val 9000"/>
            </a:avLst>
          </a:prstGeom>
          <a:solidFill>
            <a:srgbClr val="DCE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7525512" y="2345436"/>
            <a:ext cx="301524" cy="50292"/>
          </a:xfrm>
          <a:prstGeom prst="roundRect">
            <a:avLst>
              <a:gd name="adj" fmla="val 9000"/>
            </a:avLst>
          </a:prstGeom>
          <a:solidFill>
            <a:srgbClr val="00A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8537883" y="2322576"/>
            <a:ext cx="16459" cy="9144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8933688" y="1609344"/>
            <a:ext cx="2688336" cy="1225296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061704" y="1700784"/>
            <a:ext cx="1463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6E6E6E"/>
                </a:solidFill>
                <a:latin typeface="Montserrat"/>
              </a:defRPr>
            </a:pPr>
            <a:r>
              <a:t>Uptime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061704" y="1929384"/>
            <a:ext cx="24231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500" b="1">
                <a:solidFill>
                  <a:srgbClr val="232323"/>
                </a:solidFill>
                <a:latin typeface="Montserrat"/>
              </a:defRPr>
            </a:pPr>
            <a:r>
              <a:t>Not assessed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061704" y="2295144"/>
            <a:ext cx="243230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Target 95.0%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061704" y="2505456"/>
            <a:ext cx="2432304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Gap not assessed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061704" y="2679191"/>
            <a:ext cx="2432304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770" b="1">
                <a:solidFill>
                  <a:srgbClr val="6E6E6E"/>
                </a:solidFill>
                <a:latin typeface="Montserrat"/>
              </a:defRPr>
            </a:pPr>
            <a:r>
              <a:t>Hygiene only — excluded from business Priority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594360" y="2962656"/>
            <a:ext cx="1508760" cy="822960"/>
          </a:xfrm>
          <a:prstGeom prst="roundRect">
            <a:avLst>
              <a:gd name="adj" fmla="val 9000"/>
            </a:avLst>
          </a:prstGeom>
          <a:solidFill>
            <a:srgbClr val="F5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13232" y="3054096"/>
            <a:ext cx="127101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1">
                <a:solidFill>
                  <a:srgbClr val="232323"/>
                </a:solidFill>
                <a:latin typeface="Montserrat"/>
              </a:defRPr>
            </a:pPr>
            <a:r>
              <a:t>Severity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13232" y="3273552"/>
            <a:ext cx="1271016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Not assessed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2194560" y="2962656"/>
            <a:ext cx="1508760" cy="822960"/>
          </a:xfrm>
          <a:prstGeom prst="roundRect">
            <a:avLst>
              <a:gd name="adj" fmla="val 9000"/>
            </a:avLst>
          </a:prstGeom>
          <a:solidFill>
            <a:srgbClr val="F5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2313432" y="3054096"/>
            <a:ext cx="127101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1">
                <a:solidFill>
                  <a:srgbClr val="232323"/>
                </a:solidFill>
                <a:latin typeface="Montserrat"/>
              </a:defRPr>
            </a:pPr>
            <a:r>
              <a:t>Impact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2313432" y="3273552"/>
            <a:ext cx="1271016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Not assessed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3794760" y="2962656"/>
            <a:ext cx="2148840" cy="822960"/>
          </a:xfrm>
          <a:prstGeom prst="roundRect">
            <a:avLst>
              <a:gd name="adj" fmla="val 9000"/>
            </a:avLst>
          </a:prstGeom>
          <a:solidFill>
            <a:srgbClr val="FFF5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3913632" y="3054096"/>
            <a:ext cx="1911095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1">
                <a:solidFill>
                  <a:srgbClr val="232323"/>
                </a:solidFill>
                <a:latin typeface="Montserrat"/>
              </a:defRPr>
            </a:pPr>
            <a:r>
              <a:t>Priority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913632" y="3273552"/>
            <a:ext cx="1911095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Not assessed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913632" y="3639312"/>
            <a:ext cx="1911095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750" b="1">
                <a:solidFill>
                  <a:srgbClr val="232323"/>
                </a:solidFill>
                <a:latin typeface="Montserrat"/>
              </a:defRPr>
            </a:pPr>
            <a:r>
              <a:t>NOT ASSESSED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245352" y="2990088"/>
            <a:ext cx="29260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Leading known issue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180576" y="2990088"/>
            <a:ext cx="254203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Not assessed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245352" y="3264408"/>
            <a:ext cx="29260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Worst known KPI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180576" y="3264408"/>
            <a:ext cx="254203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None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245352" y="3538728"/>
            <a:ext cx="29260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Largest known exposure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9180576" y="3538728"/>
            <a:ext cx="254203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Not assessed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594360" y="3913632"/>
            <a:ext cx="5349240" cy="132588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731520" y="4023360"/>
            <a:ext cx="5029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232323"/>
                </a:solidFill>
                <a:latin typeface="Montserrat"/>
              </a:defRPr>
            </a:pPr>
            <a:r>
              <a:t>Confidence / evidence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731520" y="4361688"/>
            <a:ext cx="2926080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CVR 87% · n=1,000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3867912" y="4453127"/>
            <a:ext cx="1883664" cy="50292"/>
          </a:xfrm>
          <a:prstGeom prst="roundRect">
            <a:avLst>
              <a:gd name="adj" fmla="val 9000"/>
            </a:avLst>
          </a:prstGeom>
          <a:solidFill>
            <a:srgbClr val="DCE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ounded Rectangle 65"/>
          <p:cNvSpPr/>
          <p:nvPr/>
        </p:nvSpPr>
        <p:spPr>
          <a:xfrm>
            <a:off x="3867912" y="4453127"/>
            <a:ext cx="1637968" cy="50292"/>
          </a:xfrm>
          <a:prstGeom prst="roundRect">
            <a:avLst>
              <a:gd name="adj" fmla="val 9000"/>
            </a:avLst>
          </a:prstGeom>
          <a:solidFill>
            <a:srgbClr val="00A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731520" y="4626864"/>
            <a:ext cx="4892040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69" b="0">
                <a:solidFill>
                  <a:srgbClr val="232323"/>
                </a:solidFill>
                <a:latin typeface="Montserrat"/>
              </a:defRPr>
            </a:pPr>
            <a:r>
              <a:t>PNA · Rate unavailable / not assessed · n=400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731520" y="4892040"/>
            <a:ext cx="2926080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Cancels 98% · n=400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3867912" y="4983479"/>
            <a:ext cx="1883664" cy="50292"/>
          </a:xfrm>
          <a:prstGeom prst="roundRect">
            <a:avLst>
              <a:gd name="adj" fmla="val 9000"/>
            </a:avLst>
          </a:prstGeom>
          <a:solidFill>
            <a:srgbClr val="DCE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ounded Rectangle 69"/>
          <p:cNvSpPr/>
          <p:nvPr/>
        </p:nvSpPr>
        <p:spPr>
          <a:xfrm>
            <a:off x="3867912" y="4983479"/>
            <a:ext cx="1837720" cy="50292"/>
          </a:xfrm>
          <a:prstGeom prst="roundRect">
            <a:avLst>
              <a:gd name="adj" fmla="val 9000"/>
            </a:avLst>
          </a:prstGeom>
          <a:solidFill>
            <a:srgbClr val="00A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ounded Rectangle 70"/>
          <p:cNvSpPr/>
          <p:nvPr/>
        </p:nvSpPr>
        <p:spPr>
          <a:xfrm>
            <a:off x="6108192" y="3913632"/>
            <a:ext cx="5568696" cy="132588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6254496" y="4023360"/>
            <a:ext cx="51206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232323"/>
                </a:solidFill>
                <a:latin typeface="Montserrat"/>
              </a:defRPr>
            </a:pPr>
            <a:r>
              <a:t>Leading known issue trend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6254496" y="4480560"/>
            <a:ext cx="4937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0">
                <a:solidFill>
                  <a:srgbClr val="6E6E6E"/>
                </a:solidFill>
                <a:latin typeface="Montserrat"/>
              </a:defRPr>
            </a:pPr>
            <a:r>
              <a:t>Trend unavailable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685800" y="5358384"/>
            <a:ext cx="108813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E69132"/>
                </a:solidFill>
                <a:latin typeface="Montserrat"/>
              </a:defRPr>
            </a:pPr>
            <a:r>
              <a:t>Assessment incomplete — review evidence before selecting a business action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85800" y="5586984"/>
            <a:ext cx="1088136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50" b="0">
                <a:solidFill>
                  <a:srgbClr val="232323"/>
                </a:solidFill>
                <a:latin typeface="Montserrat"/>
              </a:defRPr>
            </a:pPr>
            <a:r>
              <a:t>Unavailable metrics: PNA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594360" y="5925312"/>
            <a:ext cx="11082528" cy="749808"/>
          </a:xfrm>
          <a:prstGeom prst="roundRect">
            <a:avLst>
              <a:gd name="adj" fmla="val 9000"/>
            </a:avLst>
          </a:prstGeom>
          <a:solidFill>
            <a:srgbClr val="FFF5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731520" y="6007608"/>
            <a:ext cx="1069848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1">
                <a:solidFill>
                  <a:srgbClr val="6E6E6E"/>
                </a:solidFill>
                <a:latin typeface="Montserrat"/>
              </a:defRPr>
            </a:pPr>
            <a:r>
              <a:t>Required data review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731520" y="6208776"/>
            <a:ext cx="106984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232323"/>
                </a:solidFill>
                <a:latin typeface="Montserrat"/>
              </a:defRPr>
            </a:pPr>
            <a:r>
              <a:t>Review incomplete assessment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731520" y="6464808"/>
            <a:ext cx="1069848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Evidence: Unavailable metrics: PNA</a:t>
            </a:r>
          </a:p>
        </p:txBody>
      </p:sp>
      <p:sp>
        <p:nvSpPr>
          <p:cNvPr id="80" name="Rectangle 79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594360" y="1458468"/>
            <a:ext cx="1106424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80" b="1">
                <a:solidFill>
                  <a:srgbClr val="00A082"/>
                </a:solidFill>
                <a:latin typeface="Montserrat"/>
              </a:defRPr>
            </a:pPr>
            <a:r>
              <a:t>Business: UNCLASSIFIED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74320"/>
            <a:ext cx="73152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1">
                <a:solidFill>
                  <a:srgbClr val="6E6E6E"/>
                </a:solidFill>
                <a:latin typeface="Montserrat"/>
              </a:defRPr>
            </a:pPr>
            <a:r>
              <a:t>Store Diagnostics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493776"/>
            <a:ext cx="10927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FLOWERS-02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923544"/>
            <a:ext cx="55778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August 2026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207008"/>
            <a:ext cx="1207008" cy="228600"/>
          </a:xfrm>
          <a:prstGeom prst="roundRect">
            <a:avLst>
              <a:gd name="adj" fmla="val 9000"/>
            </a:avLst>
          </a:prstGeom>
          <a:solidFill>
            <a:srgbClr val="FFF5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67512" y="1239012"/>
            <a:ext cx="1060704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232323"/>
                </a:solidFill>
                <a:latin typeface="Montserrat"/>
              </a:defRPr>
            </a:pPr>
            <a:r>
              <a:t>UNKNOWN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892808" y="1207008"/>
            <a:ext cx="1481328" cy="228600"/>
          </a:xfrm>
          <a:prstGeom prst="roundRect">
            <a:avLst>
              <a:gd name="adj" fmla="val 9000"/>
            </a:avLst>
          </a:prstGeom>
          <a:solidFill>
            <a:srgbClr val="FFF5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965960" y="1239012"/>
            <a:ext cx="1335024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232323"/>
                </a:solidFill>
                <a:latin typeface="Montserrat"/>
              </a:defRPr>
            </a:pPr>
            <a:r>
              <a:t>MISSING DATA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65576" y="1207008"/>
            <a:ext cx="1481328" cy="228600"/>
          </a:xfrm>
          <a:prstGeom prst="roundRect">
            <a:avLst>
              <a:gd name="adj" fmla="val 9000"/>
            </a:avLst>
          </a:prstGeom>
          <a:solidFill>
            <a:srgbClr val="FFF5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38728" y="1239012"/>
            <a:ext cx="1335024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232323"/>
                </a:solidFill>
                <a:latin typeface="Montserrat"/>
              </a:defRPr>
            </a:pPr>
            <a:r>
              <a:t>INCOMPLETE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0" y="978408"/>
            <a:ext cx="12801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0">
                <a:solidFill>
                  <a:srgbClr val="6E6E6E"/>
                </a:solidFill>
                <a:latin typeface="Montserrat"/>
              </a:defRPr>
            </a:pPr>
            <a:r>
              <a:t>GMV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0" y="1197864"/>
            <a:ext cx="129844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Not assessed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07808" y="978408"/>
            <a:ext cx="12801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0">
                <a:solidFill>
                  <a:srgbClr val="6E6E6E"/>
                </a:solidFill>
                <a:latin typeface="Montserrat"/>
              </a:defRPr>
            </a:pPr>
            <a:r>
              <a:t>DELIVERED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07808" y="1197864"/>
            <a:ext cx="129844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Not assessed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97696" y="978408"/>
            <a:ext cx="12801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0">
                <a:solidFill>
                  <a:srgbClr val="6E6E6E"/>
                </a:solidFill>
                <a:latin typeface="Montserrat"/>
              </a:defRPr>
            </a:pPr>
            <a:r>
              <a:t>SESSIONS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97696" y="1197864"/>
            <a:ext cx="129844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Not assessed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387584" y="978408"/>
            <a:ext cx="12801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0">
                <a:solidFill>
                  <a:srgbClr val="6E6E6E"/>
                </a:solidFill>
                <a:latin typeface="Montserrat"/>
              </a:defRPr>
            </a:pPr>
            <a:r>
              <a:t>ATTEMPTS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387584" y="1197864"/>
            <a:ext cx="129844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Not assessed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94360" y="1609344"/>
            <a:ext cx="2688336" cy="1225296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2376" y="1700784"/>
            <a:ext cx="1463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6E6E6E"/>
                </a:solidFill>
                <a:latin typeface="Montserrat"/>
              </a:defRPr>
            </a:pPr>
            <a:r>
              <a:t>CVR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2376" y="1929384"/>
            <a:ext cx="24231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500" b="1">
                <a:solidFill>
                  <a:srgbClr val="232323"/>
                </a:solidFill>
                <a:latin typeface="Montserrat"/>
              </a:defRPr>
            </a:pPr>
            <a:r>
              <a:t>Not assessed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2376" y="2295144"/>
            <a:ext cx="243230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SBU 3.9%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22376" y="2505456"/>
            <a:ext cx="2432304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Gap not assessed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374136" y="1609344"/>
            <a:ext cx="2688336" cy="1225296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502152" y="1700784"/>
            <a:ext cx="1463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6E6E6E"/>
                </a:solidFill>
                <a:latin typeface="Montserrat"/>
              </a:defRPr>
            </a:pPr>
            <a:r>
              <a:t>PNA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502152" y="1929384"/>
            <a:ext cx="24231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500" b="1">
                <a:solidFill>
                  <a:srgbClr val="232323"/>
                </a:solidFill>
                <a:latin typeface="Montserrat"/>
              </a:defRPr>
            </a:pPr>
            <a:r>
              <a:t>Not assessed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502152" y="2295144"/>
            <a:ext cx="243230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SBU 7.8%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02152" y="2505456"/>
            <a:ext cx="2432304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Gap not assessed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153912" y="1609344"/>
            <a:ext cx="2688336" cy="1225296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281928" y="1700784"/>
            <a:ext cx="1463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6E6E6E"/>
                </a:solidFill>
                <a:latin typeface="Montserrat"/>
              </a:defRPr>
            </a:pPr>
            <a:r>
              <a:t>Cancels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81928" y="1929384"/>
            <a:ext cx="24231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500" b="1">
                <a:solidFill>
                  <a:srgbClr val="232323"/>
                </a:solidFill>
                <a:latin typeface="Montserrat"/>
              </a:defRPr>
            </a:pPr>
            <a:r>
              <a:t>Not assessed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81928" y="2295144"/>
            <a:ext cx="243230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SBU 8.4%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281928" y="2505456"/>
            <a:ext cx="2432304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Gap not assessed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933688" y="1609344"/>
            <a:ext cx="2688336" cy="1225296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061704" y="1700784"/>
            <a:ext cx="1463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6E6E6E"/>
                </a:solidFill>
                <a:latin typeface="Montserrat"/>
              </a:defRPr>
            </a:pPr>
            <a:r>
              <a:t>Uptime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061704" y="1929384"/>
            <a:ext cx="24231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500" b="1">
                <a:solidFill>
                  <a:srgbClr val="232323"/>
                </a:solidFill>
                <a:latin typeface="Montserrat"/>
              </a:defRPr>
            </a:pPr>
            <a:r>
              <a:t>Not assessed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061704" y="2295144"/>
            <a:ext cx="243230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Target 95.0%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061704" y="2505456"/>
            <a:ext cx="2432304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Gap not assessed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061704" y="2679191"/>
            <a:ext cx="2432304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6E6E6E"/>
                </a:solidFill>
                <a:latin typeface="Montserrat"/>
              </a:defRPr>
            </a:pPr>
            <a:r>
              <a:t>Missing current evidence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94360" y="2962656"/>
            <a:ext cx="1508760" cy="822960"/>
          </a:xfrm>
          <a:prstGeom prst="roundRect">
            <a:avLst>
              <a:gd name="adj" fmla="val 9000"/>
            </a:avLst>
          </a:prstGeom>
          <a:solidFill>
            <a:srgbClr val="F5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13232" y="3054096"/>
            <a:ext cx="127101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1">
                <a:solidFill>
                  <a:srgbClr val="232323"/>
                </a:solidFill>
                <a:latin typeface="Montserrat"/>
              </a:defRPr>
            </a:pPr>
            <a:r>
              <a:t>Severity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13232" y="3273552"/>
            <a:ext cx="1271016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Not assessed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2194560" y="2962656"/>
            <a:ext cx="1508760" cy="822960"/>
          </a:xfrm>
          <a:prstGeom prst="roundRect">
            <a:avLst>
              <a:gd name="adj" fmla="val 9000"/>
            </a:avLst>
          </a:prstGeom>
          <a:solidFill>
            <a:srgbClr val="F5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2313432" y="3054096"/>
            <a:ext cx="127101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1">
                <a:solidFill>
                  <a:srgbClr val="232323"/>
                </a:solidFill>
                <a:latin typeface="Montserrat"/>
              </a:defRPr>
            </a:pPr>
            <a:r>
              <a:t>Impact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313432" y="3273552"/>
            <a:ext cx="1271016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Not assessed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3794760" y="2962656"/>
            <a:ext cx="2148840" cy="822960"/>
          </a:xfrm>
          <a:prstGeom prst="roundRect">
            <a:avLst>
              <a:gd name="adj" fmla="val 9000"/>
            </a:avLst>
          </a:prstGeom>
          <a:solidFill>
            <a:srgbClr val="FFF5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913632" y="3054096"/>
            <a:ext cx="1911095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1">
                <a:solidFill>
                  <a:srgbClr val="232323"/>
                </a:solidFill>
                <a:latin typeface="Montserrat"/>
              </a:defRPr>
            </a:pPr>
            <a:r>
              <a:t>Priority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913632" y="3273552"/>
            <a:ext cx="1911095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Not assessed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913632" y="3639312"/>
            <a:ext cx="1911095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750" b="1">
                <a:solidFill>
                  <a:srgbClr val="232323"/>
                </a:solidFill>
                <a:latin typeface="Montserrat"/>
              </a:defRPr>
            </a:pPr>
            <a:r>
              <a:t>NOT ASSESSED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245352" y="2990088"/>
            <a:ext cx="29260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Leading known issue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180576" y="2990088"/>
            <a:ext cx="254203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Not assessed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245352" y="3264408"/>
            <a:ext cx="29260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Worst known KPI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180576" y="3264408"/>
            <a:ext cx="254203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None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245352" y="3538728"/>
            <a:ext cx="29260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Largest known exposure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180576" y="3538728"/>
            <a:ext cx="254203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Not assessed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594360" y="3913632"/>
            <a:ext cx="5349240" cy="132588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731520" y="4023360"/>
            <a:ext cx="5029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232323"/>
                </a:solidFill>
                <a:latin typeface="Montserrat"/>
              </a:defRPr>
            </a:pPr>
            <a:r>
              <a:t>Confidence / evidence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31520" y="4361688"/>
            <a:ext cx="4892040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69" b="0">
                <a:solidFill>
                  <a:srgbClr val="232323"/>
                </a:solidFill>
                <a:latin typeface="Montserrat"/>
              </a:defRPr>
            </a:pPr>
            <a:r>
              <a:t>CVR · Rate unavailable / not assessed · n unavailable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31520" y="4626864"/>
            <a:ext cx="4892040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69" b="0">
                <a:solidFill>
                  <a:srgbClr val="232323"/>
                </a:solidFill>
                <a:latin typeface="Montserrat"/>
              </a:defRPr>
            </a:pPr>
            <a:r>
              <a:t>PNA · Rate unavailable / not assessed · n unavailable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31520" y="4892040"/>
            <a:ext cx="4892040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69" b="0">
                <a:solidFill>
                  <a:srgbClr val="232323"/>
                </a:solidFill>
                <a:latin typeface="Montserrat"/>
              </a:defRPr>
            </a:pPr>
            <a:r>
              <a:t>Cancels · Rate unavailable / not assessed · n unavailable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6108192" y="3913632"/>
            <a:ext cx="5568696" cy="132588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6254496" y="4023360"/>
            <a:ext cx="51206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232323"/>
                </a:solidFill>
                <a:latin typeface="Montserrat"/>
              </a:defRPr>
            </a:pPr>
            <a:r>
              <a:t>Leading known issue trend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254496" y="4480560"/>
            <a:ext cx="4937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0">
                <a:solidFill>
                  <a:srgbClr val="6E6E6E"/>
                </a:solidFill>
                <a:latin typeface="Montserrat"/>
              </a:defRPr>
            </a:pPr>
            <a:r>
              <a:t>Trend unavailable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85800" y="5358384"/>
            <a:ext cx="108813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E69132"/>
                </a:solidFill>
                <a:latin typeface="Montserrat"/>
              </a:defRPr>
            </a:pPr>
            <a:r>
              <a:t>Assessment incomplete — review evidence before selecting a business action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85800" y="5586984"/>
            <a:ext cx="1088136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50" b="0">
                <a:solidFill>
                  <a:srgbClr val="232323"/>
                </a:solidFill>
                <a:latin typeface="Montserrat"/>
              </a:defRPr>
            </a:pPr>
            <a:r>
              <a:t>No store row in the reporting month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594360" y="5925312"/>
            <a:ext cx="11082528" cy="749808"/>
          </a:xfrm>
          <a:prstGeom prst="roundRect">
            <a:avLst>
              <a:gd name="adj" fmla="val 9000"/>
            </a:avLst>
          </a:prstGeom>
          <a:solidFill>
            <a:srgbClr val="FFF5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731520" y="6007608"/>
            <a:ext cx="1069848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1">
                <a:solidFill>
                  <a:srgbClr val="6E6E6E"/>
                </a:solidFill>
                <a:latin typeface="Montserrat"/>
              </a:defRPr>
            </a:pPr>
            <a:r>
              <a:t>Required data review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731520" y="6208776"/>
            <a:ext cx="106984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232323"/>
                </a:solidFill>
                <a:latin typeface="Montserrat"/>
              </a:defRPr>
            </a:pPr>
            <a:r>
              <a:t>Review incomplete assessment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731520" y="6464808"/>
            <a:ext cx="1069848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Evidence: No store row in the reporting month</a:t>
            </a:r>
          </a:p>
        </p:txBody>
      </p:sp>
      <p:sp>
        <p:nvSpPr>
          <p:cNvPr id="70" name="Rectangle 69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594360" y="1458468"/>
            <a:ext cx="1106424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80" b="1">
                <a:solidFill>
                  <a:srgbClr val="00A082"/>
                </a:solidFill>
                <a:latin typeface="Montserrat"/>
              </a:defRPr>
            </a:pPr>
            <a:r>
              <a:t>Business: UNCLASSIFIED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Partner vs FLOWERS · Visual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August 2026 · Comparable performance metrics · Each metric uses its own scale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627632"/>
            <a:ext cx="1737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AOV (€)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2423160" y="1426464"/>
          <a:ext cx="5257800" cy="813816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726679" y="1529334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€10.00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26679" y="1936242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€40.44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15400" y="1563624"/>
            <a:ext cx="25146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6E6E6E"/>
                </a:solidFill>
                <a:latin typeface="Montserrat"/>
              </a:defRPr>
            </a:pPr>
            <a:r>
              <a:t>Not assessed — incomplete store coverage.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487168"/>
            <a:ext cx="1737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CVR (%)</a:t>
            </a:r>
          </a:p>
        </p:txBody>
      </p:sp>
      <p:graphicFrame>
        <p:nvGraphicFramePr>
          <p:cNvPr id="11" name="Chart 10"/>
          <p:cNvGraphicFramePr>
            <a:graphicFrameLocks noGrp="1"/>
          </p:cNvGraphicFramePr>
          <p:nvPr/>
        </p:nvGraphicFramePr>
        <p:xfrm>
          <a:off x="2423160" y="2286000"/>
          <a:ext cx="5257800" cy="813816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7726679" y="2388870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20.0%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26679" y="2795778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3.9%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15400" y="2423160"/>
            <a:ext cx="25146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6E6E6E"/>
                </a:solidFill>
                <a:latin typeface="Montserrat"/>
              </a:defRPr>
            </a:pPr>
            <a:r>
              <a:t>Not assessed — incomplete store coverage.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3346704"/>
            <a:ext cx="1737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Uptime (%)</a:t>
            </a:r>
          </a:p>
        </p:txBody>
      </p:sp>
      <p:graphicFrame>
        <p:nvGraphicFramePr>
          <p:cNvPr id="16" name="Chart 15"/>
          <p:cNvGraphicFramePr>
            <a:graphicFrameLocks noGrp="1"/>
          </p:cNvGraphicFramePr>
          <p:nvPr/>
        </p:nvGraphicFramePr>
        <p:xfrm>
          <a:off x="2423160" y="3145536"/>
          <a:ext cx="5257800" cy="813816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7" name="TextBox 16"/>
          <p:cNvSpPr txBox="1"/>
          <p:nvPr/>
        </p:nvSpPr>
        <p:spPr>
          <a:xfrm>
            <a:off x="7726679" y="3248406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Not assessed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26679" y="3655314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62.0%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15400" y="3282696"/>
            <a:ext cx="25146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6E6E6E"/>
                </a:solidFill>
                <a:latin typeface="Montserrat"/>
              </a:defRPr>
            </a:pPr>
            <a:r>
              <a:t>Not assessed — incomplete store coverage.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4206240"/>
            <a:ext cx="1737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PNA (%)</a:t>
            </a:r>
          </a:p>
        </p:txBody>
      </p:sp>
      <p:graphicFrame>
        <p:nvGraphicFramePr>
          <p:cNvPr id="21" name="Chart 20"/>
          <p:cNvGraphicFramePr>
            <a:graphicFrameLocks noGrp="1"/>
          </p:cNvGraphicFramePr>
          <p:nvPr/>
        </p:nvGraphicFramePr>
        <p:xfrm>
          <a:off x="2423160" y="4005072"/>
          <a:ext cx="5257800" cy="813816"/>
        </p:xfrm>
        <a:graphic>
          <a:graphicData uri="http://schemas.openxmlformats.org/drawingml/2006/chart">
            <c:chart xmlns:c="http://schemas.openxmlformats.org/drawingml/2006/chart" r:id="rId5"/>
          </a:graphicData>
        </a:graphic>
      </p:graphicFrame>
      <p:sp>
        <p:nvSpPr>
          <p:cNvPr id="22" name="TextBox 21"/>
          <p:cNvSpPr txBox="1"/>
          <p:nvPr/>
        </p:nvSpPr>
        <p:spPr>
          <a:xfrm>
            <a:off x="7726679" y="4107941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Not assessed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26679" y="4514849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7.8%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915400" y="4142232"/>
            <a:ext cx="25146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6E6E6E"/>
                </a:solidFill>
                <a:latin typeface="Montserrat"/>
              </a:defRPr>
            </a:pPr>
            <a:r>
              <a:t>Not assessed — incomplete store coverage.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" y="5065776"/>
            <a:ext cx="1737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Cancels (%)</a:t>
            </a:r>
          </a:p>
        </p:txBody>
      </p:sp>
      <p:graphicFrame>
        <p:nvGraphicFramePr>
          <p:cNvPr id="26" name="Chart 25"/>
          <p:cNvGraphicFramePr>
            <a:graphicFrameLocks noGrp="1"/>
          </p:cNvGraphicFramePr>
          <p:nvPr/>
        </p:nvGraphicFramePr>
        <p:xfrm>
          <a:off x="2423160" y="4864608"/>
          <a:ext cx="5257800" cy="813816"/>
        </p:xfrm>
        <a:graphic>
          <a:graphicData uri="http://schemas.openxmlformats.org/drawingml/2006/chart">
            <c:chart xmlns:c="http://schemas.openxmlformats.org/drawingml/2006/chart" r:id="rId6"/>
          </a:graphicData>
        </a:graphic>
      </p:graphicFrame>
      <p:sp>
        <p:nvSpPr>
          <p:cNvPr id="27" name="TextBox 26"/>
          <p:cNvSpPr txBox="1"/>
          <p:nvPr/>
        </p:nvSpPr>
        <p:spPr>
          <a:xfrm>
            <a:off x="7726679" y="4967478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2.5%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26679" y="5374386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8.4%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915400" y="5001768"/>
            <a:ext cx="25146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6E6E6E"/>
                </a:solidFill>
                <a:latin typeface="Montserrat"/>
              </a:defRPr>
            </a:pPr>
            <a:r>
              <a:t>Not assessed — incomplete store coverage.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7240" y="5989320"/>
            <a:ext cx="106527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Not assessed — incomplete store coverage. Raw values shown. FLOWERS uptime is opening-hours hygiene, excluded from business Priority.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12648" y="1115568"/>
            <a:ext cx="1097280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E69132"/>
                </a:solidFill>
                <a:latin typeface="Montserrat"/>
              </a:defRPr>
            </a:pPr>
            <a:r>
              <a:t>Partial Store Coverage · Expected 2 · Present 1 · Missing 1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Growth vs FLOWERS · Visual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MoM growth comparison — August 2026 · Shared percentage scale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947672"/>
            <a:ext cx="18288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GMV Growth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2514600" y="1554480"/>
          <a:ext cx="5120640" cy="1124712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680960" y="1735073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Not assessed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80960" y="2297430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-14.7%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0" y="1819656"/>
            <a:ext cx="246888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232323"/>
                </a:solidFill>
                <a:latin typeface="Montserrat"/>
              </a:defRPr>
            </a:pPr>
            <a:r>
              <a:t>Growth Gap</a:t>
            </a:r>
            <a:br/>
            <a:r>
              <a:t>Comparison unavailable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319272"/>
            <a:ext cx="18288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Orders Growth</a:t>
            </a:r>
          </a:p>
        </p:txBody>
      </p:sp>
      <p:graphicFrame>
        <p:nvGraphicFramePr>
          <p:cNvPr id="11" name="Chart 10"/>
          <p:cNvGraphicFramePr>
            <a:graphicFrameLocks noGrp="1"/>
          </p:cNvGraphicFramePr>
          <p:nvPr/>
        </p:nvGraphicFramePr>
        <p:xfrm>
          <a:off x="2514600" y="2926080"/>
          <a:ext cx="5120640" cy="1124712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7680960" y="3106674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Not assessed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80960" y="3669030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-9.9%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61120" y="3191256"/>
            <a:ext cx="246888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232323"/>
                </a:solidFill>
                <a:latin typeface="Montserrat"/>
              </a:defRPr>
            </a:pPr>
            <a:r>
              <a:t>Growth Gap</a:t>
            </a:r>
            <a:br/>
            <a:r>
              <a:t>Comparison unavailable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4690872"/>
            <a:ext cx="18288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AOV Growth</a:t>
            </a:r>
          </a:p>
        </p:txBody>
      </p:sp>
      <p:graphicFrame>
        <p:nvGraphicFramePr>
          <p:cNvPr id="16" name="Chart 15"/>
          <p:cNvGraphicFramePr>
            <a:graphicFrameLocks noGrp="1"/>
          </p:cNvGraphicFramePr>
          <p:nvPr/>
        </p:nvGraphicFramePr>
        <p:xfrm>
          <a:off x="2514600" y="4297680"/>
          <a:ext cx="5120640" cy="1124712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7" name="TextBox 16"/>
          <p:cNvSpPr txBox="1"/>
          <p:nvPr/>
        </p:nvSpPr>
        <p:spPr>
          <a:xfrm>
            <a:off x="7680960" y="4478274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Not assessed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80960" y="5040630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-5.3%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61120" y="4562856"/>
            <a:ext cx="246888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232323"/>
                </a:solidFill>
                <a:latin typeface="Montserrat"/>
              </a:defRPr>
            </a:pPr>
            <a:r>
              <a:t>Growth Gap</a:t>
            </a:r>
            <a:br/>
            <a:r>
              <a:t>Comparison unavailable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2648" y="1115568"/>
            <a:ext cx="1097280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E69132"/>
                </a:solidFill>
                <a:latin typeface="Montserrat"/>
              </a:defRPr>
            </a:pPr>
            <a:r>
              <a:t>Partial Store Coverage · Expected 2 · Present 1 · Missing 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6080760"/>
            <a:ext cx="10789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6E6E6E"/>
                </a:solidFill>
                <a:latin typeface="Montserrat"/>
              </a:defRPr>
            </a:pPr>
            <a:r>
              <a:t>Partner MoM: Not comparable — incomplete store coverage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Partner Performance &amp; Conversion Evolution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Monthly GMV and delivered orders · Partner sessions and conversion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371600"/>
            <a:ext cx="10607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GMV &amp; Orders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731520" y="1673352"/>
          <a:ext cx="10789920" cy="2084831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77240" y="3877056"/>
            <a:ext cx="10607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Partner Sessions × Partner CVR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731520" y="4178808"/>
          <a:ext cx="10789920" cy="2084831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777240" y="6419088"/>
            <a:ext cx="1065276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Missing months / measurements are blank. Lines break at missing values.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2648" y="1115568"/>
            <a:ext cx="1097280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E69132"/>
                </a:solidFill>
                <a:latin typeface="Montserrat"/>
              </a:defRPr>
            </a:pPr>
            <a:r>
              <a:t>Partial Store Coverage · Expected 2 · Present 1 · Missing 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  <cp:version>V9_Beta2</cp:version>
</cp:coreProperties>
</file>
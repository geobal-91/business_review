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83" r:id="rId18"/>
    <p:sldId id="284" r:id="rId16"/>
    <p:sldId id="273" r:id="rId24"/>
    <p:sldId id="285" r:id="rId15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10.xml"/><Relationship Id="rId18" Type="http://schemas.openxmlformats.org/officeDocument/2006/relationships/slide" Target="slides/slide20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.0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2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7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Sheet1!$B$2:$B$2</c:f>
              <c:numCache>
                <c:formatCode>#,##0</c:formatCode>
                <c:ptCount val="1"/>
                <c:pt idx="0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Sheet1!$C$2:$C$2</c:f>
              <c:numCache>
                <c:formatCode>#,##0</c:formatCode>
                <c:ptCount val="1"/>
                <c:pt idx="0">
                  <c:v>400.0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Sheet1!$B$2:$B$2</c:f>
              <c:numCache>
                <c:formatCode>#,##0</c:formatCode>
                <c:ptCount val="1"/>
                <c:pt idx="0">
                  <c:v>1000.0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Sheet1!$C$2:$C$2</c:f>
              <c:numCache>
                <c:formatCode>0.0%</c:formatCode>
                <c:ptCount val="1"/>
                <c:pt idx="0">
                  <c:v>0.4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7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€20.00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19.7%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13.6 pp better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6.7 pp better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€20.00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19.7% better than 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13.6 pp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6.7 pp better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72000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13.6 pp above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MoM comparison unavailable.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13.6 pp above PETS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3.0 pp better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Y, Rustaveli Avenue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€8,000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Thank You decorative visual" descr="Thank_Y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003" y="0"/>
            <a:ext cx="10108692" cy="6739128"/>
          </a:xfrm>
          <a:prstGeom prst="rect">
            <a:avLst/>
          </a:prstGeom>
        </p:spPr>
      </p:pic>
      <p:sp>
        <p:nvSpPr>
          <p:cNvPr id="6" name="Closing main heading"/>
          <p:cNvSpPr txBox="1"/>
          <p:nvPr/>
        </p:nvSpPr>
        <p:spPr>
          <a:xfrm>
            <a:off x="822960" y="1508760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4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7" name="Closing second heading"/>
          <p:cNvSpPr txBox="1"/>
          <p:nvPr/>
        </p:nvSpPr>
        <p:spPr>
          <a:xfrm>
            <a:off x="822960" y="24231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For Your Partnership</a:t>
            </a:r>
          </a:p>
        </p:txBody>
      </p:sp>
      <p:sp>
        <p:nvSpPr>
          <p:cNvPr id="8" name="Closing message"/>
          <p:cNvSpPr txBox="1"/>
          <p:nvPr/>
        </p:nvSpPr>
        <p:spPr>
          <a:xfrm>
            <a:off x="822960" y="3703320"/>
            <a:ext cx="7315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</a:t>
            </a:r>
            <a:br/>
            <a:r>
              <a:t>Into Measurable Progress</a:t>
            </a:r>
          </a:p>
        </p:txBody>
      </p:sp>
      <p:sp>
        <p:nvSpPr>
          <p:cNvPr id="9" name="Closing reporting period"/>
          <p:cNvSpPr txBox="1"/>
          <p:nvPr/>
        </p:nvSpPr>
        <p:spPr>
          <a:xfrm>
            <a:off x="822960" y="609904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Y,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+13.6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3424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-2.5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Target · +3.0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86668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93% · n=410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175523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n=410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183881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194560"/>
            <a:ext cx="10991088" cy="15087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view empty state"/>
          <p:cNvSpPr txBox="1"/>
          <p:nvPr/>
        </p:nvSpPr>
        <p:spPr>
          <a:xfrm>
            <a:off x="868680" y="2560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232323"/>
                </a:solidFill>
                <a:latin typeface="Montserrat"/>
              </a:defRPr>
            </a:pPr>
            <a:r>
              <a:t>No operational or data review items</a:t>
            </a:r>
          </a:p>
        </p:txBody>
      </p:sp>
      <p:sp>
        <p:nvSpPr>
          <p:cNvPr id="17" name="Review empty note"/>
          <p:cNvSpPr txBox="1"/>
          <p:nvPr/>
        </p:nvSpPr>
        <p:spPr>
          <a:xfrm>
            <a:off x="868680" y="31089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
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78" r:id="rId30"/>
    <p:sldId id="283" r:id="rId18"/>
    <p:sldId id="273" r:id="rId24"/>
    <p:sldId id="284" r:id="rId16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6" Type="http://schemas.openxmlformats.org/officeDocument/2006/relationships/slide" Target="slides/slide21.xml"/><Relationship Id="rId17" Type="http://schemas.openxmlformats.org/officeDocument/2006/relationships/slide" Target="slides/slide10.xml"/><Relationship Id="rId18" Type="http://schemas.openxmlformats.org/officeDocument/2006/relationships/slide" Target="slides/slide20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2.xml"/><Relationship Id="rId3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4000.0</c:v>
                </c:pt>
                <c:pt idx="1">
                  <c:v>4000.0</c:v>
                </c:pt>
                <c:pt idx="2">
                  <c:v>4000.0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4000.0</c:v>
                </c:pt>
                <c:pt idx="1">
                  <c:v>4000.0</c:v>
                </c:pt>
                <c:pt idx="2">
                  <c:v>4000.0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0.025</c:v>
                </c:pt>
                <c:pt idx="1">
                  <c:v>0.025</c:v>
                </c:pt>
                <c:pt idx="2">
                  <c:v>0.025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June 2026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-5.3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-3.5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-1.8 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-5.3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-3.5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-1.8 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0.1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lost 0.14 pp of PETS GMV share vs previous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23.9 pp below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+0.0% vs previous month.</a:t>
            </a:r>
          </a:p>
        </p:txBody>
      </p:sp>
      <p:sp>
        <p:nvSpPr>
          <p:cNvPr id="27" name="Meeting interpretation top 1"/>
          <p:cNvSpPr txBox="1"/>
          <p:nvPr/>
        </p:nvSpPr>
        <p:spPr>
          <a:xfrm>
            <a:off x="6812280" y="3547872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Basket-size movement was larger than the change in order volume.</a:t>
            </a:r>
          </a:p>
        </p:txBody>
      </p:sp>
      <p:sp>
        <p:nvSpPr>
          <p:cNvPr id="28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23.9 pp below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23.0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€4,000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#1 · 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2249424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761488"/>
            <a:ext cx="73152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316382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3685032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4471416"/>
            <a:ext cx="7315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5349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1 selected of 1 ACTION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1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3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1069848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0 store"/>
          <p:cNvSpPr txBox="1"/>
          <p:nvPr/>
        </p:nvSpPr>
        <p:spPr>
          <a:xfrm>
            <a:off x="813816" y="2514600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9" name="Review 0 location"/>
          <p:cNvSpPr txBox="1"/>
          <p:nvPr/>
        </p:nvSpPr>
        <p:spPr>
          <a:xfrm>
            <a:off x="813816" y="324612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თბილისი, საქართველო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86784" y="252374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0 type"/>
          <p:cNvSpPr txBox="1"/>
          <p:nvPr/>
        </p:nvSpPr>
        <p:spPr>
          <a:xfrm>
            <a:off x="4087368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2" name="Review 0 evidence"/>
          <p:cNvSpPr txBox="1"/>
          <p:nvPr/>
        </p:nvSpPr>
        <p:spPr>
          <a:xfrm>
            <a:off x="5577840" y="2514600"/>
            <a:ext cx="2359152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3" name="Review 0 action"/>
          <p:cNvSpPr txBox="1"/>
          <p:nvPr/>
        </p:nvSpPr>
        <p:spPr>
          <a:xfrm>
            <a:off x="8147304" y="2514600"/>
            <a:ext cx="3218688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593591"/>
            <a:ext cx="10991088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630168"/>
            <a:ext cx="41148" cy="1069848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view 1 store"/>
          <p:cNvSpPr txBox="1"/>
          <p:nvPr/>
        </p:nvSpPr>
        <p:spPr>
          <a:xfrm>
            <a:off x="813816" y="3739896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27" name="Review 1 location"/>
          <p:cNvSpPr txBox="1"/>
          <p:nvPr/>
        </p:nvSpPr>
        <p:spPr>
          <a:xfrm>
            <a:off x="813816" y="4471416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თბილისი, საქართველო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86784" y="3749039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 type"/>
          <p:cNvSpPr txBox="1"/>
          <p:nvPr/>
        </p:nvSpPr>
        <p:spPr>
          <a:xfrm>
            <a:off x="4087368" y="381304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0" name="Review 1 evidence"/>
          <p:cNvSpPr txBox="1"/>
          <p:nvPr/>
        </p:nvSpPr>
        <p:spPr>
          <a:xfrm>
            <a:off x="5577840" y="3739896"/>
            <a:ext cx="2359152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1" name="Review 1 action"/>
          <p:cNvSpPr txBox="1"/>
          <p:nvPr/>
        </p:nvSpPr>
        <p:spPr>
          <a:xfrm>
            <a:off x="8147304" y="3739896"/>
            <a:ext cx="3218688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818888"/>
            <a:ext cx="10991088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" y="4855464"/>
            <a:ext cx="41148" cy="1069848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2 store"/>
          <p:cNvSpPr txBox="1"/>
          <p:nvPr/>
        </p:nvSpPr>
        <p:spPr>
          <a:xfrm>
            <a:off x="813816" y="4965192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35" name="Review 2 location"/>
          <p:cNvSpPr txBox="1"/>
          <p:nvPr/>
        </p:nvSpPr>
        <p:spPr>
          <a:xfrm>
            <a:off x="813816" y="569671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თბილისი, საქართველო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86784" y="4974336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2 type"/>
          <p:cNvSpPr txBox="1"/>
          <p:nvPr/>
        </p:nvSpPr>
        <p:spPr>
          <a:xfrm>
            <a:off x="4087368" y="5038344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8" name="Review 2 evidence"/>
          <p:cNvSpPr txBox="1"/>
          <p:nvPr/>
        </p:nvSpPr>
        <p:spPr>
          <a:xfrm>
            <a:off x="5577840" y="4965192"/>
            <a:ext cx="2359152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9" name="Review 2 action"/>
          <p:cNvSpPr txBox="1"/>
          <p:nvPr/>
        </p:nvSpPr>
        <p:spPr>
          <a:xfrm>
            <a:off x="8147304" y="4965192"/>
            <a:ext cx="3218688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1099108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lan action 1 rank"/>
          <p:cNvSpPr txBox="1"/>
          <p:nvPr/>
        </p:nvSpPr>
        <p:spPr>
          <a:xfrm>
            <a:off x="777240" y="1618488"/>
            <a:ext cx="8705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1</a:t>
            </a:r>
          </a:p>
        </p:txBody>
      </p:sp>
      <p:sp>
        <p:nvSpPr>
          <p:cNvPr id="7" name="Plan action 1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8" name="Plan action 1 store"/>
          <p:cNvSpPr txBox="1"/>
          <p:nvPr/>
        </p:nvSpPr>
        <p:spPr>
          <a:xfrm>
            <a:off x="777240" y="1947672"/>
            <a:ext cx="106253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9" name="Plan action 1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0" name="Plan action 1 primary"/>
          <p:cNvSpPr txBox="1"/>
          <p:nvPr/>
        </p:nvSpPr>
        <p:spPr>
          <a:xfrm>
            <a:off x="2423160" y="2624328"/>
            <a:ext cx="8979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1" name="Plan action 1 recommendation label"/>
          <p:cNvSpPr txBox="1"/>
          <p:nvPr/>
        </p:nvSpPr>
        <p:spPr>
          <a:xfrm>
            <a:off x="777240" y="2990088"/>
            <a:ext cx="10625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2" name="Plan action 1 recommendation"/>
          <p:cNvSpPr txBox="1"/>
          <p:nvPr/>
        </p:nvSpPr>
        <p:spPr>
          <a:xfrm>
            <a:off x="777240" y="3282696"/>
            <a:ext cx="1062532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10716767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lan action 1 agreed label"/>
          <p:cNvSpPr txBox="1"/>
          <p:nvPr/>
        </p:nvSpPr>
        <p:spPr>
          <a:xfrm>
            <a:off x="850392" y="4325112"/>
            <a:ext cx="1047902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5" name="Plan action 1 agreed"/>
          <p:cNvSpPr txBox="1"/>
          <p:nvPr/>
        </p:nvSpPr>
        <p:spPr>
          <a:xfrm>
            <a:off x="850392" y="4590288"/>
            <a:ext cx="1047902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Plan action 1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7" name="Plan action 1 Owner"/>
          <p:cNvSpPr txBox="1"/>
          <p:nvPr/>
        </p:nvSpPr>
        <p:spPr>
          <a:xfrm>
            <a:off x="1472184" y="5065776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1 Contact label"/>
          <p:cNvSpPr txBox="1"/>
          <p:nvPr/>
        </p:nvSpPr>
        <p:spPr>
          <a:xfrm>
            <a:off x="6272783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9" name="Plan action 1 Contact"/>
          <p:cNvSpPr txBox="1"/>
          <p:nvPr/>
        </p:nvSpPr>
        <p:spPr>
          <a:xfrm>
            <a:off x="6967727" y="5065776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1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1" name="Plan action 1 ETA"/>
          <p:cNvSpPr txBox="1"/>
          <p:nvPr/>
        </p:nvSpPr>
        <p:spPr>
          <a:xfrm>
            <a:off x="1472184" y="5468112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1 Follow-up KPI label"/>
          <p:cNvSpPr txBox="1"/>
          <p:nvPr/>
        </p:nvSpPr>
        <p:spPr>
          <a:xfrm>
            <a:off x="6272783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3" name="Plan action 1 Follow-up KPI"/>
          <p:cNvSpPr txBox="1"/>
          <p:nvPr/>
        </p:nvSpPr>
        <p:spPr>
          <a:xfrm>
            <a:off x="7488936" y="5468112"/>
            <a:ext cx="39867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26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
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2" r:id="rId22"/>
    <p:sldId id="260" r:id="rId11"/>
    <p:sldId id="283" r:id="rId21"/>
    <p:sldId id="261" r:id="rId12"/>
    <p:sldId id="284" r:id="rId20"/>
    <p:sldId id="266" r:id="rId17"/>
    <p:sldId id="268" r:id="rId19"/>
    <p:sldId id="279" r:id="rId31"/>
    <p:sldId id="280" r:id="rId32"/>
    <p:sldId id="285" r:id="rId18"/>
    <p:sldId id="286" r:id="rId16"/>
    <p:sldId id="274" r:id="rId25"/>
    <p:sldId id="287" r:id="rId1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5" Type="http://schemas.openxmlformats.org/officeDocument/2006/relationships/slide" Target="slides/slide24.xml"/><Relationship Id="rId16" Type="http://schemas.openxmlformats.org/officeDocument/2006/relationships/slide" Target="slides/slide23.xml"/><Relationship Id="rId17" Type="http://schemas.openxmlformats.org/officeDocument/2006/relationships/slide" Target="slides/slide10.xml"/><Relationship Id="rId18" Type="http://schemas.openxmlformats.org/officeDocument/2006/relationships/slide" Target="slides/slide22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31" Type="http://schemas.openxmlformats.org/officeDocument/2006/relationships/slide" Target="slides/slide12.xml"/><Relationship Id="rId32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40.0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0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8000.0</c:v>
                </c:pt>
                <c:pt idx="1">
                  <c:v>8000.0</c:v>
                </c:pt>
                <c:pt idx="2">
                  <c:v>8000.0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200.0</c:v>
                </c:pt>
                <c:pt idx="1">
                  <c:v>200.0</c:v>
                </c:pt>
                <c:pt idx="2">
                  <c:v>200.0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8000.0</c:v>
                </c:pt>
                <c:pt idx="1">
                  <c:v>8000.0</c:v>
                </c:pt>
                <c:pt idx="2">
                  <c:v>8000.0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0.025</c:v>
                </c:pt>
                <c:pt idx="1">
                  <c:v>0.025</c:v>
                </c:pt>
                <c:pt idx="2">
                  <c:v>0.025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June 2026 –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V9_Beta2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139.4%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19.3 pp worse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139.4% better than 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19.3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-5.3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-3.5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-1.8 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-5.3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-3.5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-1.8 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0.3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lost 0.28 pp of PETS GMV share vs previous month.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8,000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23.9 pp below PETS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changed +0.0% vs previous month.</a:t>
            </a:r>
          </a:p>
        </p:txBody>
      </p:sp>
      <p:sp>
        <p:nvSpPr>
          <p:cNvPr id="27" name="Meeting interpretation top 1"/>
          <p:cNvSpPr txBox="1"/>
          <p:nvPr/>
        </p:nvSpPr>
        <p:spPr>
          <a:xfrm>
            <a:off x="6812280" y="3547872"/>
            <a:ext cx="4983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Basket-size movement was larger than the change in order volume.</a:t>
            </a:r>
          </a:p>
        </p:txBody>
      </p:sp>
      <p:sp>
        <p:nvSpPr>
          <p:cNvPr id="28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23.9 pp below PETS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23.0 pp worse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2/2 operating stores.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670048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98064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43200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43200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7432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743200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24" name="Picture 23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2 stores generated 100.0% of total partner GMV in August 2026.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€8,000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0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#1 · 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8" name="V2.1 action field 0: PRIVATE-ID-0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0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0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0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0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0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1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#2 · Pet supplies branch 1, Rustaveli Avenue 15</a:t>
            </a:r>
          </a:p>
        </p:txBody>
      </p:sp>
      <p:sp>
        <p:nvSpPr>
          <p:cNvPr id="16" name="V2.1 action field 0: PRIVATE-ID-1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1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1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1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1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1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2 selected of 2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2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6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2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თბილისი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1143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1069848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0 store"/>
          <p:cNvSpPr txBox="1"/>
          <p:nvPr/>
        </p:nvSpPr>
        <p:spPr>
          <a:xfrm>
            <a:off x="813816" y="2514600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9" name="Review 0 location"/>
          <p:cNvSpPr txBox="1"/>
          <p:nvPr/>
        </p:nvSpPr>
        <p:spPr>
          <a:xfrm>
            <a:off x="813816" y="324612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თბილისი, საქართველო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86784" y="2523744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0 type"/>
          <p:cNvSpPr txBox="1"/>
          <p:nvPr/>
        </p:nvSpPr>
        <p:spPr>
          <a:xfrm>
            <a:off x="4087368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2" name="Review 0 evidence"/>
          <p:cNvSpPr txBox="1"/>
          <p:nvPr/>
        </p:nvSpPr>
        <p:spPr>
          <a:xfrm>
            <a:off x="5577840" y="2514600"/>
            <a:ext cx="2359152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3" name="Review 0 action"/>
          <p:cNvSpPr txBox="1"/>
          <p:nvPr/>
        </p:nvSpPr>
        <p:spPr>
          <a:xfrm>
            <a:off x="8147304" y="2514600"/>
            <a:ext cx="3218688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593591"/>
            <a:ext cx="10991088" cy="1143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3630168"/>
            <a:ext cx="41148" cy="1069848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view 1 store"/>
          <p:cNvSpPr txBox="1"/>
          <p:nvPr/>
        </p:nvSpPr>
        <p:spPr>
          <a:xfrm>
            <a:off x="813816" y="3739896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27" name="Review 1 location"/>
          <p:cNvSpPr txBox="1"/>
          <p:nvPr/>
        </p:nvSpPr>
        <p:spPr>
          <a:xfrm>
            <a:off x="813816" y="4471416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თბილისი, საქართველო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86784" y="3749039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 type"/>
          <p:cNvSpPr txBox="1"/>
          <p:nvPr/>
        </p:nvSpPr>
        <p:spPr>
          <a:xfrm>
            <a:off x="4087368" y="381304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0" name="Review 1 evidence"/>
          <p:cNvSpPr txBox="1"/>
          <p:nvPr/>
        </p:nvSpPr>
        <p:spPr>
          <a:xfrm>
            <a:off x="5577840" y="3739896"/>
            <a:ext cx="2359152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1" name="Review 1 action"/>
          <p:cNvSpPr txBox="1"/>
          <p:nvPr/>
        </p:nvSpPr>
        <p:spPr>
          <a:xfrm>
            <a:off x="8147304" y="3739896"/>
            <a:ext cx="3218688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818888"/>
            <a:ext cx="10991088" cy="1143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4360" y="4855464"/>
            <a:ext cx="41148" cy="1069848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2 store"/>
          <p:cNvSpPr txBox="1"/>
          <p:nvPr/>
        </p:nvSpPr>
        <p:spPr>
          <a:xfrm>
            <a:off x="813816" y="4965192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35" name="Review 2 location"/>
          <p:cNvSpPr txBox="1"/>
          <p:nvPr/>
        </p:nvSpPr>
        <p:spPr>
          <a:xfrm>
            <a:off x="813816" y="5696712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თბილისი, საქართველო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86784" y="4974336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2 type"/>
          <p:cNvSpPr txBox="1"/>
          <p:nvPr/>
        </p:nvSpPr>
        <p:spPr>
          <a:xfrm>
            <a:off x="4087368" y="5038344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8" name="Review 2 evidence"/>
          <p:cNvSpPr txBox="1"/>
          <p:nvPr/>
        </p:nvSpPr>
        <p:spPr>
          <a:xfrm>
            <a:off x="5577840" y="4965192"/>
            <a:ext cx="2359152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39" name="Review 2 action"/>
          <p:cNvSpPr txBox="1"/>
          <p:nvPr/>
        </p:nvSpPr>
        <p:spPr>
          <a:xfrm>
            <a:off x="8147304" y="4965192"/>
            <a:ext cx="3218688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3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19" name="Review 3 location"/>
          <p:cNvSpPr txBox="1"/>
          <p:nvPr/>
        </p:nvSpPr>
        <p:spPr>
          <a:xfrm>
            <a:off x="813816" y="2916936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Tbilisi, Georgia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86784" y="2523744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3 type"/>
          <p:cNvSpPr txBox="1"/>
          <p:nvPr/>
        </p:nvSpPr>
        <p:spPr>
          <a:xfrm>
            <a:off x="4087368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2" name="Review 3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3" name="Review 3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view 4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27" name="Review 4 location"/>
          <p:cNvSpPr txBox="1"/>
          <p:nvPr/>
        </p:nvSpPr>
        <p:spPr>
          <a:xfrm>
            <a:off x="813816" y="389534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Tbilisi, Georgia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86784" y="3502152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4 type"/>
          <p:cNvSpPr txBox="1"/>
          <p:nvPr/>
        </p:nvSpPr>
        <p:spPr>
          <a:xfrm>
            <a:off x="4087368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0" name="Review 4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1" name="Review 4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5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35" name="Review 5 location"/>
          <p:cNvSpPr txBox="1"/>
          <p:nvPr/>
        </p:nvSpPr>
        <p:spPr>
          <a:xfrm>
            <a:off x="813816" y="4873752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Tbilisi, Georgia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86784" y="4480560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5 type"/>
          <p:cNvSpPr txBox="1"/>
          <p:nvPr/>
        </p:nvSpPr>
        <p:spPr>
          <a:xfrm>
            <a:off x="4087368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8" name="Review 5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39" name="Review 5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lan action 1 rank"/>
          <p:cNvSpPr txBox="1"/>
          <p:nvPr/>
        </p:nvSpPr>
        <p:spPr>
          <a:xfrm>
            <a:off x="777240" y="161848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1</a:t>
            </a:r>
          </a:p>
        </p:txBody>
      </p:sp>
      <p:sp>
        <p:nvSpPr>
          <p:cNvPr id="7" name="Plan action 1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8" name="Plan action 1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9" name="Plan action 1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0" name="Plan action 1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1" name="Plan action 1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2" name="Plan action 1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lan action 1 agreed label"/>
          <p:cNvSpPr txBox="1"/>
          <p:nvPr/>
        </p:nvSpPr>
        <p:spPr>
          <a:xfrm>
            <a:off x="850392" y="4325112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5" name="Plan action 1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Plan action 1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7" name="Plan action 1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1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9" name="Plan action 1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1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1" name="Plan action 1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1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3" name="Plan action 1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lan action 2 rank"/>
          <p:cNvSpPr txBox="1"/>
          <p:nvPr/>
        </p:nvSpPr>
        <p:spPr>
          <a:xfrm>
            <a:off x="6400800" y="161848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2</a:t>
            </a:r>
          </a:p>
        </p:txBody>
      </p:sp>
      <p:sp>
        <p:nvSpPr>
          <p:cNvPr id="26" name="Plan action 2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27" name="Plan action 2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28" name="Plan action 2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9" name="Plan action 2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0" name="Plan action 2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1" name="Plan action 2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lan action 2 agreed label"/>
          <p:cNvSpPr txBox="1"/>
          <p:nvPr/>
        </p:nvSpPr>
        <p:spPr>
          <a:xfrm>
            <a:off x="6473952" y="4325112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4" name="Plan action 2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Plan action 2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6" name="Plan action 2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Plan action 2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8" name="Plan action 2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2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0" name="Plan action 2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2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2" name="Plan action 2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ext check-in label"/>
          <p:cNvSpPr txBox="1"/>
          <p:nvPr/>
        </p:nvSpPr>
        <p:spPr>
          <a:xfrm>
            <a:off x="804672" y="62453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5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
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78" r:id="rId30"/>
    <p:sldId id="279" r:id="rId31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24.xml"/><Relationship Id="rId21" Type="http://schemas.openxmlformats.org/officeDocument/2006/relationships/slide" Target="slides/slide23.xml"/><Relationship Id="rId22" Type="http://schemas.openxmlformats.org/officeDocument/2006/relationships/slide" Target="slides/slide22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14.626436781609195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72407121855776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0.18599999999999997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0.9440000000000001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27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0.037096774193548385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0.02258064516129032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0.038775510204081653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539536817861928"/>
          <c:min val="-0.0274642057449938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0.05454545454545445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539536817861928"/>
          <c:min val="-0.0274642057449938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-0.014954257565094942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539536817861928"/>
          <c:min val="-0.0274642057449938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3000.0</c:v>
                </c:pt>
                <c:pt idx="1">
                  <c:v>3190.0</c:v>
                </c:pt>
                <c:pt idx="2">
                  <c:v>3380.0</c:v>
                </c:pt>
                <c:pt idx="3">
                  <c:v>3570.0</c:v>
                </c:pt>
                <c:pt idx="4">
                  <c:v>3760.0</c:v>
                </c:pt>
                <c:pt idx="5">
                  <c:v>3950.0</c:v>
                </c:pt>
                <c:pt idx="6">
                  <c:v>4140.0</c:v>
                </c:pt>
                <c:pt idx="7">
                  <c:v>4330.0</c:v>
                </c:pt>
                <c:pt idx="8">
                  <c:v>4520.0</c:v>
                </c:pt>
                <c:pt idx="9">
                  <c:v>4710.0</c:v>
                </c:pt>
                <c:pt idx="10">
                  <c:v>4900.0</c:v>
                </c:pt>
                <c:pt idx="11">
                  <c:v>5090.0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150.0</c:v>
                </c:pt>
                <c:pt idx="1">
                  <c:v>168.0</c:v>
                </c:pt>
                <c:pt idx="2">
                  <c:v>186.0</c:v>
                </c:pt>
                <c:pt idx="3">
                  <c:v>204.0</c:v>
                </c:pt>
                <c:pt idx="4">
                  <c:v>222.0</c:v>
                </c:pt>
                <c:pt idx="5">
                  <c:v>240.0</c:v>
                </c:pt>
                <c:pt idx="6">
                  <c:v>258.0</c:v>
                </c:pt>
                <c:pt idx="7">
                  <c:v>276.0</c:v>
                </c:pt>
                <c:pt idx="8">
                  <c:v>294.0</c:v>
                </c:pt>
                <c:pt idx="9">
                  <c:v>312.0</c:v>
                </c:pt>
                <c:pt idx="10">
                  <c:v>330.0</c:v>
                </c:pt>
                <c:pt idx="11">
                  <c:v>348.0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1000.0</c:v>
                </c:pt>
                <c:pt idx="1">
                  <c:v>1070.0</c:v>
                </c:pt>
                <c:pt idx="2">
                  <c:v>1140.0</c:v>
                </c:pt>
                <c:pt idx="3">
                  <c:v>1210.0</c:v>
                </c:pt>
                <c:pt idx="4">
                  <c:v>1280.0</c:v>
                </c:pt>
                <c:pt idx="5">
                  <c:v>1350.0</c:v>
                </c:pt>
                <c:pt idx="6">
                  <c:v>1420.0</c:v>
                </c:pt>
                <c:pt idx="7">
                  <c:v>1490.0</c:v>
                </c:pt>
                <c:pt idx="8">
                  <c:v>1560.0</c:v>
                </c:pt>
                <c:pt idx="9">
                  <c:v>1630.0</c:v>
                </c:pt>
                <c:pt idx="10">
                  <c:v>1700.0</c:v>
                </c:pt>
                <c:pt idx="11">
                  <c:v>1770.0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0.0%</c:formatCode>
                <c:ptCount val="12"/>
                <c:pt idx="0">
                  <c:v>0.12</c:v>
                </c:pt>
                <c:pt idx="1">
                  <c:v>0.126</c:v>
                </c:pt>
                <c:pt idx="2">
                  <c:v>0.132</c:v>
                </c:pt>
                <c:pt idx="3">
                  <c:v>0.138</c:v>
                </c:pt>
                <c:pt idx="4">
                  <c:v>0.144</c:v>
                </c:pt>
                <c:pt idx="5">
                  <c:v>0.15</c:v>
                </c:pt>
                <c:pt idx="6">
                  <c:v>0.156</c:v>
                </c:pt>
                <c:pt idx="7">
                  <c:v>0.162</c:v>
                </c:pt>
                <c:pt idx="8">
                  <c:v>0.16800000000000004</c:v>
                </c:pt>
                <c:pt idx="9">
                  <c:v>0.17400000000000002</c:v>
                </c:pt>
                <c:pt idx="10">
                  <c:v>0.18</c:v>
                </c:pt>
                <c:pt idx="11">
                  <c:v>0.18599999999999997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0.9440000000000001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0.037096774193548385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0.02258064516129032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"CVR", "Likely Operational Driver": "Assortment / pricing / content / discoverability / funnel quality: investigate",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Partner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September 2025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  <p:sp>
        <p:nvSpPr>
          <p:cNvPr id="9" name="Presentation Partner Name"/>
          <p:cNvSpPr txBox="1"/>
          <p:nvPr/>
        </p:nvSpPr>
        <p:spPr>
          <a:xfrm>
            <a:off x="749808" y="4114800"/>
            <a:ext cx="10515600" cy="1508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2400" b="1">
                <a:solidFill>
                  <a:srgbClr val="232323"/>
                </a:solidFill>
                <a:latin typeface="Montserrat"/>
              </a:defRPr>
            </a:pPr>
            <a:r>
              <a:t>PETS regression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€14.63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12.5%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18.6%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7.8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94.4%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3.1 pp better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2.4 pp better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0.3 pp better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+1.9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-3.3 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0.0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0.05 pp of PETS GMV share vs previous month.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94.4%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0.4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0.6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▲ 0.0 pp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2.4 pp better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▲ 0.1 pp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0.3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94.4%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Central, 123 Long Avenue, Tbilisi,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€5,090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Watch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€5,090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ETS-01"/>
          <p:cNvSpPr txBox="1"/>
          <p:nvPr/>
        </p:nvSpPr>
        <p:spPr>
          <a:xfrm>
            <a:off x="841248" y="152704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#1 · Pet Supplies Central, 123 Long Avenue, Tbilisi, Georgia</a:t>
            </a:r>
          </a:p>
        </p:txBody>
      </p:sp>
      <p:sp>
        <p:nvSpPr>
          <p:cNvPr id="8" name="V2.1 action field 0: PETS-01"/>
          <p:cNvSpPr txBox="1"/>
          <p:nvPr/>
        </p:nvSpPr>
        <p:spPr>
          <a:xfrm>
            <a:off x="841248" y="2249424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Priority 14.94 · Primary Action KPI: CVR</a:t>
            </a:r>
          </a:p>
        </p:txBody>
      </p:sp>
      <p:sp>
        <p:nvSpPr>
          <p:cNvPr id="9" name="V2.1 action field 1: PETS-01"/>
          <p:cNvSpPr txBox="1"/>
          <p:nvPr/>
        </p:nvSpPr>
        <p:spPr>
          <a:xfrm>
            <a:off x="841248" y="2761488"/>
            <a:ext cx="7315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ETS-01"/>
          <p:cNvSpPr txBox="1"/>
          <p:nvPr/>
        </p:nvSpPr>
        <p:spPr>
          <a:xfrm>
            <a:off x="841248" y="316382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6E6E6E"/>
                </a:solidFill>
                <a:latin typeface="Montserrat"/>
              </a:defRPr>
            </a:pPr>
            <a:r>
              <a:t>CVR 18.6% vs SBU 26.4%</a:t>
            </a:r>
          </a:p>
        </p:txBody>
      </p:sp>
      <p:sp>
        <p:nvSpPr>
          <p:cNvPr id="11" name="V2.1 action field 3: PETS-01"/>
          <p:cNvSpPr txBox="1"/>
          <p:nvPr/>
        </p:nvSpPr>
        <p:spPr>
          <a:xfrm>
            <a:off x="841248" y="3685032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Likely operational driver: Assortment / pricing / content / discoverability / funnel quality: investigate</a:t>
            </a:r>
          </a:p>
        </p:txBody>
      </p:sp>
      <p:sp>
        <p:nvSpPr>
          <p:cNvPr id="12" name="V2.1 action field 4: PETS-01"/>
          <p:cNvSpPr txBox="1"/>
          <p:nvPr/>
        </p:nvSpPr>
        <p:spPr>
          <a:xfrm>
            <a:off x="841248" y="4471416"/>
            <a:ext cx="7315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Review assortment, pricing, content and discoverability, then investigate the conversion journey</a:t>
            </a:r>
          </a:p>
        </p:txBody>
      </p:sp>
      <p:sp>
        <p:nvSpPr>
          <p:cNvPr id="13" name="V2.1 action field 5: PETS-01"/>
          <p:cNvSpPr txBox="1"/>
          <p:nvPr/>
        </p:nvSpPr>
        <p:spPr>
          <a:xfrm>
            <a:off x="841248" y="5349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Intended effect: Improve conversion against the SBU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1 selected of 1 ACTION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1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14.94 · Lowest 14.94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0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Central, 123 Long Avenue, Tbilisi, Georgia / CVR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65960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assortment, pricing, content and discoverability, then investigate the conversion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9" y="1965960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 agree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regression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€5,090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620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18.6%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-7.8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71312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3.7%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-2.4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61146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-0.3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90167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94.4%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-0.6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100597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20.16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74.10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14.94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92% · n=1,770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73650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95% · n=620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79672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n=620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5376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2a65899f9a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Assortment / pricing / content / discoverability / funnel quality: investigate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assortment, pricing, content and discoverability, then investigate the conversion journey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conversion against the SBU benchmark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€14.63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12.5% worse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18.6%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7.8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94.4%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3.1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2.4 pp better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0.3 pp better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-1.5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+1.9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-3.3 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€5,090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3.9%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348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5.5%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1,770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4.1%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18.6%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0.6 pp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7.8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+3.9%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Order volume moved more sharply than basket size.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7.8 pp below PETS benchmark.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PETS regression example — Partner Business Review</dc:title>
  <dc:subject>PETS regression example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
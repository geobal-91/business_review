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99" r:id="rId33"/>
    <p:sldId id="260" r:id="rId11"/>
    <p:sldId id="300" r:id="rId23"/>
    <p:sldId id="261" r:id="rId12"/>
    <p:sldId id="301" r:id="rId22"/>
    <p:sldId id="266" r:id="rId17"/>
    <p:sldId id="268" r:id="rId19"/>
    <p:sldId id="292" r:id="rId44"/>
    <p:sldId id="302" r:id="rId21"/>
    <p:sldId id="303" r:id="rId20"/>
    <p:sldId id="304" r:id="rId18"/>
    <p:sldId id="305" r:id="rId16"/>
    <p:sldId id="306" r:id="rId15"/>
    <p:sldId id="307" r:id="rId14"/>
    <p:sldId id="308" r:id="rId13"/>
    <p:sldId id="309" r:id="rId51"/>
    <p:sldId id="278" r:id="rId29"/>
    <p:sldId id="279" r:id="rId30"/>
    <p:sldId id="310" r:id="rId52"/>
    <p:sldId id="311" r:id="rId53"/>
    <p:sldId id="312" r:id="rId54"/>
    <p:sldId id="313" r:id="rId55"/>
    <p:sldId id="280" r:id="rId31"/>
    <p:sldId id="281" r:id="rId32"/>
    <p:sldId id="298" r:id="rId50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43.xml"/><Relationship Id="rId14" Type="http://schemas.openxmlformats.org/officeDocument/2006/relationships/slide" Target="slides/slide42.xml"/><Relationship Id="rId15" Type="http://schemas.openxmlformats.org/officeDocument/2006/relationships/slide" Target="slides/slide41.xml"/><Relationship Id="rId16" Type="http://schemas.openxmlformats.org/officeDocument/2006/relationships/slide" Target="slides/slide40.xml"/><Relationship Id="rId17" Type="http://schemas.openxmlformats.org/officeDocument/2006/relationships/slide" Target="slides/slide10.xml"/><Relationship Id="rId18" Type="http://schemas.openxmlformats.org/officeDocument/2006/relationships/slide" Target="slides/slide39.xml"/><Relationship Id="rId19" Type="http://schemas.openxmlformats.org/officeDocument/2006/relationships/slide" Target="slides/slide11.xml"/><Relationship Id="rId20" Type="http://schemas.openxmlformats.org/officeDocument/2006/relationships/slide" Target="slides/slide38.xml"/><Relationship Id="rId21" Type="http://schemas.openxmlformats.org/officeDocument/2006/relationships/slide" Target="slides/slide37.xml"/><Relationship Id="rId22" Type="http://schemas.openxmlformats.org/officeDocument/2006/relationships/slide" Target="slides/slide9.xml"/><Relationship Id="rId23" Type="http://schemas.openxmlformats.org/officeDocument/2006/relationships/slide" Target="slides/slide7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5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notesMaster" Target="notesMasters/notesMaster1.xml"/><Relationship Id="rId44" Type="http://schemas.openxmlformats.org/officeDocument/2006/relationships/slide" Target="slides/slide12.xml"/><Relationship Id="rId50" Type="http://schemas.openxmlformats.org/officeDocument/2006/relationships/slide" Target="slides/slide27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32.32298136645963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.0198757763975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0.03244107071514183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0.20748829953198128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9734789391575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26000.0</c:v>
                </c:pt>
                <c:pt idx="1">
                  <c:v>24000.0</c:v>
                </c:pt>
                <c:pt idx="2">
                  <c:v>26020.0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800.0</c:v>
                </c:pt>
                <c:pt idx="1">
                  <c:v>600.0</c:v>
                </c:pt>
                <c:pt idx="2">
                  <c:v>805.0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25000.0</c:v>
                </c:pt>
                <c:pt idx="1">
                  <c:v>24000.0</c:v>
                </c:pt>
                <c:pt idx="2">
                  <c:v>25030.0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0.032</c:v>
                </c:pt>
                <c:pt idx="1">
                  <c:v>0.025</c:v>
                </c:pt>
                <c:pt idx="2">
                  <c:v>0.03244107071514183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0.20748829953198128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9734789391575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"MONITOR", "Action Reason": "", "Supporting Rule Matches": [], "Primary Action KPI": "Uptime", "Likely Operational Driver": "Store availability; investigate scheduling / execution",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"CVR", "Likely Operational Driver": "Not assessed; review lifecycle / data evidence", "Operational/Data State": ["DATA_REVIEW"]}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["MISSING_CURRENT"]}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2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30.xml"/><Relationship Id="rId4" Type="http://schemas.openxmlformats.org/officeDocument/2006/relationships/slide" Target="slide31.xml"/><Relationship Id="rId5" Type="http://schemas.openxmlformats.org/officeDocument/2006/relationships/slide" Target="slide32.xml"/><Relationship Id="rId6" Type="http://schemas.openxmlformats.org/officeDocument/2006/relationships/slide" Target="slide33.xml"/><Relationship Id="rId7" Type="http://schemas.openxmlformats.org/officeDocument/2006/relationships/slide" Target="slide34.xml"/><Relationship Id="rId8" Type="http://schemas.openxmlformats.org/officeDocument/2006/relationships/slide" Target="slide28.xml"/><Relationship Id="rId9" Type="http://schemas.openxmlformats.org/officeDocument/2006/relationships/slide" Target="slide35.xml"/><Relationship Id="rId10" Type="http://schemas.openxmlformats.org/officeDocument/2006/relationships/slide" Target="slide3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3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4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Reporting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€32.32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Not assessed — incomplete store coverage. Raw values use August 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€32.32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 Raw values shown.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17.1%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Share comparisons involving incomplete store coverage are not comparable.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საერთაშორისო პარტნიორი და შინაური ცხოველების მომსახურების ცენტრი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€26,020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805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25,030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3.2%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Not assessed — incomplete store coverage.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CVR: Not assessed — incomplete store coverage.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Target: 95.0%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PNA: 6.1%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SBU Cancels: 2.5%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5468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benchmark / target comparisons: Not assessed — incomplete store coverage.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rates reflect stores with current data. Uptime coverage: 8/8 operating stores. Missing current store records: 1.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3374136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02152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447288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447288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44728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3447288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4078224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151376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3592" y="4151376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4151376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4151376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" y="4782312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910328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855464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855464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4855464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0256" y="4855464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" y="548640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61441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559551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3592" y="5559551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81728" y="5559551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0256" y="5559551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48" name="Picture 4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869680" y="3813048"/>
            <a:ext cx="248716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6 stores displayed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4608576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GMV share not assessed — incomplete store coverage.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€26,020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Store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totals are retained. Incomplete-period growth comparisons are suppressed.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July 2026 · Partial Store Coverage · Expected 7 · Present 6 · Missing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D, Rustaveli Avenue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August 2026 · Partial Store Coverage · Expected 9 · Present 8 · Missing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D, Rustaveli Avenue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9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Store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Operational state and business classification are separate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35608"/>
            <a:ext cx="10972800" cy="356616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27980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536192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7448" y="1536192"/>
            <a:ext cx="1069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1536192"/>
            <a:ext cx="905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2008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7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7" y="1536192"/>
            <a:ext cx="7589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96727" y="153619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856231"/>
            <a:ext cx="10972800" cy="5349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erview store: PRIVATE-ID-0">
            <a:hlinkClick action="ppaction://hlinksldjump" r:id="rId2"/>
          </p:cNvPr>
          <p:cNvSpPr txBox="1"/>
          <p:nvPr/>
        </p:nvSpPr>
        <p:spPr>
          <a:xfrm>
            <a:off x="658368" y="1911095"/>
            <a:ext cx="279806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7" name="V2.1 Overview 1: PRIVATE-ID-0"/>
          <p:cNvSpPr txBox="1"/>
          <p:nvPr/>
        </p:nvSpPr>
        <p:spPr>
          <a:xfrm>
            <a:off x="3566160" y="1911095"/>
            <a:ext cx="10515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8" name="V2.1 Overview 2: PRIVATE-ID-0"/>
          <p:cNvSpPr txBox="1"/>
          <p:nvPr/>
        </p:nvSpPr>
        <p:spPr>
          <a:xfrm>
            <a:off x="4727448" y="1911095"/>
            <a:ext cx="106984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19" name="V2.1 Overview 3: PRIVATE-ID-0"/>
          <p:cNvSpPr txBox="1"/>
          <p:nvPr/>
        </p:nvSpPr>
        <p:spPr>
          <a:xfrm>
            <a:off x="5907024" y="1911095"/>
            <a:ext cx="905256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V2.1 Overview 4: PRIVATE-ID-0"/>
          <p:cNvSpPr txBox="1"/>
          <p:nvPr/>
        </p:nvSpPr>
        <p:spPr>
          <a:xfrm>
            <a:off x="6922008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1" name="V2.1 Overview 5: PRIVATE-ID-0"/>
          <p:cNvSpPr txBox="1"/>
          <p:nvPr/>
        </p:nvSpPr>
        <p:spPr>
          <a:xfrm>
            <a:off x="7790688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2" name="V2.1 Overview 6: PRIVATE-ID-0"/>
          <p:cNvSpPr txBox="1"/>
          <p:nvPr/>
        </p:nvSpPr>
        <p:spPr>
          <a:xfrm>
            <a:off x="8659367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3" name="V2.1 Overview 7: PRIVATE-ID-0"/>
          <p:cNvSpPr txBox="1"/>
          <p:nvPr/>
        </p:nvSpPr>
        <p:spPr>
          <a:xfrm>
            <a:off x="9528047" y="1911095"/>
            <a:ext cx="75895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V2.1 Overview 8: PRIVATE-ID-0"/>
          <p:cNvSpPr txBox="1"/>
          <p:nvPr/>
        </p:nvSpPr>
        <p:spPr>
          <a:xfrm>
            <a:off x="10396727" y="1911095"/>
            <a:ext cx="112471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2414015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erview store: PRIVATE-ID-1">
            <a:hlinkClick action="ppaction://hlinksldjump" r:id="rId3"/>
          </p:cNvPr>
          <p:cNvSpPr txBox="1"/>
          <p:nvPr/>
        </p:nvSpPr>
        <p:spPr>
          <a:xfrm>
            <a:off x="658368" y="2468879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7" name="V2.1 Overview 1: PRIVATE-ID-1"/>
          <p:cNvSpPr txBox="1"/>
          <p:nvPr/>
        </p:nvSpPr>
        <p:spPr>
          <a:xfrm>
            <a:off x="3566160" y="2468879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8" name="V2.1 Overview 2: PRIVATE-ID-1"/>
          <p:cNvSpPr txBox="1"/>
          <p:nvPr/>
        </p:nvSpPr>
        <p:spPr>
          <a:xfrm>
            <a:off x="4727448" y="2468879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29" name="V2.1 Overview 3: PRIVATE-ID-1"/>
          <p:cNvSpPr txBox="1"/>
          <p:nvPr/>
        </p:nvSpPr>
        <p:spPr>
          <a:xfrm>
            <a:off x="5907024" y="2468879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30" name="V2.1 Overview 4: PRIVATE-ID-1"/>
          <p:cNvSpPr txBox="1"/>
          <p:nvPr/>
        </p:nvSpPr>
        <p:spPr>
          <a:xfrm>
            <a:off x="6922008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1" name="V2.1 Overview 5: PRIVATE-ID-1"/>
          <p:cNvSpPr txBox="1"/>
          <p:nvPr/>
        </p:nvSpPr>
        <p:spPr>
          <a:xfrm>
            <a:off x="7790688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2" name="V2.1 Overview 6: PRIVATE-ID-1"/>
          <p:cNvSpPr txBox="1"/>
          <p:nvPr/>
        </p:nvSpPr>
        <p:spPr>
          <a:xfrm>
            <a:off x="8659367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3" name="V2.1 Overview 7: PRIVATE-ID-1"/>
          <p:cNvSpPr txBox="1"/>
          <p:nvPr/>
        </p:nvSpPr>
        <p:spPr>
          <a:xfrm>
            <a:off x="9528047" y="246887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34" name="V2.1 Overview 8: PRIVATE-ID-1"/>
          <p:cNvSpPr txBox="1"/>
          <p:nvPr/>
        </p:nvSpPr>
        <p:spPr>
          <a:xfrm>
            <a:off x="10396727" y="2468879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2816351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erview store: PRIVATE-ID-2">
            <a:hlinkClick action="ppaction://hlinksldjump" r:id="rId4"/>
          </p:cNvPr>
          <p:cNvSpPr txBox="1"/>
          <p:nvPr/>
        </p:nvSpPr>
        <p:spPr>
          <a:xfrm>
            <a:off x="658368" y="2871215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37" name="V2.1 Overview 1: PRIVATE-ID-2"/>
          <p:cNvSpPr txBox="1"/>
          <p:nvPr/>
        </p:nvSpPr>
        <p:spPr>
          <a:xfrm>
            <a:off x="3566160" y="2871215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38" name="V2.1 Overview 2: PRIVATE-ID-2"/>
          <p:cNvSpPr txBox="1"/>
          <p:nvPr/>
        </p:nvSpPr>
        <p:spPr>
          <a:xfrm>
            <a:off x="4727448" y="2871215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39" name="V2.1 Overview 3: PRIVATE-ID-2"/>
          <p:cNvSpPr txBox="1"/>
          <p:nvPr/>
        </p:nvSpPr>
        <p:spPr>
          <a:xfrm>
            <a:off x="5907024" y="2871215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40" name="V2.1 Overview 4: PRIVATE-ID-2"/>
          <p:cNvSpPr txBox="1"/>
          <p:nvPr/>
        </p:nvSpPr>
        <p:spPr>
          <a:xfrm>
            <a:off x="6922008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41" name="V2.1 Overview 5: PRIVATE-ID-2"/>
          <p:cNvSpPr txBox="1"/>
          <p:nvPr/>
        </p:nvSpPr>
        <p:spPr>
          <a:xfrm>
            <a:off x="7790688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42" name="V2.1 Overview 6: PRIVATE-ID-2"/>
          <p:cNvSpPr txBox="1"/>
          <p:nvPr/>
        </p:nvSpPr>
        <p:spPr>
          <a:xfrm>
            <a:off x="8659367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43" name="V2.1 Overview 7: PRIVATE-ID-2"/>
          <p:cNvSpPr txBox="1"/>
          <p:nvPr/>
        </p:nvSpPr>
        <p:spPr>
          <a:xfrm>
            <a:off x="9528047" y="2871215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4" name="V2.1 Overview 8: PRIVATE-ID-2"/>
          <p:cNvSpPr txBox="1"/>
          <p:nvPr/>
        </p:nvSpPr>
        <p:spPr>
          <a:xfrm>
            <a:off x="10396727" y="2871215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3218687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erview store: PRIVATE-ID-3">
            <a:hlinkClick action="ppaction://hlinksldjump" r:id="rId5"/>
          </p:cNvPr>
          <p:cNvSpPr txBox="1"/>
          <p:nvPr/>
        </p:nvSpPr>
        <p:spPr>
          <a:xfrm>
            <a:off x="658368" y="3273551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7" name="V2.1 Overview 1: PRIVATE-ID-3"/>
          <p:cNvSpPr txBox="1"/>
          <p:nvPr/>
        </p:nvSpPr>
        <p:spPr>
          <a:xfrm>
            <a:off x="3566160" y="3273551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48" name="V2.1 Overview 2: PRIVATE-ID-3"/>
          <p:cNvSpPr txBox="1"/>
          <p:nvPr/>
        </p:nvSpPr>
        <p:spPr>
          <a:xfrm>
            <a:off x="4727448" y="3273551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49" name="V2.1 Overview 3: PRIVATE-ID-3"/>
          <p:cNvSpPr txBox="1"/>
          <p:nvPr/>
        </p:nvSpPr>
        <p:spPr>
          <a:xfrm>
            <a:off x="5907024" y="3273551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50" name="V2.1 Overview 4: PRIVATE-ID-3"/>
          <p:cNvSpPr txBox="1"/>
          <p:nvPr/>
        </p:nvSpPr>
        <p:spPr>
          <a:xfrm>
            <a:off x="6922008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51" name="V2.1 Overview 5: PRIVATE-ID-3"/>
          <p:cNvSpPr txBox="1"/>
          <p:nvPr/>
        </p:nvSpPr>
        <p:spPr>
          <a:xfrm>
            <a:off x="7790688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52" name="V2.1 Overview 6: PRIVATE-ID-3"/>
          <p:cNvSpPr txBox="1"/>
          <p:nvPr/>
        </p:nvSpPr>
        <p:spPr>
          <a:xfrm>
            <a:off x="8659367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53" name="V2.1 Overview 7: PRIVATE-ID-3"/>
          <p:cNvSpPr txBox="1"/>
          <p:nvPr/>
        </p:nvSpPr>
        <p:spPr>
          <a:xfrm>
            <a:off x="9528047" y="3273551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54" name="V2.1 Overview 8: PRIVATE-ID-3"/>
          <p:cNvSpPr txBox="1"/>
          <p:nvPr/>
        </p:nvSpPr>
        <p:spPr>
          <a:xfrm>
            <a:off x="10396727" y="3273551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" y="3621023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erview store: PRIVATE-ID-4">
            <a:hlinkClick action="ppaction://hlinksldjump" r:id="rId6"/>
          </p:cNvPr>
          <p:cNvSpPr txBox="1"/>
          <p:nvPr/>
        </p:nvSpPr>
        <p:spPr>
          <a:xfrm>
            <a:off x="658368" y="3675887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57" name="V2.1 Overview 1: PRIVATE-ID-4"/>
          <p:cNvSpPr txBox="1"/>
          <p:nvPr/>
        </p:nvSpPr>
        <p:spPr>
          <a:xfrm>
            <a:off x="3566160" y="3675887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58" name="V2.1 Overview 2: PRIVATE-ID-4"/>
          <p:cNvSpPr txBox="1"/>
          <p:nvPr/>
        </p:nvSpPr>
        <p:spPr>
          <a:xfrm>
            <a:off x="4727448" y="3675887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59" name="V2.1 Overview 3: PRIVATE-ID-4"/>
          <p:cNvSpPr txBox="1"/>
          <p:nvPr/>
        </p:nvSpPr>
        <p:spPr>
          <a:xfrm>
            <a:off x="5907024" y="3675887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60" name="V2.1 Overview 4: PRIVATE-ID-4"/>
          <p:cNvSpPr txBox="1"/>
          <p:nvPr/>
        </p:nvSpPr>
        <p:spPr>
          <a:xfrm>
            <a:off x="6922008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61" name="V2.1 Overview 5: PRIVATE-ID-4"/>
          <p:cNvSpPr txBox="1"/>
          <p:nvPr/>
        </p:nvSpPr>
        <p:spPr>
          <a:xfrm>
            <a:off x="7790688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62" name="V2.1 Overview 6: PRIVATE-ID-4"/>
          <p:cNvSpPr txBox="1"/>
          <p:nvPr/>
        </p:nvSpPr>
        <p:spPr>
          <a:xfrm>
            <a:off x="8659367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63" name="V2.1 Overview 7: PRIVATE-ID-4"/>
          <p:cNvSpPr txBox="1"/>
          <p:nvPr/>
        </p:nvSpPr>
        <p:spPr>
          <a:xfrm>
            <a:off x="9528047" y="3675887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64" name="V2.1 Overview 8: PRIVATE-ID-4"/>
          <p:cNvSpPr txBox="1"/>
          <p:nvPr/>
        </p:nvSpPr>
        <p:spPr>
          <a:xfrm>
            <a:off x="10396727" y="3675887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4023359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erview store: PRIVATE-ID-5">
            <a:hlinkClick action="ppaction://hlinksldjump" r:id="rId7"/>
          </p:cNvPr>
          <p:cNvSpPr txBox="1"/>
          <p:nvPr/>
        </p:nvSpPr>
        <p:spPr>
          <a:xfrm>
            <a:off x="658368" y="4078223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67" name="V2.1 Overview 1: PRIVATE-ID-5"/>
          <p:cNvSpPr txBox="1"/>
          <p:nvPr/>
        </p:nvSpPr>
        <p:spPr>
          <a:xfrm>
            <a:off x="3566160" y="4078223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68" name="V2.1 Overview 2: PRIVATE-ID-5"/>
          <p:cNvSpPr txBox="1"/>
          <p:nvPr/>
        </p:nvSpPr>
        <p:spPr>
          <a:xfrm>
            <a:off x="4727448" y="4078223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ACTION</a:t>
            </a:r>
          </a:p>
        </p:txBody>
      </p:sp>
      <p:sp>
        <p:nvSpPr>
          <p:cNvPr id="69" name="V2.1 Overview 3: PRIVATE-ID-5"/>
          <p:cNvSpPr txBox="1"/>
          <p:nvPr/>
        </p:nvSpPr>
        <p:spPr>
          <a:xfrm>
            <a:off x="5907024" y="4078223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70" name="V2.1 Overview 4: PRIVATE-ID-5"/>
          <p:cNvSpPr txBox="1"/>
          <p:nvPr/>
        </p:nvSpPr>
        <p:spPr>
          <a:xfrm>
            <a:off x="6922008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71" name="V2.1 Overview 5: PRIVATE-ID-5"/>
          <p:cNvSpPr txBox="1"/>
          <p:nvPr/>
        </p:nvSpPr>
        <p:spPr>
          <a:xfrm>
            <a:off x="7790688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72" name="V2.1 Overview 6: PRIVATE-ID-5"/>
          <p:cNvSpPr txBox="1"/>
          <p:nvPr/>
        </p:nvSpPr>
        <p:spPr>
          <a:xfrm>
            <a:off x="8659367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73" name="V2.1 Overview 7: PRIVATE-ID-5"/>
          <p:cNvSpPr txBox="1"/>
          <p:nvPr/>
        </p:nvSpPr>
        <p:spPr>
          <a:xfrm>
            <a:off x="9528047" y="4078223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74" name="V2.1 Overview 8: PRIVATE-ID-5"/>
          <p:cNvSpPr txBox="1"/>
          <p:nvPr/>
        </p:nvSpPr>
        <p:spPr>
          <a:xfrm>
            <a:off x="10396727" y="4078223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94360" y="4425696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erview store: PRIVATE-AVAIL">
            <a:hlinkClick action="ppaction://hlinksldjump" r:id="rId8"/>
          </p:cNvPr>
          <p:cNvSpPr txBox="1"/>
          <p:nvPr/>
        </p:nvSpPr>
        <p:spPr>
          <a:xfrm>
            <a:off x="658368" y="4480559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77" name="V2.1 Overview 1: PRIVATE-AVAIL"/>
          <p:cNvSpPr txBox="1"/>
          <p:nvPr/>
        </p:nvSpPr>
        <p:spPr>
          <a:xfrm>
            <a:off x="3566160" y="4480559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Watch</a:t>
            </a:r>
          </a:p>
        </p:txBody>
      </p:sp>
      <p:sp>
        <p:nvSpPr>
          <p:cNvPr id="78" name="V2.1 Overview 2: PRIVATE-AVAIL"/>
          <p:cNvSpPr txBox="1"/>
          <p:nvPr/>
        </p:nvSpPr>
        <p:spPr>
          <a:xfrm>
            <a:off x="4727448" y="4480559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MONITOR</a:t>
            </a:r>
          </a:p>
        </p:txBody>
      </p:sp>
      <p:sp>
        <p:nvSpPr>
          <p:cNvPr id="79" name="V2.1 Overview 3: PRIVATE-AVAIL"/>
          <p:cNvSpPr txBox="1"/>
          <p:nvPr/>
        </p:nvSpPr>
        <p:spPr>
          <a:xfrm>
            <a:off x="5907024" y="4480559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80" name="V2.1 Overview 4: PRIVATE-AVAIL"/>
          <p:cNvSpPr txBox="1"/>
          <p:nvPr/>
        </p:nvSpPr>
        <p:spPr>
          <a:xfrm>
            <a:off x="6922008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81" name="V2.1 Overview 5: PRIVATE-AVAIL"/>
          <p:cNvSpPr txBox="1"/>
          <p:nvPr/>
        </p:nvSpPr>
        <p:spPr>
          <a:xfrm>
            <a:off x="7790688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2" name="V2.1 Overview 6: PRIVATE-AVAIL"/>
          <p:cNvSpPr txBox="1"/>
          <p:nvPr/>
        </p:nvSpPr>
        <p:spPr>
          <a:xfrm>
            <a:off x="8659367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83" name="V2.1 Overview 7: PRIVATE-AVAIL"/>
          <p:cNvSpPr txBox="1"/>
          <p:nvPr/>
        </p:nvSpPr>
        <p:spPr>
          <a:xfrm>
            <a:off x="9528047" y="4480559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88.0%</a:t>
            </a:r>
          </a:p>
        </p:txBody>
      </p:sp>
      <p:sp>
        <p:nvSpPr>
          <p:cNvPr id="84" name="V2.1 Overview 8: PRIVATE-AVAIL"/>
          <p:cNvSpPr txBox="1"/>
          <p:nvPr/>
        </p:nvSpPr>
        <p:spPr>
          <a:xfrm>
            <a:off x="10396727" y="4480559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0.18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" y="4828032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erview store: PRIVATE-MISSING">
            <a:hlinkClick action="ppaction://hlinksldjump" r:id="rId9"/>
          </p:cNvPr>
          <p:cNvSpPr txBox="1"/>
          <p:nvPr/>
        </p:nvSpPr>
        <p:spPr>
          <a:xfrm>
            <a:off x="658368" y="4882896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87" name="V2.1 Overview 1: PRIVATE-MISSING"/>
          <p:cNvSpPr txBox="1"/>
          <p:nvPr/>
        </p:nvSpPr>
        <p:spPr>
          <a:xfrm>
            <a:off x="3566160" y="4882896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Data review</a:t>
            </a:r>
          </a:p>
        </p:txBody>
      </p:sp>
      <p:sp>
        <p:nvSpPr>
          <p:cNvPr id="88" name="V2.1 Overview 2: PRIVATE-MISSING"/>
          <p:cNvSpPr txBox="1"/>
          <p:nvPr/>
        </p:nvSpPr>
        <p:spPr>
          <a:xfrm>
            <a:off x="4727448" y="4882896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UNCLASSIFIED</a:t>
            </a:r>
          </a:p>
        </p:txBody>
      </p:sp>
      <p:sp>
        <p:nvSpPr>
          <p:cNvPr id="89" name="V2.1 Overview 3: PRIVATE-MISSING"/>
          <p:cNvSpPr txBox="1"/>
          <p:nvPr/>
        </p:nvSpPr>
        <p:spPr>
          <a:xfrm>
            <a:off x="5907024" y="4882896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90" name="V2.1 Overview 4: PRIVATE-MISSING"/>
          <p:cNvSpPr txBox="1"/>
          <p:nvPr/>
        </p:nvSpPr>
        <p:spPr>
          <a:xfrm>
            <a:off x="6922008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91" name="V2.1 Overview 5: PRIVATE-MISSING"/>
          <p:cNvSpPr txBox="1"/>
          <p:nvPr/>
        </p:nvSpPr>
        <p:spPr>
          <a:xfrm>
            <a:off x="7790688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92" name="V2.1 Overview 6: PRIVATE-MISSING"/>
          <p:cNvSpPr txBox="1"/>
          <p:nvPr/>
        </p:nvSpPr>
        <p:spPr>
          <a:xfrm>
            <a:off x="8659367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93" name="V2.1 Overview 7: PRIVATE-MISSING"/>
          <p:cNvSpPr txBox="1"/>
          <p:nvPr/>
        </p:nvSpPr>
        <p:spPr>
          <a:xfrm>
            <a:off x="9528047" y="4882896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94" name="V2.1 Overview 8: PRIVATE-MISSING"/>
          <p:cNvSpPr txBox="1"/>
          <p:nvPr/>
        </p:nvSpPr>
        <p:spPr>
          <a:xfrm>
            <a:off x="10396727" y="4882896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94360" y="5230368"/>
            <a:ext cx="10972800" cy="3794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erview store: PRIVATE-OLD">
            <a:hlinkClick action="ppaction://hlinksldjump" r:id="rId10"/>
          </p:cNvPr>
          <p:cNvSpPr txBox="1"/>
          <p:nvPr/>
        </p:nvSpPr>
        <p:spPr>
          <a:xfrm>
            <a:off x="658368" y="5285232"/>
            <a:ext cx="27980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00A082"/>
                </a:solidFill>
                <a:latin typeface="Montserrat"/>
              </a:defRPr>
            </a:pPr>
            <a:r>
              <a:t>Pet supplies branch D, Rustaveli Avenue 15</a:t>
            </a:r>
          </a:p>
        </p:txBody>
      </p:sp>
      <p:sp>
        <p:nvSpPr>
          <p:cNvPr id="97" name="V2.1 Overview 1: PRIVATE-OLD"/>
          <p:cNvSpPr txBox="1"/>
          <p:nvPr/>
        </p:nvSpPr>
        <p:spPr>
          <a:xfrm>
            <a:off x="3566160" y="5285232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Unknown</a:t>
            </a:r>
          </a:p>
        </p:txBody>
      </p:sp>
      <p:sp>
        <p:nvSpPr>
          <p:cNvPr id="98" name="V2.1 Overview 2: PRIVATE-OLD"/>
          <p:cNvSpPr txBox="1"/>
          <p:nvPr/>
        </p:nvSpPr>
        <p:spPr>
          <a:xfrm>
            <a:off x="4727448" y="5285232"/>
            <a:ext cx="10698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00A082"/>
                </a:solidFill>
                <a:latin typeface="Montserrat"/>
              </a:defRPr>
            </a:pPr>
            <a:r>
              <a:t>UNCLASSIFIED</a:t>
            </a:r>
          </a:p>
        </p:txBody>
      </p:sp>
      <p:sp>
        <p:nvSpPr>
          <p:cNvPr id="99" name="V2.1 Overview 3: PRIVATE-OLD"/>
          <p:cNvSpPr txBox="1"/>
          <p:nvPr/>
        </p:nvSpPr>
        <p:spPr>
          <a:xfrm>
            <a:off x="5907024" y="5285232"/>
            <a:ext cx="9052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0" name="V2.1 Overview 4: PRIVATE-OLD"/>
          <p:cNvSpPr txBox="1"/>
          <p:nvPr/>
        </p:nvSpPr>
        <p:spPr>
          <a:xfrm>
            <a:off x="6922008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1" name="V2.1 Overview 5: PRIVATE-OLD"/>
          <p:cNvSpPr txBox="1"/>
          <p:nvPr/>
        </p:nvSpPr>
        <p:spPr>
          <a:xfrm>
            <a:off x="7790688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2" name="V2.1 Overview 6: PRIVATE-OLD"/>
          <p:cNvSpPr txBox="1"/>
          <p:nvPr/>
        </p:nvSpPr>
        <p:spPr>
          <a:xfrm>
            <a:off x="8659367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3" name="V2.1 Overview 7: PRIVATE-OLD"/>
          <p:cNvSpPr txBox="1"/>
          <p:nvPr/>
        </p:nvSpPr>
        <p:spPr>
          <a:xfrm>
            <a:off x="9528047" y="5285232"/>
            <a:ext cx="7589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4" name="V2.1 Overview 8: PRIVATE-OLD"/>
          <p:cNvSpPr txBox="1"/>
          <p:nvPr/>
        </p:nvSpPr>
        <p:spPr>
          <a:xfrm>
            <a:off x="10396727" y="5285232"/>
            <a:ext cx="1124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2648" y="6409944"/>
            <a:ext cx="11018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Select a store for Diagnostics. ACTION may be below Priority 5.0 through a documented V2.1 override.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+13.6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424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88.0%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-7.0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93777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8.00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2.21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17% · n=30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31394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25% · n=10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470916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50% · n=10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9418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Store availability; investigate scheduling / execution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 and verify persistent downtime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Improve uptime toward the 95% target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MONITOR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-6.4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76680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-0.0 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25512" y="2345436"/>
            <a:ext cx="998287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At Target · +0.0 pp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n=400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n=400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983479"/>
            <a:ext cx="183772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Unavailable metrics: PNA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Unavailable metrics: PNA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D,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UNKNOWN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MISSING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Missing current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4361688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CVR · Rate unavailable / not assessed · n unavailable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 unavailable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4892040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Cancels · Rate unavailable / not assessed · n unavailable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No store row in the reporting month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No store row in the reporting month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#1 · 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#2 · Pet supplies branch 1, Rustaveli Avenue 15</a:t>
            </a:r>
          </a:p>
        </p:txBody>
      </p:sp>
      <p:sp>
        <p:nvSpPr>
          <p:cNvPr id="16" name="V2.1 action field 0: PRIVATE-ID-1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1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1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1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1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1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2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#3 · Pet supplies branch 2, Rustaveli Avenue 15</a:t>
            </a:r>
          </a:p>
        </p:txBody>
      </p:sp>
      <p:sp>
        <p:nvSpPr>
          <p:cNvPr id="8" name="V2.1 action field 0: PRIVATE-ID-2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2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2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2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2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2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3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#4 · Pet supplies branch 3, Rustaveli Avenue 15</a:t>
            </a:r>
          </a:p>
        </p:txBody>
      </p:sp>
      <p:sp>
        <p:nvSpPr>
          <p:cNvPr id="16" name="V2.1 action field 0: PRIVATE-ID-3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3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3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3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3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3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4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#5 · Pet supplies branch 4, Rustaveli Avenue 15</a:t>
            </a:r>
          </a:p>
        </p:txBody>
      </p:sp>
      <p:sp>
        <p:nvSpPr>
          <p:cNvPr id="8" name="V2.1 action field 0: PRIVATE-ID-4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4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4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4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4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4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5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00A082"/>
                </a:solidFill>
                <a:latin typeface="Montserrat"/>
              </a:defRPr>
            </a:pPr>
            <a:r>
              <a:t>#6 · Pet supplies branch 5, Rustaveli Avenue 15</a:t>
            </a:r>
          </a:p>
        </p:txBody>
      </p:sp>
      <p:sp>
        <p:nvSpPr>
          <p:cNvPr id="16" name="V2.1 action field 0: PRIVATE-ID-5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5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5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5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5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5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6 selected of 6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6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18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0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G,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02336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0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0 type"/>
          <p:cNvSpPr txBox="1"/>
          <p:nvPr/>
        </p:nvSpPr>
        <p:spPr>
          <a:xfrm>
            <a:off x="4251960" y="2587752"/>
            <a:ext cx="11612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Data quality</a:t>
            </a:r>
          </a:p>
        </p:txBody>
      </p:sp>
      <p:sp>
        <p:nvSpPr>
          <p:cNvPr id="25" name="Review 0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Missing scoring evidence: PNA</a:t>
            </a:r>
          </a:p>
        </p:txBody>
      </p:sp>
      <p:sp>
        <p:nvSpPr>
          <p:cNvPr id="26" name="Review 0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 store"/>
          <p:cNvSpPr txBox="1"/>
          <p:nvPr/>
        </p:nvSpPr>
        <p:spPr>
          <a:xfrm>
            <a:off x="813816" y="3493008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1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1 evidence"/>
          <p:cNvSpPr txBox="1"/>
          <p:nvPr/>
        </p:nvSpPr>
        <p:spPr>
          <a:xfrm>
            <a:off x="5577840" y="3493008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34" name="Review 1 action"/>
          <p:cNvSpPr txBox="1"/>
          <p:nvPr/>
        </p:nvSpPr>
        <p:spPr>
          <a:xfrm>
            <a:off x="8147304" y="3493008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34256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70832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2 store"/>
          <p:cNvSpPr txBox="1"/>
          <p:nvPr/>
        </p:nvSpPr>
        <p:spPr>
          <a:xfrm>
            <a:off x="813816" y="4480560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970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2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26280"/>
            <a:ext cx="256032" cy="256032"/>
          </a:xfrm>
          <a:prstGeom prst="rect">
            <a:avLst/>
          </a:prstGeom>
        </p:spPr>
      </p:pic>
      <p:sp>
        <p:nvSpPr>
          <p:cNvPr id="40" name="Review 2 type"/>
          <p:cNvSpPr txBox="1"/>
          <p:nvPr/>
        </p:nvSpPr>
        <p:spPr>
          <a:xfrm>
            <a:off x="4251960" y="455371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2 evidence"/>
          <p:cNvSpPr txBox="1"/>
          <p:nvPr/>
        </p:nvSpPr>
        <p:spPr>
          <a:xfrm>
            <a:off x="5577840" y="4480560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42" name="Review 2 action"/>
          <p:cNvSpPr txBox="1"/>
          <p:nvPr/>
        </p:nvSpPr>
        <p:spPr>
          <a:xfrm>
            <a:off x="8147304" y="4480560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21808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58384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3 store"/>
          <p:cNvSpPr txBox="1"/>
          <p:nvPr/>
        </p:nvSpPr>
        <p:spPr>
          <a:xfrm>
            <a:off x="813816" y="5468112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77256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3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513832"/>
            <a:ext cx="256032" cy="256032"/>
          </a:xfrm>
          <a:prstGeom prst="rect">
            <a:avLst/>
          </a:prstGeom>
        </p:spPr>
      </p:pic>
      <p:sp>
        <p:nvSpPr>
          <p:cNvPr id="48" name="Review 3 type"/>
          <p:cNvSpPr txBox="1"/>
          <p:nvPr/>
        </p:nvSpPr>
        <p:spPr>
          <a:xfrm>
            <a:off x="4251960" y="5541264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3 evidence"/>
          <p:cNvSpPr txBox="1"/>
          <p:nvPr/>
        </p:nvSpPr>
        <p:spPr>
          <a:xfrm>
            <a:off x="5577840" y="5468112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50" name="Review 3 action"/>
          <p:cNvSpPr txBox="1"/>
          <p:nvPr/>
        </p:nvSpPr>
        <p:spPr>
          <a:xfrm>
            <a:off x="8147304" y="5468112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4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4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4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4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6" name="Review 4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5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5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5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5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4" name="Review 5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6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6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6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6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2" name="Review 6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7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7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7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7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50" name="Review 7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8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8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8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8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6" name="Review 8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9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9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9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9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4" name="Review 9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10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10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10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10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42" name="Review 10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11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11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11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11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50" name="Review 11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12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12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12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12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26" name="Review 12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3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3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13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13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34" name="Review 13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14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14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14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14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42" name="Review 14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15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15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15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9" name="Review 15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50" name="Review 15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8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18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16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16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16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16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6" name="Review 16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7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7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17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17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4" name="Review 17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18 store"/>
          <p:cNvSpPr txBox="1"/>
          <p:nvPr/>
        </p:nvSpPr>
        <p:spPr>
          <a:xfrm>
            <a:off x="813816" y="4471416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18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18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18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2" name="Review 18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03520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94360" y="5340096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view 19 store"/>
          <p:cNvSpPr txBox="1"/>
          <p:nvPr/>
        </p:nvSpPr>
        <p:spPr>
          <a:xfrm>
            <a:off x="813816" y="5449824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L, Rustaveli Avenue 15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13632" y="5458968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Review 19 icon" descr="icon_availability_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1063" y="5495544"/>
            <a:ext cx="256032" cy="256032"/>
          </a:xfrm>
          <a:prstGeom prst="rect">
            <a:avLst/>
          </a:prstGeom>
        </p:spPr>
      </p:pic>
      <p:sp>
        <p:nvSpPr>
          <p:cNvPr id="48" name="Review 19 type"/>
          <p:cNvSpPr txBox="1"/>
          <p:nvPr/>
        </p:nvSpPr>
        <p:spPr>
          <a:xfrm>
            <a:off x="4251960" y="552297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Availability review</a:t>
            </a:r>
          </a:p>
        </p:txBody>
      </p:sp>
      <p:sp>
        <p:nvSpPr>
          <p:cNvPr id="49" name="Review 19 evidence"/>
          <p:cNvSpPr txBox="1"/>
          <p:nvPr/>
        </p:nvSpPr>
        <p:spPr>
          <a:xfrm>
            <a:off x="5577840" y="5449824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Uptime 88.0% vs target 95.0%</a:t>
            </a:r>
          </a:p>
        </p:txBody>
      </p:sp>
      <p:sp>
        <p:nvSpPr>
          <p:cNvPr id="50" name="Review 19 action"/>
          <p:cNvSpPr txBox="1"/>
          <p:nvPr/>
        </p:nvSpPr>
        <p:spPr>
          <a:xfrm>
            <a:off x="8147304" y="5449824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Restore availability during scheduled opening hours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1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1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1</a:t>
            </a:r>
          </a:p>
        </p:txBody>
      </p:sp>
      <p:sp>
        <p:nvSpPr>
          <p:cNvPr id="8" name="Plan action 1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1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0" name="Plan action 1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1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1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1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1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1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1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1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1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1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1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1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1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1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1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2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2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2</a:t>
            </a:r>
          </a:p>
        </p:txBody>
      </p:sp>
      <p:sp>
        <p:nvSpPr>
          <p:cNvPr id="29" name="Plan action 2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2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1, Rustaveli Avenue 15</a:t>
            </a:r>
          </a:p>
        </p:txBody>
      </p:sp>
      <p:sp>
        <p:nvSpPr>
          <p:cNvPr id="31" name="Plan action 2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2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2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2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2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2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2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2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2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2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2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2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2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2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2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3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3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3</a:t>
            </a:r>
          </a:p>
        </p:txBody>
      </p:sp>
      <p:sp>
        <p:nvSpPr>
          <p:cNvPr id="8" name="Plan action 3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3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2, Rustaveli Avenue 15</a:t>
            </a:r>
          </a:p>
        </p:txBody>
      </p:sp>
      <p:sp>
        <p:nvSpPr>
          <p:cNvPr id="10" name="Plan action 3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3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3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3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3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3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3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3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3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3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3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3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3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3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3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4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4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4</a:t>
            </a:r>
          </a:p>
        </p:txBody>
      </p:sp>
      <p:sp>
        <p:nvSpPr>
          <p:cNvPr id="29" name="Plan action 4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4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3, Rustaveli Avenue 15</a:t>
            </a:r>
          </a:p>
        </p:txBody>
      </p:sp>
      <p:sp>
        <p:nvSpPr>
          <p:cNvPr id="31" name="Plan action 4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4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4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4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4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4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4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4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4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4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4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4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4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4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4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5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5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5</a:t>
            </a:r>
          </a:p>
        </p:txBody>
      </p:sp>
      <p:sp>
        <p:nvSpPr>
          <p:cNvPr id="8" name="Plan action 5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5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4, Rustaveli Avenue 15</a:t>
            </a:r>
          </a:p>
        </p:txBody>
      </p:sp>
      <p:sp>
        <p:nvSpPr>
          <p:cNvPr id="10" name="Plan action 5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5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5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5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5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5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5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5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5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5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5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5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5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5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5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6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6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6</a:t>
            </a:r>
          </a:p>
        </p:txBody>
      </p:sp>
      <p:sp>
        <p:nvSpPr>
          <p:cNvPr id="29" name="Plan action 6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6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 supplies branch 5, Rustaveli Avenue 15</a:t>
            </a:r>
          </a:p>
        </p:txBody>
      </p:sp>
      <p:sp>
        <p:nvSpPr>
          <p:cNvPr id="31" name="Plan action 6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6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6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6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6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6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6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6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6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6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6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6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6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6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6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Partial Store Coverage · Expected 9 · Present 8 · Missing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პეტფუდი — საერთაშორისო პარტნიორი და შინაური ცხოველების მომსახურების ცენტრი Business Review</dc:title>
  <dc:subject>პეტფუდი — საერთაშორისო პარტნიორი და შინაური ცხოველების მომსახურების ცენტრი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
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80" r:id="rId22"/>
    <p:sldId id="260" r:id="rId11"/>
    <p:sldId id="281" r:id="rId21"/>
    <p:sldId id="261" r:id="rId12"/>
    <p:sldId id="282" r:id="rId20"/>
    <p:sldId id="266" r:id="rId17"/>
    <p:sldId id="268" r:id="rId19"/>
    <p:sldId id="277" r:id="rId29"/>
    <p:sldId id="283" r:id="rId18"/>
    <p:sldId id="284" r:id="rId16"/>
    <p:sldId id="273" r:id="rId24"/>
    <p:sldId id="285" r:id="rId15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6.xml"/><Relationship Id="rId12" Type="http://schemas.openxmlformats.org/officeDocument/2006/relationships/slide" Target="slides/slide8.xml"/><Relationship Id="rId15" Type="http://schemas.openxmlformats.org/officeDocument/2006/relationships/slide" Target="slides/slide22.xml"/><Relationship Id="rId16" Type="http://schemas.openxmlformats.org/officeDocument/2006/relationships/slide" Target="slides/slide21.xml"/><Relationship Id="rId17" Type="http://schemas.openxmlformats.org/officeDocument/2006/relationships/slide" Target="slides/slide10.xml"/><Relationship Id="rId18" Type="http://schemas.openxmlformats.org/officeDocument/2006/relationships/slide" Target="slides/slide20.xml"/><Relationship Id="rId19" Type="http://schemas.openxmlformats.org/officeDocument/2006/relationships/slide" Target="slides/slide11.xml"/><Relationship Id="rId20" Type="http://schemas.openxmlformats.org/officeDocument/2006/relationships/slide" Target="slides/slide9.xml"/><Relationship Id="rId21" Type="http://schemas.openxmlformats.org/officeDocument/2006/relationships/slide" Target="slides/slide7.xml"/><Relationship Id="rId22" Type="http://schemas.openxmlformats.org/officeDocument/2006/relationships/slide" Target="slides/slide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29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€#,##0.00</c:formatCode>
                <c:ptCount val="2"/>
                <c:pt idx="0">
                  <c:v>44.099219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€#,##0.00</c:formatCode>
                <c:ptCount val="2"/>
                <c:pt idx="1">
                  <c:v>48.30589472911392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2.79766314784810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0.0423728813559322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0.02229625832906202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05508474576271186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0.5977028270121854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7.597084402171946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-0.1967525442608361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-0.2685185185185185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+0.0%;-0.0%;0.0%</c:formatCode>
                <c:ptCount val="2"/>
                <c:pt idx="0">
                  <c:v>0.7194168804343892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+0.0%;-0.0%;0.0%</c:formatCode>
                <c:ptCount val="2"/>
                <c:pt idx="1">
                  <c:v>0.09811044582062922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9.956765278379086"/>
          <c:min val="-1.684327044242802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GMV (€)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37.340784</c:v>
                </c:pt>
                <c:pt idx="3">
                  <c:v>564.259904</c:v>
                </c:pt>
                <c:pt idx="4">
                  <c:v>670.041195</c:v>
                </c:pt>
                <c:pt idx="5">
                  <c:v>211.47173</c:v>
                </c:pt>
                <c:pt idx="6">
                  <c:v>0.0</c:v>
                </c:pt>
                <c:pt idx="7">
                  <c:v>174.22885</c:v>
                </c:pt>
                <c:pt idx="8">
                  <c:v>0.0</c:v>
                </c:pt>
                <c:pt idx="9">
                  <c:v>0.0</c:v>
                </c:pt>
                <c:pt idx="10">
                  <c:v>25.647776</c:v>
                </c:pt>
                <c:pt idx="11">
                  <c:v>220.496095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2.0</c:v>
                </c:pt>
                <c:pt idx="3">
                  <c:v>7.0</c:v>
                </c:pt>
                <c:pt idx="4">
                  <c:v>4.0</c:v>
                </c:pt>
                <c:pt idx="5">
                  <c:v>4.0</c:v>
                </c:pt>
                <c:pt idx="6">
                  <c:v>0.0</c:v>
                </c:pt>
                <c:pt idx="7">
                  <c:v>3.0</c:v>
                </c:pt>
                <c:pt idx="8">
                  <c:v>0.0</c:v>
                </c:pt>
                <c:pt idx="9">
                  <c:v>0.0</c:v>
                </c:pt>
                <c:pt idx="10">
                  <c:v>1.0</c:v>
                </c:pt>
                <c:pt idx="11">
                  <c:v>5.0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#,##0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 Sessions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Sheet1!$B$2:$B$13</c:f>
              <c:numCache>
                <c:formatCode>#,##0</c:formatCode>
                <c:ptCount val="12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188.0</c:v>
                </c:pt>
                <c:pt idx="5">
                  <c:v>253.0</c:v>
                </c:pt>
                <c:pt idx="6">
                  <c:v>229.0</c:v>
                </c:pt>
                <c:pt idx="7">
                  <c:v>151.0</c:v>
                </c:pt>
                <c:pt idx="8">
                  <c:v>116.0</c:v>
                </c:pt>
                <c:pt idx="9">
                  <c:v>146.0</c:v>
                </c:pt>
                <c:pt idx="10">
                  <c:v>122.0</c:v>
                </c:pt>
                <c:pt idx="11">
                  <c:v>118.0</c:v>
                </c:pt>
              </c:numCache>
            </c:numRef>
          </c:val>
        </c:ser>
        <c:gapWidth val="85"/>
        <c:axId val="-2068027336"/>
        <c:axId val="-2113994440"/>
      </c:barChart>
      <c:lineChart>
        <c:grouping val="standard"/>
        <c:ser>
          <c:idx val="1"/>
          <c:order val="1"/>
          <c:tx>
            <c:strRef>
              <c:f>Sheet1!$C$1</c:f>
              <c:strCache>
                <c:ptCount val="1"/>
                <c:pt idx="0">
                  <c:v>Partner CVR</c:v>
                </c:pt>
              </c:strCache>
            </c:strRef>
          </c:tx>
          <c:spPr>
            <a:ln w="31750">
              <a:solidFill>
                <a:srgbClr val="00A082"/>
              </a:solidFill>
            </a:ln>
          </c:spPr>
          <c:marker>
            <c:symbol val="circle"/>
            <c:size val="5"/>
            <c:spPr>
              <a:solidFill>
                <a:srgbClr val="00A082"/>
              </a:solidFill>
              <a:ln>
                <a:solidFill>
                  <a:srgbClr val="00A082"/>
                </a:solidFill>
              </a:ln>
            </c:spPr>
          </c:marker>
          <c:cat>
            <c:strRef>
              <c:f>Sheet1!$A$2:$A$13</c:f>
              <c:strCache>
                <c:ptCount val="12"/>
                <c:pt idx="0">
                  <c:v>Sep 25</c:v>
                </c:pt>
                <c:pt idx="1">
                  <c:v>Oct 25</c:v>
                </c:pt>
                <c:pt idx="2">
                  <c:v>Nov 25</c:v>
                </c:pt>
                <c:pt idx="3">
                  <c:v>Dec 25</c:v>
                </c:pt>
                <c:pt idx="4">
                  <c:v>Jan 26</c:v>
                </c:pt>
                <c:pt idx="5">
                  <c:v>Feb 26</c:v>
                </c:pt>
                <c:pt idx="6">
                  <c:v>Mar 26</c:v>
                </c:pt>
                <c:pt idx="7">
                  <c:v>Apr 26</c:v>
                </c:pt>
                <c:pt idx="8">
                  <c:v>May 26</c:v>
                </c:pt>
                <c:pt idx="9">
                  <c:v>Jun 26</c:v>
                </c:pt>
                <c:pt idx="10">
                  <c:v>Jul 26</c:v>
                </c:pt>
                <c:pt idx="11">
                  <c:v>Aug 26</c:v>
                </c:pt>
              </c:strCache>
            </c:strRef>
          </c:cat>
          <c:val>
            <c:numRef>
              <c:f>Sheet1!$C$2:$C$13</c:f>
              <c:numCache>
                <c:formatCode>0.0%</c:formatCode>
                <c:ptCount val="12"/>
                <c:pt idx="4">
                  <c:v>0.01595744680851064</c:v>
                </c:pt>
                <c:pt idx="5">
                  <c:v>0.0158102766798419</c:v>
                </c:pt>
                <c:pt idx="6">
                  <c:v>0.0</c:v>
                </c:pt>
                <c:pt idx="7">
                  <c:v>0.02649006622516556</c:v>
                </c:pt>
                <c:pt idx="8">
                  <c:v>0.0</c:v>
                </c:pt>
                <c:pt idx="9">
                  <c:v>0.0</c:v>
                </c:pt>
                <c:pt idx="10">
                  <c:v>0.00819672131147541</c:v>
                </c:pt>
                <c:pt idx="11">
                  <c:v>0.0423728813559322</c:v>
                </c:pt>
              </c:numCache>
            </c:numRef>
          </c:val>
          <c:smooth val="0"/>
        </c:ser>
        <c:marker val="1"/>
        <c:smooth val="0"/>
        <c:axId val="901001"/>
        <c:axId val="901002"/>
      </c:line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numFmt formatCode="#,##0" sourceLinked="0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  <c:catAx>
        <c:axId val="901001"/>
        <c:scaling>
          <c:orientation val="minMax"/>
        </c:scaling>
        <c:delete val="1"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901002"/>
        <c:crosses val="max"/>
        <c:auto val="1"/>
        <c:lblAlgn val="ctr"/>
        <c:lblOffset val="100"/>
        <c:noMultiLvlLbl val="0"/>
      </c:catAx>
      <c:valAx>
        <c:axId val="901002"/>
        <c:scaling>
          <c:min val="0.0"/>
        </c:scaling>
        <c:delete val="0"/>
        <c:axPos val="r"/>
        <c:numFmt formatCode="0%" sourceLinked="0"/>
        <c:majorTickMark val="none"/>
        <c:minorTickMark val="none"/>
        <c:tickLblPos val="high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800">
                <a:solidFill>
                  <a:srgbClr val="6E6E6E"/>
                </a:solidFill>
                <a:latin typeface="Montserrat"/>
              </a:defRPr>
            </a:pPr>
          </a:p>
        </c:txPr>
        <c:crossAx val="901001"/>
        <c:crosses val="autoZero"/>
      </c:valAx>
    </c:plotArea>
    <c:legend>
      <c:legendPos val="t"/>
      <c:overlay val="0"/>
      <c:txPr>
        <a:bodyPr/>
        <a:lstStyle/>
        <a:p>
          <a:pPr>
            <a:defRPr sz="900">
              <a:latin typeface="Montserrat"/>
            </a:defRPr>
          </a:pPr>
        </a:p>
      </c:txPr>
    </c:legend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0.9888982390525167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95% target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95% target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0.95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2855677107682717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0.12087912087912088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5714285714285714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Partner</c:v>
                </c:pt>
              </c:strCache>
            </c:strRef>
          </c:tx>
          <c:spPr>
            <a:solidFill>
              <a:srgbClr val="00A082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Sheet1!$B$2:$B$3</c:f>
              <c:numCache>
                <c:formatCode>0.0%</c:formatCode>
                <c:ptCount val="2"/>
                <c:pt idx="0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SBU</c:v>
                </c:pt>
              </c:strCache>
            </c:strRef>
          </c:tx>
          <c:spPr>
            <a:solidFill>
              <a:srgbClr val="F2CC38"/>
            </a:solidFill>
            <a:ln>
              <a:noFill/>
            </a:ln>
          </c:spPr>
          <c:invertIfNegative val="0"/>
          <c:cat>
            <c:strRef>
              <c:f>Sheet1!$A$2:$A$3</c:f>
              <c:strCache>
                <c:ptCount val="2"/>
                <c:pt idx="0">
                  <c:v>Partner</c:v>
                </c:pt>
                <c:pt idx="1">
                  <c:v>SBU</c:v>
                </c:pt>
              </c:strCache>
            </c:strRef>
          </c:cat>
          <c:val>
            <c:numRef>
              <c:f>Sheet1!$C$2:$C$3</c:f>
              <c:numCache>
                <c:formatCode>0.0%</c:formatCode>
                <c:ptCount val="2"/>
                <c:pt idx="1">
                  <c:v>0.10989010989010989</c:v>
                </c:pt>
              </c:numCache>
            </c:numRef>
          </c:val>
        </c:ser>
        <c:gapWidth val="65"/>
        <c:overlap val="10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14285714285714285"/>
          <c:min val="0.0"/>
        </c:scaling>
        <c:delete/>
        <c:axPos val="b"/>
        <c:majorTickMark val="none"/>
        <c:minorTickMark val="none"/>
        <c:tickLblPos val="nextTo"/>
        <c:spPr>
          <a:ln>
            <a:solidFill>
              <a:srgbClr val="DCDCDC"/>
            </a:solidFill>
          </a:ln>
        </c:spPr>
        <c:txPr>
          <a:bodyPr/>
          <a:lstStyle/>
          <a:p>
            <a:pPr>
              <a:defRPr sz="1000">
                <a:solidFill>
                  <a:srgbClr val="6E6E6E"/>
                </a:solidFill>
                <a:latin typeface="Montserrat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>
          <a:solidFill>
            <a:srgbClr val="232323"/>
          </a:solidFill>
          <a:latin typeface="Montserra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Presentation-only layout. Recommended actions, priority and review evidence come unchanged from V9_Beta2. Meeting fields are editable text, initially unagreed.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Existing Beta2 analysis output and presentation.context; input hashes in the unchanged audit export.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User-supplied partner_data.xlsx and subbusiness_unit_data.xlsx; periods and input hashes in accompanying audit export. Brand assets supplied with Dev5.</a:t>
            </a:r>
          </a:p>
          <a:p>
            <a:r>
              <a:t>[/Sources]</a:t>
            </a:r>
          </a:p>
          <a:p>
            <a:r>
              <a:t>Official reported CVR; partner/SBU aggregate weighted by sessions</a:t>
            </a:r>
          </a:p>
          <a:p>
            <a:r>
              <a:t>V2.1 business triage:</a:t>
            </a:r>
          </a:p>
          <a:p>
            <a:r>
              <a:t>{"Business Classification": "HEALTHY", "Action Reason": "", "Supporting Rule Matches": [], "Primary Action KPI": "None", "Likely Operational Driver": "No supported primary issue", "Operational/Data State": ["COMPLETE"]}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Relationship Id="rId5" Type="http://schemas.openxmlformats.org/officeDocument/2006/relationships/chart" Target="../charts/chart4.xml"/><Relationship Id="rId6" Type="http://schemas.openxmlformats.org/officeDocument/2006/relationships/chart" Target="../charts/chart5.xml"/><Relationship Id="rId7" Type="http://schemas.openxmlformats.org/officeDocument/2006/relationships/notesSlide" Target="../notesSlides/notesSlide1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Relationship Id="rId3" Type="http://schemas.openxmlformats.org/officeDocument/2006/relationships/chart" Target="../charts/chart7.xml"/><Relationship Id="rId4" Type="http://schemas.openxmlformats.org/officeDocument/2006/relationships/chart" Target="../charts/chart8.xml"/><Relationship Id="rId5" Type="http://schemas.openxmlformats.org/officeDocument/2006/relationships/notesSlide" Target="../notesSlides/notesSlide1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Relationship Id="rId3" Type="http://schemas.openxmlformats.org/officeDocument/2006/relationships/chart" Target="../charts/chart10.xml"/><Relationship Id="rId4" Type="http://schemas.openxmlformats.org/officeDocument/2006/relationships/notesSlide" Target="../notesSlides/notesSlide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1.xml"/><Relationship Id="rId4" Type="http://schemas.openxmlformats.org/officeDocument/2006/relationships/chart" Target="../charts/chart12.xml"/><Relationship Id="rId5" Type="http://schemas.openxmlformats.org/officeDocument/2006/relationships/chart" Target="../charts/chart1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1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over teal rail"/>
          <p:cNvSpPr/>
          <p:nvPr/>
        </p:nvSpPr>
        <p:spPr>
          <a:xfrm>
            <a:off x="0" y="0"/>
            <a:ext cx="1613916" cy="6858000"/>
          </a:xfrm>
          <a:prstGeom prst="rect">
            <a:avLst/>
          </a:prstGeom>
          <a:gradFill rotWithShape="1">
            <a:gsLst>
              <a:gs pos="0">
                <a:srgbClr val="00A587"/>
              </a:gs>
              <a:gs pos="100000">
                <a:srgbClr val="00B798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over yellow accent"/>
          <p:cNvSpPr/>
          <p:nvPr/>
        </p:nvSpPr>
        <p:spPr>
          <a:xfrm>
            <a:off x="1508760" y="2368296"/>
            <a:ext cx="214884" cy="1399032"/>
          </a:xfrm>
          <a:prstGeom prst="rect">
            <a:avLst/>
          </a:prstGeom>
          <a:solidFill>
            <a:srgbClr val="FFD6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resentation identity title"/>
          <p:cNvSpPr txBox="1"/>
          <p:nvPr/>
        </p:nvSpPr>
        <p:spPr>
          <a:xfrm>
            <a:off x="2020824" y="1783080"/>
            <a:ext cx="7635240" cy="13533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</a:t>
            </a:r>
          </a:p>
        </p:txBody>
      </p:sp>
      <p:sp>
        <p:nvSpPr>
          <p:cNvPr id="5" name="Cover review heading"/>
          <p:cNvSpPr txBox="1"/>
          <p:nvPr/>
        </p:nvSpPr>
        <p:spPr>
          <a:xfrm>
            <a:off x="2020824" y="3191256"/>
            <a:ext cx="763524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400" b="0">
                <a:solidFill>
                  <a:srgbClr val="232323"/>
                </a:solidFill>
                <a:latin typeface="Montserrat"/>
              </a:defRPr>
            </a:pPr>
            <a:r>
              <a:t>Business Review</a:t>
            </a:r>
          </a:p>
        </p:txBody>
      </p:sp>
      <p:sp>
        <p:nvSpPr>
          <p:cNvPr id="6" name="Cover reporting period"/>
          <p:cNvSpPr txBox="1"/>
          <p:nvPr/>
        </p:nvSpPr>
        <p:spPr>
          <a:xfrm>
            <a:off x="2020824" y="4297680"/>
            <a:ext cx="763524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7" name="Bookend Glovo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8431" y="676656"/>
            <a:ext cx="1865376" cy="611843"/>
          </a:xfrm>
          <a:prstGeom prst="rect">
            <a:avLst/>
          </a:prstGeom>
        </p:spPr>
      </p:pic>
      <p:sp>
        <p:nvSpPr>
          <p:cNvPr id="8" name="Cover logo divider"/>
          <p:cNvSpPr/>
          <p:nvPr/>
        </p:nvSpPr>
        <p:spPr>
          <a:xfrm>
            <a:off x="10341864" y="877824"/>
            <a:ext cx="7315" cy="356616"/>
          </a:xfrm>
          <a:prstGeom prst="rect">
            <a:avLst/>
          </a:prstGeom>
          <a:solidFill>
            <a:srgbClr val="6E6E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Cover uploaded partner log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0" y="901598"/>
            <a:ext cx="914400" cy="299923"/>
          </a:xfrm>
          <a:prstGeom prst="rect">
            <a:avLst/>
          </a:prstGeom>
        </p:spPr>
      </p:pic>
      <p:sp>
        <p:nvSpPr>
          <p:cNvPr id="10" name="Cover SBU"/>
          <p:cNvSpPr txBox="1"/>
          <p:nvPr/>
        </p:nvSpPr>
        <p:spPr>
          <a:xfrm>
            <a:off x="6675120" y="6236208"/>
            <a:ext cx="4617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defRPr sz="1400" b="0">
                <a:solidFill>
                  <a:srgbClr val="232323"/>
                </a:solidFill>
                <a:latin typeface="Montserrat"/>
              </a:defRPr>
            </a:pPr>
            <a:r>
              <a:t>Sub-Business Unit: JEWELRY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Business Development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SBU performance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1148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€3,816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19.7%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79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26.9%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8932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AOV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9.8%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2478024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1325880"/>
            <a:ext cx="260604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19" y="1453895"/>
            <a:ext cx="2240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SBU CVR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19" y="1746504"/>
            <a:ext cx="22402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19" y="2194560"/>
            <a:ext cx="22402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0.6 pp vs prev. month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3337560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Composition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730752"/>
            <a:ext cx="512064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680" y="3977639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3977639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63240" y="4050791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462272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57400" y="4462272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D24646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063240" y="4535424"/>
            <a:ext cx="2057400" cy="146304"/>
          </a:xfrm>
          <a:prstGeom prst="roundRect">
            <a:avLst/>
          </a:prstGeom>
          <a:solidFill>
            <a:srgbClr val="D24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4946904"/>
            <a:ext cx="1234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57400" y="4946904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00A082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063240" y="5020056"/>
            <a:ext cx="1345682" cy="146304"/>
          </a:xfrm>
          <a:prstGeom prst="roundRect">
            <a:avLst/>
          </a:prstGeom>
          <a:solidFill>
            <a:srgbClr val="00A0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3337560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Key Takeaways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3730752"/>
            <a:ext cx="5394960" cy="196596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46520" y="399592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GMV decreased 19.7% vs previous month.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449884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Higher basket size partly offset lower order volume.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001768"/>
            <a:ext cx="4800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• CVR declined by 0.6 pp to 2.2%.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JEWELRY Performance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Last 12 available months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bu_performanc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10789920" cy="4343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Across the displayed period, JEWELRY GMV changed +332.0%, while orders changed +182.1%.</a:t>
            </a:r>
          </a:p>
        </p:txBody>
      </p:sp>
      <p:pic>
        <p:nvPicPr>
          <p:cNvPr id="8" name="Picture 7" descr="sbu_jewel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0" y="551308"/>
            <a:ext cx="1371600" cy="13662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Comparable period: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933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933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9933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6791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6791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6791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649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3649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3649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50791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4050791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050791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736592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736592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4736592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 · Comparable performance metrics · Each metric uses its own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627632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(€)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423160" y="1426464"/>
          <a:ext cx="5257800" cy="81381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26679" y="152933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€44.10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936242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€48.31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15400" y="1563624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D24646"/>
                </a:solidFill>
                <a:latin typeface="Montserrat"/>
              </a:defRPr>
            </a:pPr>
            <a:r>
              <a:t>8.7% worse than JEWELRY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487168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CVR (%)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423160" y="2286000"/>
          <a:ext cx="5257800" cy="8138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726679" y="238887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27957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2.2%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423160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2.0 pp better than JEWELRY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346704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Uptime (%)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423160" y="3145536"/>
          <a:ext cx="5257800" cy="81381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726679" y="324840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365531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59.8%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3282696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39.1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PNA (%)</a:t>
            </a:r>
          </a:p>
        </p:txBody>
      </p:sp>
      <p:graphicFrame>
        <p:nvGraphicFramePr>
          <p:cNvPr id="21" name="Chart 20"/>
          <p:cNvGraphicFramePr>
            <a:graphicFrameLocks noGrp="1"/>
          </p:cNvGraphicFramePr>
          <p:nvPr/>
        </p:nvGraphicFramePr>
        <p:xfrm>
          <a:off x="2423160" y="4005072"/>
          <a:ext cx="5257800" cy="813816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7726679" y="41079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514849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0" y="4142232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065776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Cancels (%)</a:t>
            </a:r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2423160" y="4864608"/>
          <a:ext cx="5257800" cy="813816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7" name="TextBox 26"/>
          <p:cNvSpPr txBox="1"/>
          <p:nvPr/>
        </p:nvSpPr>
        <p:spPr>
          <a:xfrm>
            <a:off x="7726679" y="4967478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26679" y="5374386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001768"/>
            <a:ext cx="2514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989320"/>
            <a:ext cx="10652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Benchmark comparison uses the latest common period available in both datasets: August 2026.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Growth vs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13232" y="1225295"/>
            <a:ext cx="10460736" cy="521207"/>
          </a:xfrm>
          <a:prstGeom prst="roundRect">
            <a:avLst/>
          </a:prstGeom>
          <a:solidFill>
            <a:srgbClr val="EBEBEB"/>
          </a:solidFill>
          <a:ln>
            <a:solidFill>
              <a:srgbClr val="EBEB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298448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KPI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Partner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0" y="1298448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JEWELRY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298448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719072"/>
            <a:ext cx="10241280" cy="13716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01168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01168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+779.4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278892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8892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278892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+426.9 pp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566160"/>
            <a:ext cx="22860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566160"/>
            <a:ext cx="164592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3566160"/>
            <a:ext cx="29260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+62.1 pp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Growth vs JEWELRY ·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MoM growth comparison — August 2026 · Shared percentage scale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476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Growth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514600" y="1554480"/>
          <a:ext cx="5120640" cy="11247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1735073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+759.7%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0" y="22974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-19.7%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18196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+779.4 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Orders Growth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2514600" y="2926080"/>
          <a:ext cx="5120640" cy="11247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680960" y="31066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+400.0%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36690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-26.9%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31912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+426.9 pp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690872"/>
            <a:ext cx="18288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AOV Growth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2514600" y="4297680"/>
          <a:ext cx="5120640" cy="11247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7680960" y="4478274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+71.9%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0" y="5040630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+9.8%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4562856"/>
            <a:ext cx="24688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Growth Gap</a:t>
            </a:r>
            <a:br/>
            <a:r>
              <a:t>+62.1 pp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Share of JEWELRY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Partner GMV as a share of JEWELRY GMV — August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291840" cy="18288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91056"/>
            <a:ext cx="2926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Share of JEWELRY GMV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83664"/>
            <a:ext cx="292608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5.8%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5.2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292608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E6E6E"/>
                </a:solidFill>
                <a:latin typeface="Montserrat"/>
              </a:defRPr>
            </a:pPr>
            <a:r>
              <a:t>Comparison unavailable</a:t>
            </a:r>
          </a:p>
        </p:txBody>
      </p:sp>
      <p:pic>
        <p:nvPicPr>
          <p:cNvPr id="10" name="Picture 9" descr="partner_sbu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325880"/>
            <a:ext cx="7200000" cy="420624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5961888"/>
            <a:ext cx="10835640" cy="50292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609904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1">
                <a:solidFill>
                  <a:srgbClr val="232323"/>
                </a:solidFill>
                <a:latin typeface="Montserrat"/>
              </a:defRPr>
            </a:pPr>
            <a:r>
              <a:t>Partner gained 5.24 pp of JEWELRY GMV share vs previous month.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resentation identity title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პეტფუდი — შინაური ცხოველების კვებისა და ვეტერინარული მომსახურების ცენტრი Performance &amp; Conversion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Monthly GMV and delivered orders · Partner sessions and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GMV &amp; Orders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1682496"/>
          <a:ext cx="5852160" cy="19476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3877056"/>
            <a:ext cx="5577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Partner Sessions × Partner CVR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31520" y="4187952"/>
          <a:ext cx="5852160" cy="194767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Meeting KPI GMV 0"/>
          <p:cNvSpPr/>
          <p:nvPr/>
        </p:nvSpPr>
        <p:spPr>
          <a:xfrm>
            <a:off x="681228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Meeting KPI GMV 1"/>
          <p:cNvSpPr txBox="1"/>
          <p:nvPr/>
        </p:nvSpPr>
        <p:spPr>
          <a:xfrm>
            <a:off x="6995160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1" name="Meeting KPI GMV 2"/>
          <p:cNvSpPr txBox="1"/>
          <p:nvPr/>
        </p:nvSpPr>
        <p:spPr>
          <a:xfrm>
            <a:off x="6995160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2" name="Meeting KPI GMV 3"/>
          <p:cNvSpPr txBox="1"/>
          <p:nvPr/>
        </p:nvSpPr>
        <p:spPr>
          <a:xfrm>
            <a:off x="6995160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759.7% vs prev. month</a:t>
            </a:r>
          </a:p>
        </p:txBody>
      </p:sp>
      <p:sp>
        <p:nvSpPr>
          <p:cNvPr id="13" name="Meeting KPI Orders 0"/>
          <p:cNvSpPr/>
          <p:nvPr/>
        </p:nvSpPr>
        <p:spPr>
          <a:xfrm>
            <a:off x="9464040" y="15087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Meeting KPI Orders 1"/>
          <p:cNvSpPr txBox="1"/>
          <p:nvPr/>
        </p:nvSpPr>
        <p:spPr>
          <a:xfrm>
            <a:off x="9646919" y="16367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Orders</a:t>
            </a:r>
          </a:p>
        </p:txBody>
      </p:sp>
      <p:sp>
        <p:nvSpPr>
          <p:cNvPr id="15" name="Meeting KPI Orders 2"/>
          <p:cNvSpPr txBox="1"/>
          <p:nvPr/>
        </p:nvSpPr>
        <p:spPr>
          <a:xfrm>
            <a:off x="9646919" y="19293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6" name="Meeting KPI Orders 3"/>
          <p:cNvSpPr txBox="1"/>
          <p:nvPr/>
        </p:nvSpPr>
        <p:spPr>
          <a:xfrm>
            <a:off x="9646919" y="2377439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400.0% vs prev. month</a:t>
            </a:r>
          </a:p>
        </p:txBody>
      </p:sp>
      <p:sp>
        <p:nvSpPr>
          <p:cNvPr id="17" name="Meeting KPI Partner Sessions 0"/>
          <p:cNvSpPr/>
          <p:nvPr/>
        </p:nvSpPr>
        <p:spPr>
          <a:xfrm>
            <a:off x="681228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Meeting KPI Partner Sessions 1"/>
          <p:cNvSpPr txBox="1"/>
          <p:nvPr/>
        </p:nvSpPr>
        <p:spPr>
          <a:xfrm>
            <a:off x="6995160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Sessions</a:t>
            </a:r>
          </a:p>
        </p:txBody>
      </p:sp>
      <p:sp>
        <p:nvSpPr>
          <p:cNvPr id="19" name="Meeting KPI Partner Sessions 2"/>
          <p:cNvSpPr txBox="1"/>
          <p:nvPr/>
        </p:nvSpPr>
        <p:spPr>
          <a:xfrm>
            <a:off x="6995160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20" name="Meeting KPI Partner Sessions 3"/>
          <p:cNvSpPr txBox="1"/>
          <p:nvPr/>
        </p:nvSpPr>
        <p:spPr>
          <a:xfrm>
            <a:off x="6995160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D24646"/>
                </a:solidFill>
                <a:latin typeface="Montserrat"/>
              </a:defRPr>
            </a:pPr>
            <a:r>
              <a:t>▼ 3.3% vs prev. month</a:t>
            </a:r>
          </a:p>
        </p:txBody>
      </p:sp>
      <p:sp>
        <p:nvSpPr>
          <p:cNvPr id="21" name="Meeting KPI Partner CVR 0"/>
          <p:cNvSpPr/>
          <p:nvPr/>
        </p:nvSpPr>
        <p:spPr>
          <a:xfrm>
            <a:off x="9464040" y="4023360"/>
            <a:ext cx="2331720" cy="169164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Meeting KPI Partner CVR 1"/>
          <p:cNvSpPr txBox="1"/>
          <p:nvPr/>
        </p:nvSpPr>
        <p:spPr>
          <a:xfrm>
            <a:off x="9646919" y="4151376"/>
            <a:ext cx="19659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CVR</a:t>
            </a:r>
          </a:p>
        </p:txBody>
      </p:sp>
      <p:sp>
        <p:nvSpPr>
          <p:cNvPr id="23" name="Meeting KPI Partner CVR 2"/>
          <p:cNvSpPr txBox="1"/>
          <p:nvPr/>
        </p:nvSpPr>
        <p:spPr>
          <a:xfrm>
            <a:off x="9646919" y="4443984"/>
            <a:ext cx="19659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4" name="Meeting KPI Partner CVR 3"/>
          <p:cNvSpPr txBox="1"/>
          <p:nvPr/>
        </p:nvSpPr>
        <p:spPr>
          <a:xfrm>
            <a:off x="9646919" y="4892040"/>
            <a:ext cx="19659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3.4 pp vs prev. month</a:t>
            </a:r>
          </a:p>
        </p:txBody>
      </p:sp>
      <p:sp>
        <p:nvSpPr>
          <p:cNvPr id="25" name="Meeting KPI Partner CVR 4"/>
          <p:cNvSpPr txBox="1"/>
          <p:nvPr/>
        </p:nvSpPr>
        <p:spPr>
          <a:xfrm>
            <a:off x="9646919" y="5230368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2.0 pp above JEWELRY benchmark</a:t>
            </a:r>
          </a:p>
        </p:txBody>
      </p:sp>
      <p:sp>
        <p:nvSpPr>
          <p:cNvPr id="26" name="Meeting interpretation top 0"/>
          <p:cNvSpPr txBox="1"/>
          <p:nvPr/>
        </p:nvSpPr>
        <p:spPr>
          <a:xfrm>
            <a:off x="6812280" y="3273552"/>
            <a:ext cx="49834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GMV changed +759.7% vs previous month.</a:t>
            </a:r>
          </a:p>
        </p:txBody>
      </p:sp>
      <p:sp>
        <p:nvSpPr>
          <p:cNvPr id="27" name="Meeting interpretation top 1"/>
          <p:cNvSpPr txBox="1"/>
          <p:nvPr/>
        </p:nvSpPr>
        <p:spPr>
          <a:xfrm>
            <a:off x="6812280" y="3547872"/>
            <a:ext cx="498348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Order volume moved more sharply than basket size.</a:t>
            </a:r>
          </a:p>
        </p:txBody>
      </p:sp>
      <p:sp>
        <p:nvSpPr>
          <p:cNvPr id="28" name="Meeting interpretation conversion"/>
          <p:cNvSpPr txBox="1"/>
          <p:nvPr/>
        </p:nvSpPr>
        <p:spPr>
          <a:xfrm>
            <a:off x="6812280" y="5843016"/>
            <a:ext cx="498348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ontserrat"/>
              </a:defRPr>
            </a:pPr>
            <a:r>
              <a:t>• Partner CVR is 2.0 pp above JEWELRY benchmark.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419088"/>
            <a:ext cx="1065276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Missing months / measurements are blank. Lines break at missing values.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Health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Latest partner performance — Uptime vs 95% target; PNA/Cancels vs JEWELRY (August 2026)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80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Operating Store Uptime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00A082"/>
                </a:solidFill>
                <a:latin typeface="Montserrat"/>
              </a:defRPr>
            </a:pPr>
            <a:r>
              <a:t>▲ 1.0 pp vs prev. month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3.9 pp better than 95% target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PNA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12.1 pp better than JEWELRY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371600"/>
            <a:ext cx="3383280" cy="1600200"/>
          </a:xfrm>
          <a:prstGeom prst="roundRect">
            <a:avLst/>
          </a:prstGeom>
          <a:solidFill>
            <a:srgbClr val="F2F2F2"/>
          </a:solidFill>
          <a:ln>
            <a:solidFill>
              <a:srgbClr val="F2F2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1499616"/>
            <a:ext cx="3017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Partner Cancels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19" y="1792224"/>
            <a:ext cx="30175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9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2240280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50" b="1">
                <a:solidFill>
                  <a:srgbClr val="6E6E6E"/>
                </a:solidFill>
                <a:latin typeface="Montserrat"/>
              </a:defRPr>
            </a:pPr>
            <a:r>
              <a:t>No change vs prev. month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2523744"/>
            <a:ext cx="3017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00A082"/>
                </a:solidFill>
                <a:latin typeface="Montserrat"/>
              </a:defRPr>
            </a:pPr>
            <a:r>
              <a:t>11.0 pp better than JEWELRY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42239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Interpretation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797296"/>
            <a:ext cx="1024128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Uptime is evaluated against a 95% operating target. Lower is better for PNA and Cancels. Green indicates improvement; red indicates deterioration. Uptime coverage: 1/1 operating store. Missing current store records: 0.</a:t>
            </a:r>
          </a:p>
        </p:txBody>
      </p:sp>
      <p:graphicFrame>
        <p:nvGraphicFramePr>
          <p:cNvPr id="22" name="Chart 21"/>
          <p:cNvGraphicFramePr>
            <a:graphicFrameLocks noGrp="1"/>
          </p:cNvGraphicFramePr>
          <p:nvPr/>
        </p:nvGraphicFramePr>
        <p:xfrm>
          <a:off x="68580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315468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95.0%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438912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685800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12.1%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8092440" y="3584448"/>
          <a:ext cx="2423160" cy="158191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10561320" y="3879341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1320" y="4670297"/>
            <a:ext cx="94183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11.0%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Top GMV Stores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12648" y="1417320"/>
            <a:ext cx="7818120" cy="448056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536192"/>
            <a:ext cx="245059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Store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93592" y="1536192"/>
            <a:ext cx="941832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81728" y="1536192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Commercial status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0256" y="1536192"/>
            <a:ext cx="166420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Operational 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1965960"/>
            <a:ext cx="7818120" cy="649224"/>
          </a:xfrm>
          <a:prstGeom prst="roundRect">
            <a:avLst>
              <a:gd name="adj" fmla="val 9000"/>
            </a:avLst>
          </a:prstGeom>
          <a:solidFill>
            <a:srgbClr val="F7F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093976"/>
            <a:ext cx="219456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039112"/>
            <a:ext cx="245059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2039112"/>
            <a:ext cx="941832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81728" y="2039112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Top Performer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0256" y="2039112"/>
            <a:ext cx="1664208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Healthy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68512" y="1417320"/>
            <a:ext cx="2916936" cy="4873752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618488"/>
            <a:ext cx="246888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232323"/>
                </a:solidFill>
                <a:latin typeface="Montserrat"/>
              </a:defRPr>
            </a:pPr>
            <a:r>
              <a:t>Top Stores</a:t>
            </a:r>
          </a:p>
        </p:txBody>
      </p:sp>
      <p:pic>
        <p:nvPicPr>
          <p:cNvPr id="18" name="Picture 17" descr="goldCrownCeleb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0388" y="1965960"/>
            <a:ext cx="1716607" cy="170992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869680" y="3767328"/>
            <a:ext cx="24688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900" b="1">
                <a:solidFill>
                  <a:srgbClr val="00A082"/>
                </a:solidFill>
                <a:latin typeface="Montserrat"/>
              </a:defRPr>
            </a:pPr>
            <a:r>
              <a:t>100.0%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553712"/>
            <a:ext cx="2487168" cy="987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232323"/>
                </a:solidFill>
                <a:latin typeface="Montserrat"/>
              </a:defRPr>
            </a:pPr>
            <a:r>
              <a:t>Top 1 store generated 100.0% of total partner GMV in August 2026.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5815584"/>
            <a:ext cx="2487168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Reported partner GMV: €220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How We Prioritize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Higher Priority = stronger case for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1537028"/>
            <a:ext cx="429768" cy="42809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89304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SEVERITY — 0–100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large is the KPI problem?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Compared with the relevant SBU benchmark or operating target.</a:t>
            </a:r>
            <a:br/>
            <a:br/>
            <a:r>
              <a:t>Evidence volume and confidence are considered. Larger reliable negative gaps create higher Severity.</a:t>
            </a:r>
            <a:br/>
            <a:br/>
            <a:r>
              <a:t>Dominant-KPI protection keeps a major problem from being hidden by healthy KPIs.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5112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9704" y="1537028"/>
            <a:ext cx="429768" cy="42809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20056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IMPACT — 0–100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How much business exposure</a:t>
            </a:r>
            <a:br/>
            <a:r>
              <a:t>sits behind the problem?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Order-related exposure behind the KPI gap. Higher-volume problems generally create higher Impact.</a:t>
            </a:r>
            <a:br/>
            <a:br/>
            <a:r>
              <a:t>Not euros. Not guaranteed recovered orders. Not a financial forecast.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55864" y="1389888"/>
            <a:ext cx="3529584" cy="2999232"/>
          </a:xfrm>
          <a:prstGeom prst="roundRect">
            <a:avLst>
              <a:gd name="adj" fmla="val 9000"/>
            </a:avLst>
          </a:prstGeom>
          <a:solidFill>
            <a:srgbClr val="FFFBED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456" y="1537028"/>
            <a:ext cx="429768" cy="42809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750808" y="1618488"/>
            <a:ext cx="2670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00A082"/>
                </a:solidFill>
                <a:latin typeface="Montserrat"/>
              </a:defRPr>
            </a:pPr>
            <a:r>
              <a:t>PRIORITY — 0–100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2084831"/>
            <a:ext cx="3163824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232323"/>
                </a:solidFill>
                <a:latin typeface="Montserrat"/>
              </a:defRPr>
            </a:pPr>
            <a:r>
              <a:t>Where should we act first?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734056"/>
            <a:ext cx="3163824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Metric Priority =</a:t>
            </a:r>
            <a:br/>
            <a:r>
              <a:t>KPI Severity × KPI Impact / 100</a:t>
            </a:r>
            <a:br/>
            <a:br/>
            <a:r>
              <a:t>Store Priority combines eligible KPI-level priorities, with dominant-KPI protection so one major issue cannot be diluted.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544568"/>
            <a:ext cx="5440680" cy="96012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681728"/>
            <a:ext cx="505663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00A082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038344"/>
            <a:ext cx="505663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232323"/>
                </a:solidFill>
                <a:latin typeface="Montserrat"/>
              </a:defRPr>
            </a:pPr>
            <a:r>
              <a:t>The KPI with the strongest paired business case for action at that store.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27064" y="4544568"/>
            <a:ext cx="5486400" cy="960120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9944" y="4681728"/>
            <a:ext cx="510235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BASE ACTION RULE · Priority ≥ 5.0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9944" y="5038344"/>
            <a:ext cx="510235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50" b="0">
                <a:solidFill>
                  <a:srgbClr val="232323"/>
                </a:solidFill>
                <a:latin typeface="Montserrat"/>
              </a:defRPr>
            </a:pPr>
            <a:r>
              <a:t>The 5.0 threshold remains provisional. V2.1 overrides can classify lower-score stores ACTION.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650992"/>
            <a:ext cx="110642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50" b="0">
                <a:solidFill>
                  <a:srgbClr val="6E6E6E"/>
                </a:solidFill>
                <a:latin typeface="Montserrat"/>
              </a:defRPr>
            </a:pPr>
            <a:r>
              <a:t>Priority ranks stores. Separate V2.1 triage assigns ACTION / MONITOR / HEALTHY / UNCLASSIFIED (six ACTION stores shown by default).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Missing evidence → incomplete assessment, not zero. Critical observations are reviewed separately from business Priority.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5352" y="5971032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Uptime: 95% target; restoration exposure uses healthy history where available.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Exposure components may overlap; headline exposure uses the largest. An opportunity signal, not a recovery promise.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6327648"/>
            <a:ext cx="5404104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6E6E6E"/>
                </a:solidFill>
                <a:latin typeface="Montserrat"/>
              </a:defRPr>
            </a:pPr>
            <a:r>
              <a:t>Benchmark: 2026-08. SBU peer composition is not available.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Confirm actions, responsibilities and the next review date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232323"/>
                </a:solidFill>
                <a:latin typeface="Montserrat"/>
              </a:defRPr>
            </a:pPr>
            <a:r>
              <a:t>Which interventions should we start first?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D63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Thank You decorative visual" descr="Thank_You.png"/>
          <p:cNvPicPr>
            <a:picLocks noChangeAspect="1"/>
          </p:cNvPicPr>
          <p:nvPr/>
        </p:nvPicPr>
        <p:blipFill>
          <a:blip r:embed="rId3">
            <a:duotone>
              <a:srgbClr val="FFFFFF"/>
              <a:srgbClr val="FFFFFF"/>
            </a:duotone>
            <a:alphaModFix amt="26000"/>
          </a:blip>
          <a:stretch>
            <a:fillRect/>
          </a:stretch>
        </p:blipFill>
        <p:spPr>
          <a:xfrm>
            <a:off x="1904695" y="0"/>
            <a:ext cx="10287000" cy="6858000"/>
          </a:xfrm>
          <a:prstGeom prst="rect">
            <a:avLst/>
          </a:prstGeom>
        </p:spPr>
      </p:pic>
      <p:sp>
        <p:nvSpPr>
          <p:cNvPr id="3" name="Closing main heading"/>
          <p:cNvSpPr txBox="1"/>
          <p:nvPr/>
        </p:nvSpPr>
        <p:spPr>
          <a:xfrm>
            <a:off x="1325880" y="2295144"/>
            <a:ext cx="685800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5000" b="1">
                <a:solidFill>
                  <a:srgbClr val="00A082"/>
                </a:solidFill>
                <a:latin typeface="Montserrat"/>
              </a:defRPr>
            </a:pPr>
            <a:r>
              <a:t>Thank You</a:t>
            </a:r>
          </a:p>
        </p:txBody>
      </p:sp>
      <p:sp>
        <p:nvSpPr>
          <p:cNvPr id="4" name="Closing second heading"/>
          <p:cNvSpPr txBox="1"/>
          <p:nvPr/>
        </p:nvSpPr>
        <p:spPr>
          <a:xfrm>
            <a:off x="1325880" y="3099816"/>
            <a:ext cx="6858000" cy="5943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3000" b="0">
                <a:solidFill>
                  <a:srgbClr val="232323"/>
                </a:solidFill>
                <a:latin typeface="Montserrat"/>
              </a:defRPr>
            </a:pPr>
            <a:r>
              <a:t>For Your Partnership</a:t>
            </a:r>
          </a:p>
        </p:txBody>
      </p:sp>
      <p:sp>
        <p:nvSpPr>
          <p:cNvPr id="5" name="Closing message"/>
          <p:cNvSpPr txBox="1"/>
          <p:nvPr/>
        </p:nvSpPr>
        <p:spPr>
          <a:xfrm>
            <a:off x="1325880" y="4306824"/>
            <a:ext cx="71323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defRPr sz="2000" b="0">
                <a:solidFill>
                  <a:srgbClr val="232323"/>
                </a:solidFill>
                <a:latin typeface="Montserrat"/>
              </a:defRPr>
            </a:pPr>
            <a:r>
              <a:t>Let’s Turn The Agreed Actions</a:t>
            </a:r>
            <a:br/>
            <a:r>
              <a:t>Into Measurable Progress</a:t>
            </a:r>
          </a:p>
        </p:txBody>
      </p:sp>
      <p:sp>
        <p:nvSpPr>
          <p:cNvPr id="6" name="Closing period pill"/>
          <p:cNvSpPr/>
          <p:nvPr/>
        </p:nvSpPr>
        <p:spPr>
          <a:xfrm>
            <a:off x="1325880" y="5724144"/>
            <a:ext cx="1901952" cy="402336"/>
          </a:xfrm>
          <a:prstGeom prst="roundRect">
            <a:avLst>
              <a:gd name="adj" fmla="val 50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losing reporting period"/>
          <p:cNvSpPr txBox="1"/>
          <p:nvPr/>
        </p:nvSpPr>
        <p:spPr>
          <a:xfrm>
            <a:off x="1371600" y="5751576"/>
            <a:ext cx="1810512" cy="3200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defRPr sz="1700" b="0">
                <a:solidFill>
                  <a:srgbClr val="FFFFFF"/>
                </a:solidFill>
                <a:latin typeface="Montserrat"/>
              </a:defRPr>
            </a:pPr>
            <a:r>
              <a:t>August 2026</a:t>
            </a:r>
          </a:p>
        </p:txBody>
      </p:sp>
      <p:pic>
        <p:nvPicPr>
          <p:cNvPr id="8" name="Bookend Glovo logo" descr="image.png"/>
          <p:cNvPicPr>
            <a:picLocks noChangeAspect="1"/>
          </p:cNvPicPr>
          <p:nvPr/>
        </p:nvPicPr>
        <p:blipFill>
          <a:blip r:embed="rId4">
            <a:clrChange useA="1">
              <a:clrFrom>
                <a:srgbClr val="F1CC37"/>
              </a:clrFrom>
              <a:clrTo>
                <a:srgbClr val="FFFFFF"/>
              </a:clrTo>
            </a:clrChange>
          </a:blip>
          <a:stretch>
            <a:fillRect/>
          </a:stretch>
        </p:blipFill>
        <p:spPr>
          <a:xfrm>
            <a:off x="8193024" y="1078992"/>
            <a:ext cx="1828800" cy="59984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APPENDIX — 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1 store · Reference section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800" b="1">
                <a:solidFill>
                  <a:srgbClr val="00A082"/>
                </a:solidFill>
                <a:latin typeface="Montserrat"/>
              </a:defRPr>
            </a:pPr>
            <a:r>
              <a:t>Store-level context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800" b="0">
                <a:solidFill>
                  <a:srgbClr val="232323"/>
                </a:solidFill>
                <a:latin typeface="Montserrat"/>
              </a:defRPr>
            </a:pPr>
            <a:r>
              <a:t>Lifecycle, KPI evidence and recommendations for each store.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74320"/>
            <a:ext cx="7315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Store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493776"/>
            <a:ext cx="10927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70 Vazha Pshavela Ave, Tbilisi 0186 0101 Tbilisi T'bilisi Georgia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923544"/>
            <a:ext cx="5577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August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07008"/>
            <a:ext cx="120700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239012"/>
            <a:ext cx="106070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ACTIVE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92808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65960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DATA OK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207008"/>
            <a:ext cx="1481328" cy="22860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239012"/>
            <a:ext cx="133502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232323"/>
                </a:solidFill>
                <a:latin typeface="Montserrat"/>
              </a:defRPr>
            </a:pPr>
            <a:r>
              <a:t>COMPLETE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GMV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€220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07808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DELIVERED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7696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SESSIONS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7696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118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87584" y="978408"/>
            <a:ext cx="12801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0">
                <a:solidFill>
                  <a:srgbClr val="6E6E6E"/>
                </a:solidFill>
                <a:latin typeface="Montserrat"/>
              </a:defRPr>
            </a:pPr>
            <a:r>
              <a:t>ATTEMPTS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87584" y="1197864"/>
            <a:ext cx="12984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232323"/>
                </a:solidFill>
                <a:latin typeface="Montserrat"/>
              </a:defRPr>
            </a:pPr>
            <a:r>
              <a:t>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CVR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4.2%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2.2%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2376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SBU · +2.0 pp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65960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965960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498661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374136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PNA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2152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12.1%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2152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-12.1 pp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45736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5810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53912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81928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Cancels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81928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0.0%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81928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SBU 11.0%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81928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Below SBU · -11.0 pp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525512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537883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933688" y="1609344"/>
            <a:ext cx="2688336" cy="122529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1700784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6E6E6E"/>
                </a:solidFill>
                <a:latin typeface="Montserrat"/>
              </a:defRPr>
            </a:pPr>
            <a:r>
              <a:t>Uptime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61704" y="1929384"/>
            <a:ext cx="242316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ontserrat"/>
              </a:defRPr>
            </a:pPr>
            <a:r>
              <a:t>98.9%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1704" y="2295144"/>
            <a:ext cx="243230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Target 95.0%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61704" y="2505456"/>
            <a:ext cx="2432304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232323"/>
                </a:solidFill>
                <a:latin typeface="Montserrat"/>
              </a:defRPr>
            </a:pPr>
            <a:r>
              <a:t>Above Target · +3.9 pp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305288" y="2345436"/>
            <a:ext cx="1133856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10305288" y="2345436"/>
            <a:ext cx="1012371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277837" y="2322576"/>
            <a:ext cx="16459" cy="9144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943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132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Severity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132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2194560" y="2962656"/>
            <a:ext cx="1508760" cy="822960"/>
          </a:xfrm>
          <a:prstGeom prst="roundRect">
            <a:avLst>
              <a:gd name="adj" fmla="val 9000"/>
            </a:avLst>
          </a:prstGeom>
          <a:solidFill>
            <a:srgbClr val="F5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313432" y="3054096"/>
            <a:ext cx="12710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Impact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313432" y="3273552"/>
            <a:ext cx="1271016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794760" y="2962656"/>
            <a:ext cx="2148840" cy="822960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913632" y="3054096"/>
            <a:ext cx="1911095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232323"/>
                </a:solidFill>
                <a:latin typeface="Montserrat"/>
              </a:defRPr>
            </a:pPr>
            <a:r>
              <a:t>Priority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913632" y="3273552"/>
            <a:ext cx="1911095" cy="2834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500" b="1">
                <a:solidFill>
                  <a:srgbClr val="232323"/>
                </a:solidFill>
                <a:latin typeface="Montserrat"/>
              </a:defRPr>
            </a:pPr>
            <a:r>
              <a:t>0.00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913632" y="3639312"/>
            <a:ext cx="1911095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750" b="1">
                <a:solidFill>
                  <a:srgbClr val="232323"/>
                </a:solidFill>
                <a:latin typeface="Montserrat"/>
              </a:defRPr>
            </a:pPr>
            <a:r>
              <a:t>PRIORITY &lt; 5.0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45352" y="299008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Primary Action KPI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299008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45352" y="326440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Worst KPI / Severity Driver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26440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None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245352" y="3538728"/>
            <a:ext cx="29260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Largest Exposure KPI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538728"/>
            <a:ext cx="25420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No assessed exposure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94360" y="3913632"/>
            <a:ext cx="5349240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4023360"/>
            <a:ext cx="5029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Confidence / evidence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4361688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CVR 44% · n=118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867912" y="4453127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3867912" y="4453127"/>
            <a:ext cx="82937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31520" y="4626864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PNA 14% · n=5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3867912" y="4718303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3867912" y="4718303"/>
            <a:ext cx="269094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31520" y="4892040"/>
            <a:ext cx="2926080" cy="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Cancels 33% · n=5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3867912" y="4983479"/>
            <a:ext cx="1883664" cy="50292"/>
          </a:xfrm>
          <a:prstGeom prst="roundRect">
            <a:avLst>
              <a:gd name="adj" fmla="val 9000"/>
            </a:avLst>
          </a:prstGeom>
          <a:solidFill>
            <a:srgbClr val="DCE3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3867912" y="4983479"/>
            <a:ext cx="627888" cy="50292"/>
          </a:xfrm>
          <a:prstGeom prst="roundRect">
            <a:avLst>
              <a:gd name="adj" fmla="val 9000"/>
            </a:avLst>
          </a:prstGeom>
          <a:solidFill>
            <a:srgbClr val="00A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108192" y="3913632"/>
            <a:ext cx="5568696" cy="13258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6254496" y="4023360"/>
            <a:ext cx="5120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Main KPI trend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254496" y="448056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6E6E6E"/>
                </a:solidFill>
                <a:latin typeface="Montserrat"/>
              </a:defRPr>
            </a:pPr>
            <a:r>
              <a:t>Trend unavailable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85800" y="5358384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6E6E6E"/>
                </a:solidFill>
                <a:latin typeface="Montserrat"/>
              </a:defRPr>
            </a:pPr>
            <a:r>
              <a:t>Assessment evidence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5800" y="5586984"/>
            <a:ext cx="108813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50" b="0">
                <a:solidFill>
                  <a:srgbClr val="232323"/>
                </a:solidFill>
                <a:latin typeface="Montserrat"/>
              </a:defRPr>
            </a:pPr>
            <a:r>
              <a:t>Current sessions or order activity · Critical observations: None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594360" y="5925312"/>
            <a:ext cx="11082528" cy="749808"/>
          </a:xfrm>
          <a:prstGeom prst="roundRect">
            <a:avLst>
              <a:gd name="adj" fmla="val 9000"/>
            </a:avLst>
          </a:prstGeom>
          <a:solidFill>
            <a:srgbClr val="E9F7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31520" y="6007608"/>
            <a:ext cx="10698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6E6E6E"/>
                </a:solidFill>
                <a:latin typeface="Montserrat"/>
              </a:defRPr>
            </a:pPr>
            <a:r>
              <a:t>Likely operational driver: No supported primary issue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31520" y="6208776"/>
            <a:ext cx="10698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Continue routine monitoring of performance and evidence</a:t>
            </a:r>
          </a:p>
        </p:txBody>
      </p:sp>
      <p:sp>
        <p:nvSpPr>
          <p:cNvPr id="84" name="Rectangle 8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94360" y="1458468"/>
            <a:ext cx="11064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80" b="1">
                <a:solidFill>
                  <a:srgbClr val="00A082"/>
                </a:solidFill>
                <a:latin typeface="Montserrat"/>
              </a:defRPr>
            </a:pPr>
            <a:r>
              <a:t>Business: HEALTHY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Priority Opportunities &amp;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2026-08 · V2.1 business triage · Priority ranking remains unchanged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68512" y="1417320"/>
            <a:ext cx="2916936" cy="4901184"/>
          </a:xfrm>
          <a:prstGeom prst="roundRect">
            <a:avLst>
              <a:gd name="adj" fmla="val 9000"/>
            </a:avLst>
          </a:prstGeom>
          <a:solidFill>
            <a:srgbClr val="FFF5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2648" y="1417320"/>
            <a:ext cx="7818120" cy="490118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8890">
            <a:solidFill>
              <a:srgbClr val="DCE3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48840"/>
            <a:ext cx="70866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232323"/>
                </a:solidFill>
                <a:latin typeface="Montserrat"/>
              </a:defRPr>
            </a:pPr>
            <a:r>
              <a:t>No stores classified ACTION</a:t>
            </a:r>
            <a:br/>
            <a:r>
              <a:t>under the current V2.1 rules.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3657600"/>
            <a:ext cx="7086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600" b="0">
                <a:solidFill>
                  <a:srgbClr val="6E6E6E"/>
                </a:solidFill>
                <a:latin typeface="Montserrat"/>
              </a:defRPr>
            </a:pPr>
            <a:r>
              <a:t>MONITOR, HEALTHY and UNCLASSIFIED remain separate.</a:t>
            </a:r>
            <a:br/>
            <a:r>
              <a:t>Review operational/data observations and Appendix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06256" y="1865376"/>
            <a:ext cx="2423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232323"/>
                </a:solidFill>
                <a:latin typeface="Montserrat"/>
              </a:defRPr>
            </a:pPr>
            <a:r>
              <a:t>Next review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06256" y="2231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62288" y="2231136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Confirm priority stores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06256" y="249631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62288" y="2496312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Assign owner / deadline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06256" y="276148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62288" y="2761488"/>
            <a:ext cx="219456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232323"/>
                </a:solidFill>
                <a:latin typeface="Montserrat"/>
              </a:defRPr>
            </a:pPr>
            <a:r>
              <a:t>Track progress next review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Operational &amp; Data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 and hygiene remain visible independently of business Priority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10991088" cy="493776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view summary items to review"/>
          <p:cNvSpPr txBox="1"/>
          <p:nvPr/>
        </p:nvSpPr>
        <p:spPr>
          <a:xfrm>
            <a:off x="795528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7" name="Review summary items to review icon" descr="icon_data_qua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750" y="1496872"/>
            <a:ext cx="310896" cy="310896"/>
          </a:xfrm>
          <a:prstGeom prst="rect">
            <a:avLst/>
          </a:prstGeom>
        </p:spPr>
      </p:pic>
      <p:sp>
        <p:nvSpPr>
          <p:cNvPr id="8" name="Review summary label"/>
          <p:cNvSpPr txBox="1"/>
          <p:nvPr/>
        </p:nvSpPr>
        <p:spPr>
          <a:xfrm>
            <a:off x="1387510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items to review</a:t>
            </a:r>
          </a:p>
        </p:txBody>
      </p:sp>
      <p:sp>
        <p:nvSpPr>
          <p:cNvPr id="9" name="Review summary stores affected"/>
          <p:cNvSpPr txBox="1"/>
          <p:nvPr/>
        </p:nvSpPr>
        <p:spPr>
          <a:xfrm>
            <a:off x="4462272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0" name="Review summary stores affected icon" descr="icon_store_re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2268" y="1496872"/>
            <a:ext cx="310896" cy="310896"/>
          </a:xfrm>
          <a:prstGeom prst="rect">
            <a:avLst/>
          </a:prstGeom>
        </p:spPr>
      </p:pic>
      <p:sp>
        <p:nvSpPr>
          <p:cNvPr id="11" name="Review summary label"/>
          <p:cNvSpPr txBox="1"/>
          <p:nvPr/>
        </p:nvSpPr>
        <p:spPr>
          <a:xfrm>
            <a:off x="507802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stores affected</a:t>
            </a:r>
          </a:p>
        </p:txBody>
      </p:sp>
      <p:sp>
        <p:nvSpPr>
          <p:cNvPr id="12" name="Review summary critical observations"/>
          <p:cNvSpPr txBox="1"/>
          <p:nvPr/>
        </p:nvSpPr>
        <p:spPr>
          <a:xfrm>
            <a:off x="8129016" y="1517904"/>
            <a:ext cx="502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700" b="1">
                <a:solidFill>
                  <a:srgbClr val="232323"/>
                </a:solidFill>
                <a:latin typeface="Montserrat"/>
              </a:defRPr>
            </a:pPr>
            <a:r>
              <a:t>0</a:t>
            </a:r>
          </a:p>
        </p:txBody>
      </p:sp>
      <p:pic>
        <p:nvPicPr>
          <p:cNvPr id="13" name="Review summary critical observations icon" descr="icon_critical_observ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5238" y="1496872"/>
            <a:ext cx="310896" cy="310896"/>
          </a:xfrm>
          <a:prstGeom prst="rect">
            <a:avLst/>
          </a:prstGeom>
        </p:spPr>
      </p:pic>
      <p:sp>
        <p:nvSpPr>
          <p:cNvPr id="14" name="Review summary label"/>
          <p:cNvSpPr txBox="1"/>
          <p:nvPr/>
        </p:nvSpPr>
        <p:spPr>
          <a:xfrm>
            <a:off x="8720998" y="1581912"/>
            <a:ext cx="2386584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critical observations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194560"/>
            <a:ext cx="10991088" cy="150876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view empty state"/>
          <p:cNvSpPr txBox="1"/>
          <p:nvPr/>
        </p:nvSpPr>
        <p:spPr>
          <a:xfrm>
            <a:off x="868680" y="2560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800" b="1">
                <a:solidFill>
                  <a:srgbClr val="232323"/>
                </a:solidFill>
                <a:latin typeface="Montserrat"/>
              </a:defRPr>
            </a:pPr>
            <a:r>
              <a:t>No operational or data review items</a:t>
            </a:r>
          </a:p>
        </p:txBody>
      </p:sp>
      <p:sp>
        <p:nvSpPr>
          <p:cNvPr id="17" name="Review empty note"/>
          <p:cNvSpPr txBox="1"/>
          <p:nvPr/>
        </p:nvSpPr>
        <p:spPr>
          <a:xfrm>
            <a:off x="868680" y="3108960"/>
            <a:ext cx="10424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No items in this list. See the separate review and diagnostic sections.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000" b="1">
                <a:solidFill>
                  <a:srgbClr val="232323"/>
                </a:solidFill>
                <a:latin typeface="Montserrat"/>
              </a:defRPr>
            </a:pPr>
            <a:r>
              <a:t>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2648" y="822960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E6E6E"/>
                </a:solidFill>
                <a:latin typeface="Montserrat"/>
              </a:defRPr>
            </a:pPr>
            <a:r>
              <a:t>Additional agreed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39128"/>
            <a:ext cx="12191695" cy="118872"/>
          </a:xfrm>
          <a:prstGeom prst="rect">
            <a:avLst/>
          </a:prstGeom>
          <a:solidFill>
            <a:srgbClr val="F2CC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dditional action 1"/>
          <p:cNvSpPr txBox="1"/>
          <p:nvPr/>
        </p:nvSpPr>
        <p:spPr>
          <a:xfrm>
            <a:off x="77724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1</a:t>
            </a:r>
          </a:p>
        </p:txBody>
      </p:sp>
      <p:sp>
        <p:nvSpPr>
          <p:cNvPr id="7" name="Additional action 1Action / Topic label"/>
          <p:cNvSpPr txBox="1"/>
          <p:nvPr/>
        </p:nvSpPr>
        <p:spPr>
          <a:xfrm>
            <a:off x="77724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dditional action 1Action / Topic"/>
          <p:cNvSpPr txBox="1"/>
          <p:nvPr/>
        </p:nvSpPr>
        <p:spPr>
          <a:xfrm>
            <a:off x="85039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10" name="Additional action 1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7248"/>
            <a:ext cx="246888" cy="246888"/>
          </a:xfrm>
          <a:prstGeom prst="rect">
            <a:avLst/>
          </a:prstGeom>
        </p:spPr>
      </p:pic>
      <p:sp>
        <p:nvSpPr>
          <p:cNvPr id="11" name="Additional action 1Agreed Action label"/>
          <p:cNvSpPr txBox="1"/>
          <p:nvPr/>
        </p:nvSpPr>
        <p:spPr>
          <a:xfrm>
            <a:off x="108813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Additional action 1Agreed Action"/>
          <p:cNvSpPr txBox="1"/>
          <p:nvPr/>
        </p:nvSpPr>
        <p:spPr>
          <a:xfrm>
            <a:off x="85039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4" name="Additional action 1Owner label"/>
          <p:cNvSpPr txBox="1"/>
          <p:nvPr/>
        </p:nvSpPr>
        <p:spPr>
          <a:xfrm>
            <a:off x="77724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15" name="Additional action 1Owner"/>
          <p:cNvSpPr txBox="1"/>
          <p:nvPr/>
        </p:nvSpPr>
        <p:spPr>
          <a:xfrm>
            <a:off x="77724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6" name="Additional action 1Contact label"/>
          <p:cNvSpPr txBox="1"/>
          <p:nvPr/>
        </p:nvSpPr>
        <p:spPr>
          <a:xfrm>
            <a:off x="346100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17" name="Additional action 1Contact"/>
          <p:cNvSpPr txBox="1"/>
          <p:nvPr/>
        </p:nvSpPr>
        <p:spPr>
          <a:xfrm>
            <a:off x="346100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18" name="Additional action 1ETA label"/>
          <p:cNvSpPr txBox="1"/>
          <p:nvPr/>
        </p:nvSpPr>
        <p:spPr>
          <a:xfrm>
            <a:off x="77724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19" name="Additional action 1ETA"/>
          <p:cNvSpPr txBox="1"/>
          <p:nvPr/>
        </p:nvSpPr>
        <p:spPr>
          <a:xfrm>
            <a:off x="77724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0" name="Additional action 1Follow-up KPI label"/>
          <p:cNvSpPr txBox="1"/>
          <p:nvPr/>
        </p:nvSpPr>
        <p:spPr>
          <a:xfrm>
            <a:off x="346100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21" name="Additional action 1Follow-up KPI"/>
          <p:cNvSpPr txBox="1"/>
          <p:nvPr/>
        </p:nvSpPr>
        <p:spPr>
          <a:xfrm>
            <a:off x="346100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463040"/>
            <a:ext cx="5367528" cy="4443984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 w="6350">
            <a:solidFill>
              <a:srgbClr val="DCDC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Additional action 2"/>
          <p:cNvSpPr txBox="1"/>
          <p:nvPr/>
        </p:nvSpPr>
        <p:spPr>
          <a:xfrm>
            <a:off x="6400800" y="1627632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00A082"/>
                </a:solidFill>
                <a:latin typeface="Montserrat"/>
              </a:defRPr>
            </a:pPr>
            <a:r>
              <a:t>ACTION 2</a:t>
            </a:r>
          </a:p>
        </p:txBody>
      </p:sp>
      <p:sp>
        <p:nvSpPr>
          <p:cNvPr id="24" name="Additional action 2Action / Topic label"/>
          <p:cNvSpPr txBox="1"/>
          <p:nvPr/>
        </p:nvSpPr>
        <p:spPr>
          <a:xfrm>
            <a:off x="6400800" y="2103120"/>
            <a:ext cx="50017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Action / Topic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2423160"/>
            <a:ext cx="5093208" cy="64008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Additional action 2Action / Topic"/>
          <p:cNvSpPr txBox="1"/>
          <p:nvPr/>
        </p:nvSpPr>
        <p:spPr>
          <a:xfrm>
            <a:off x="6473952" y="254203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pic>
        <p:nvPicPr>
          <p:cNvPr id="27" name="Additional action 2 agreed icon" descr="icon_agreed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3127248"/>
            <a:ext cx="246888" cy="246888"/>
          </a:xfrm>
          <a:prstGeom prst="rect">
            <a:avLst/>
          </a:prstGeom>
        </p:spPr>
      </p:pic>
      <p:sp>
        <p:nvSpPr>
          <p:cNvPr id="28" name="Additional action 2Agreed Action label"/>
          <p:cNvSpPr txBox="1"/>
          <p:nvPr/>
        </p:nvSpPr>
        <p:spPr>
          <a:xfrm>
            <a:off x="6711696" y="3154680"/>
            <a:ext cx="46908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1">
                <a:solidFill>
                  <a:srgbClr val="232323"/>
                </a:solidFill>
                <a:latin typeface="Montserrat"/>
              </a:defRPr>
            </a:pPr>
            <a:r>
              <a:t>Agreed Action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474720"/>
            <a:ext cx="5093208" cy="914400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dditional action 2Agreed Action"/>
          <p:cNvSpPr txBox="1"/>
          <p:nvPr/>
        </p:nvSpPr>
        <p:spPr>
          <a:xfrm>
            <a:off x="6473952" y="3593592"/>
            <a:ext cx="4855464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2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1" name="Additional action 2Owner label"/>
          <p:cNvSpPr txBox="1"/>
          <p:nvPr/>
        </p:nvSpPr>
        <p:spPr>
          <a:xfrm>
            <a:off x="6400800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Owner</a:t>
            </a:r>
          </a:p>
        </p:txBody>
      </p:sp>
      <p:sp>
        <p:nvSpPr>
          <p:cNvPr id="32" name="Additional action 2Owner"/>
          <p:cNvSpPr txBox="1"/>
          <p:nvPr/>
        </p:nvSpPr>
        <p:spPr>
          <a:xfrm>
            <a:off x="6400800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3" name="Additional action 2Contact label"/>
          <p:cNvSpPr txBox="1"/>
          <p:nvPr/>
        </p:nvSpPr>
        <p:spPr>
          <a:xfrm>
            <a:off x="9084564" y="478231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Contact</a:t>
            </a:r>
          </a:p>
        </p:txBody>
      </p:sp>
      <p:sp>
        <p:nvSpPr>
          <p:cNvPr id="34" name="Additional action 2Contact"/>
          <p:cNvSpPr txBox="1"/>
          <p:nvPr/>
        </p:nvSpPr>
        <p:spPr>
          <a:xfrm>
            <a:off x="9084564" y="5001768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5" name="Additional action 2ETA label"/>
          <p:cNvSpPr txBox="1"/>
          <p:nvPr/>
        </p:nvSpPr>
        <p:spPr>
          <a:xfrm>
            <a:off x="6400800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ETA</a:t>
            </a:r>
          </a:p>
        </p:txBody>
      </p:sp>
      <p:sp>
        <p:nvSpPr>
          <p:cNvPr id="36" name="Additional action 2ETA"/>
          <p:cNvSpPr txBox="1"/>
          <p:nvPr/>
        </p:nvSpPr>
        <p:spPr>
          <a:xfrm>
            <a:off x="6400800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7" name="Additional action 2Follow-up KPI label"/>
          <p:cNvSpPr txBox="1"/>
          <p:nvPr/>
        </p:nvSpPr>
        <p:spPr>
          <a:xfrm>
            <a:off x="9084564" y="5303520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900" b="0">
                <a:solidFill>
                  <a:srgbClr val="6E6E6E"/>
                </a:solidFill>
                <a:latin typeface="Montserrat"/>
              </a:defRPr>
            </a:pPr>
            <a:r>
              <a:t>Follow-up KPI</a:t>
            </a:r>
          </a:p>
        </p:txBody>
      </p:sp>
      <p:sp>
        <p:nvSpPr>
          <p:cNvPr id="38" name="Additional action 2Follow-up KPI"/>
          <p:cNvSpPr txBox="1"/>
          <p:nvPr/>
        </p:nvSpPr>
        <p:spPr>
          <a:xfrm>
            <a:off x="9084564" y="5522976"/>
            <a:ext cx="21945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232323"/>
                </a:solidFill>
                <a:latin typeface="Montserrat"/>
              </a:defRPr>
            </a:pPr>
            <a:r>
              <a:t>[To agree]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4360" y="6144768"/>
            <a:ext cx="10991088" cy="393192"/>
          </a:xfrm>
          <a:prstGeom prst="roundRect">
            <a:avLst>
              <a:gd name="adj" fmla="val 8000"/>
            </a:avLst>
          </a:prstGeom>
          <a:solidFill>
            <a:srgbClr val="FFF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Next check-in icon" descr="icon_next_check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6217920"/>
            <a:ext cx="256032" cy="256032"/>
          </a:xfrm>
          <a:prstGeom prst="rect">
            <a:avLst/>
          </a:prstGeom>
        </p:spPr>
      </p:pic>
      <p:sp>
        <p:nvSpPr>
          <p:cNvPr id="41" name="Next check-in label"/>
          <p:cNvSpPr txBox="1"/>
          <p:nvPr/>
        </p:nvSpPr>
        <p:spPr>
          <a:xfrm>
            <a:off x="1097280" y="6245352"/>
            <a:ext cx="112471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000" b="1">
                <a:solidFill>
                  <a:srgbClr val="232323"/>
                </a:solidFill>
                <a:latin typeface="Montserrat"/>
              </a:defRPr>
            </a:pPr>
            <a:r>
              <a:t>Next check-in:</a:t>
            </a:r>
          </a:p>
        </p:txBody>
      </p:sp>
      <p:sp>
        <p:nvSpPr>
          <p:cNvPr id="42" name="Next check-in"/>
          <p:cNvSpPr txBox="1"/>
          <p:nvPr/>
        </p:nvSpPr>
        <p:spPr>
          <a:xfrm>
            <a:off x="2267712" y="6236208"/>
            <a:ext cx="89611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  <a:defRPr sz="1100" b="0">
                <a:solidFill>
                  <a:srgbClr val="6E6E6E"/>
                </a:solidFill>
                <a:latin typeface="Montserrat"/>
              </a:defRPr>
            </a:pPr>
            <a:r>
              <a:t>[To agree]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პეტფუდი — შინაური ცხოველების კვებისა და ვეტერინარული მომსახურების ცენტრი Business Review</dc:title>
  <dc:subject>პეტფუდი — შინაური ცხოველების კვებისა და ვეტერინარული მომსახურების ცენტრი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cp:version>V9_Beta2</cp:version>
</cp:coreProperties>
</file>
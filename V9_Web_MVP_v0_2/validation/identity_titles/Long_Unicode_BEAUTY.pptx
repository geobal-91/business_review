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80" r:id="rId22"/>
    <p:sldId id="260" r:id="rId11"/>
    <p:sldId id="281" r:id="rId21"/>
    <p:sldId id="261" r:id="rId12"/>
    <p:sldId id="282" r:id="rId20"/>
    <p:sldId id="266" r:id="rId17"/>
    <p:sldId id="268" r:id="rId19"/>
    <p:sldId id="277" r:id="rId29"/>
    <p:sldId id="278" r:id="rId30"/>
    <p:sldId id="279" r:id="rId31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19" Type="http://schemas.openxmlformats.org/officeDocument/2006/relationships/slide" Target="slides/slide13.xml"/><Relationship Id="rId20" Type="http://schemas.openxmlformats.org/officeDocument/2006/relationships/slide" Target="slides/slide24.xml"/><Relationship Id="rId21" Type="http://schemas.openxmlformats.org/officeDocument/2006/relationships/slide" Target="slides/slide23.xml"/><Relationship Id="rId22" Type="http://schemas.openxmlformats.org/officeDocument/2006/relationships/slide" Target="slides/slide22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29" Type="http://schemas.openxmlformats.org/officeDocument/2006/relationships/slide" Target="slides/slide14.xml"/><Relationship Id="rId30" Type="http://schemas.openxmlformats.org/officeDocument/2006/relationships/slide" Target="slides/slide15.xml"/><Relationship Id="rId31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€#,##0.00</c:formatCode>
                <c:ptCount val="2"/>
                <c:pt idx="0">
                  <c:v>44.099219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€#,##0.00</c:formatCode>
                <c:ptCount val="2"/>
                <c:pt idx="1">
                  <c:v>26.100495113038185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7.3289847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0.0423728813559322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0.09307372858365158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12099584715874706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0.9888982390525167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0.7680575183901777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2855677107682717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0.1242603550295858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16153846153846155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0.05215866754328293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6780626780626782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  <c:pt idx="0">
                  <c:v>7.597084402171946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0.09501828013851421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.8762097228235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  <c:pt idx="0">
                  <c:v>4.0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0.0556379821958457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.8762097228235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  <c:pt idx="0">
                  <c:v>0.7194168804343892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0.03730473761540187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.8762097228235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GMV (€)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cat>
            <c:strRef>
              <c:f>Sheet1!$A$2:$A$13</c:f>
              <c:strCache>
                <c:ptCount val="12"/>
                <c:pt idx="0">
                  <c:v>Sep 25</c:v>
                </c:pt>
                <c:pt idx="1">
                  <c:v>Oct 25</c:v>
                </c:pt>
                <c:pt idx="2">
                  <c:v>Nov 25</c:v>
                </c:pt>
                <c:pt idx="3">
                  <c:v>Dec 25</c:v>
                </c:pt>
                <c:pt idx="4">
                  <c:v>Jan 26</c:v>
                </c:pt>
                <c:pt idx="5">
                  <c:v>Feb 26</c:v>
                </c:pt>
                <c:pt idx="6">
                  <c:v>Mar 26</c:v>
                </c:pt>
                <c:pt idx="7">
                  <c:v>Apr 26</c:v>
                </c:pt>
                <c:pt idx="8">
                  <c:v>May 26</c:v>
                </c:pt>
                <c:pt idx="9">
                  <c:v>Jun 26</c:v>
                </c:pt>
                <c:pt idx="10">
                  <c:v>Jul 26</c:v>
                </c:pt>
                <c:pt idx="11">
                  <c:v>Aug 26</c:v>
                </c:pt>
              </c:strCache>
            </c:strRef>
          </c:cat>
          <c:val>
            <c:numRef>
              <c:f>Sheet1!$B$2:$B$13</c:f>
              <c:numCache>
                <c:formatCode>#,##0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37.340784</c:v>
                </c:pt>
                <c:pt idx="3">
                  <c:v>564.259904</c:v>
                </c:pt>
                <c:pt idx="4">
                  <c:v>670.041195</c:v>
                </c:pt>
                <c:pt idx="5">
                  <c:v>211.47172999999998</c:v>
                </c:pt>
                <c:pt idx="6">
                  <c:v>0.0</c:v>
                </c:pt>
                <c:pt idx="7">
                  <c:v>174.22885</c:v>
                </c:pt>
                <c:pt idx="8">
                  <c:v>0.0</c:v>
                </c:pt>
                <c:pt idx="9">
                  <c:v>0.0</c:v>
                </c:pt>
                <c:pt idx="10">
                  <c:v>25.647776</c:v>
                </c:pt>
                <c:pt idx="11">
                  <c:v>220.496095</c:v>
                </c:pt>
              </c:numCache>
            </c:numRef>
          </c:val>
        </c:ser>
        <c:gapWidth val="85"/>
        <c:axId val="-2068027336"/>
        <c:axId val="-2113994440"/>
      </c:barChart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Orders</c:v>
                </c:pt>
              </c:strCache>
            </c:strRef>
          </c:tx>
          <c:spPr>
            <a:ln w="31750">
              <a:solidFill>
                <a:srgbClr val="00A082"/>
              </a:solidFill>
            </a:ln>
          </c:spPr>
          <c:marker>
            <c:symbol val="circle"/>
            <c:size val="5"/>
          </c:marker>
          <c:cat>
            <c:strRef>
              <c:f>Sheet1!$A$2:$A$13</c:f>
              <c:strCache>
                <c:ptCount val="12"/>
                <c:pt idx="0">
                  <c:v>Sep 25</c:v>
                </c:pt>
                <c:pt idx="1">
                  <c:v>Oct 25</c:v>
                </c:pt>
                <c:pt idx="2">
                  <c:v>Nov 25</c:v>
                </c:pt>
                <c:pt idx="3">
                  <c:v>Dec 25</c:v>
                </c:pt>
                <c:pt idx="4">
                  <c:v>Jan 26</c:v>
                </c:pt>
                <c:pt idx="5">
                  <c:v>Feb 26</c:v>
                </c:pt>
                <c:pt idx="6">
                  <c:v>Mar 26</c:v>
                </c:pt>
                <c:pt idx="7">
                  <c:v>Apr 26</c:v>
                </c:pt>
                <c:pt idx="8">
                  <c:v>May 26</c:v>
                </c:pt>
                <c:pt idx="9">
                  <c:v>Jun 26</c:v>
                </c:pt>
                <c:pt idx="10">
                  <c:v>Jul 26</c:v>
                </c:pt>
                <c:pt idx="11">
                  <c:v>Aug 26</c:v>
                </c:pt>
              </c:strCache>
            </c:strRef>
          </c:cat>
          <c:val>
            <c:numRef>
              <c:f>Sheet1!$C$2:$C$13</c:f>
              <c:numCache>
                <c:formatCode>#,##0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2.0</c:v>
                </c:pt>
                <c:pt idx="3">
                  <c:v>7.0</c:v>
                </c:pt>
                <c:pt idx="4">
                  <c:v>4.0</c:v>
                </c:pt>
                <c:pt idx="5">
                  <c:v>4.0</c:v>
                </c:pt>
                <c:pt idx="6">
                  <c:v>0.0</c:v>
                </c:pt>
                <c:pt idx="7">
                  <c:v>3.0</c:v>
                </c:pt>
                <c:pt idx="8">
                  <c:v>0.0</c:v>
                </c:pt>
                <c:pt idx="9">
                  <c:v>0.0</c:v>
                </c:pt>
                <c:pt idx="10">
                  <c:v>1.0</c:v>
                </c:pt>
                <c:pt idx="11">
                  <c:v>5.0</c:v>
                </c:pt>
              </c:numCache>
            </c:numRef>
          </c:val>
          <c:smooth val="0"/>
        </c:ser>
        <c:marker val="1"/>
        <c:smooth val="0"/>
        <c:axId val="901001"/>
        <c:axId val="901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  <c:catAx>
        <c:axId val="901001"/>
        <c:scaling>
          <c:orientation val="minMax"/>
        </c:scaling>
        <c:delete val="1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2"/>
        <c:crosses val="max"/>
        <c:auto val="1"/>
        <c:lblAlgn val="ctr"/>
        <c:lblOffset val="100"/>
        <c:noMultiLvlLbl val="0"/>
      </c:catAx>
      <c:valAx>
        <c:axId val="901002"/>
        <c:scaling>
          <c:min val="0.0"/>
        </c:scaling>
        <c:delete val="0"/>
        <c:axPos val="r"/>
        <c:numFmt formatCode="#,##0" sourceLinked="0"/>
        <c:majorTickMark val="none"/>
        <c:minorTickMark val="none"/>
        <c:tickLblPos val="high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901001"/>
        <c:crosses val="autoZero"/>
      </c:valAx>
    </c:plotArea>
    <c:legend>
      <c:legendPos val="t"/>
      <c:overlay val="0"/>
      <c:txPr>
        <a:bodyPr/>
        <a:lstStyle/>
        <a:p>
          <a:pPr>
            <a:defRPr sz="900">
              <a:latin typeface="Montserrat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 Sessions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cat>
            <c:strRef>
              <c:f>Sheet1!$A$2:$A$13</c:f>
              <c:strCache>
                <c:ptCount val="12"/>
                <c:pt idx="0">
                  <c:v>Sep 25</c:v>
                </c:pt>
                <c:pt idx="1">
                  <c:v>Oct 25</c:v>
                </c:pt>
                <c:pt idx="2">
                  <c:v>Nov 25</c:v>
                </c:pt>
                <c:pt idx="3">
                  <c:v>Dec 25</c:v>
                </c:pt>
                <c:pt idx="4">
                  <c:v>Jan 26</c:v>
                </c:pt>
                <c:pt idx="5">
                  <c:v>Feb 26</c:v>
                </c:pt>
                <c:pt idx="6">
                  <c:v>Mar 26</c:v>
                </c:pt>
                <c:pt idx="7">
                  <c:v>Apr 26</c:v>
                </c:pt>
                <c:pt idx="8">
                  <c:v>May 26</c:v>
                </c:pt>
                <c:pt idx="9">
                  <c:v>Jun 26</c:v>
                </c:pt>
                <c:pt idx="10">
                  <c:v>Jul 26</c:v>
                </c:pt>
                <c:pt idx="11">
                  <c:v>Aug 26</c:v>
                </c:pt>
              </c:strCache>
            </c:strRef>
          </c:cat>
          <c:val>
            <c:numRef>
              <c:f>Sheet1!$B$2:$B$13</c:f>
              <c:numCache>
                <c:formatCode>#,##0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188.0</c:v>
                </c:pt>
                <c:pt idx="5">
                  <c:v>253.0</c:v>
                </c:pt>
                <c:pt idx="6">
                  <c:v>229.0</c:v>
                </c:pt>
                <c:pt idx="7">
                  <c:v>151.0</c:v>
                </c:pt>
                <c:pt idx="8">
                  <c:v>116.0</c:v>
                </c:pt>
                <c:pt idx="9">
                  <c:v>146.0</c:v>
                </c:pt>
                <c:pt idx="10">
                  <c:v>122.0</c:v>
                </c:pt>
                <c:pt idx="11">
                  <c:v>118.0</c:v>
                </c:pt>
              </c:numCache>
            </c:numRef>
          </c:val>
        </c:ser>
        <c:gapWidth val="85"/>
        <c:axId val="-2068027336"/>
        <c:axId val="-2113994440"/>
      </c:barChart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Partner CVR</c:v>
                </c:pt>
              </c:strCache>
            </c:strRef>
          </c:tx>
          <c:spPr>
            <a:ln w="31750">
              <a:solidFill>
                <a:srgbClr val="00A082"/>
              </a:solidFill>
            </a:ln>
          </c:spPr>
          <c:marker>
            <c:symbol val="circle"/>
            <c:size val="5"/>
          </c:marker>
          <c:cat>
            <c:strRef>
              <c:f>Sheet1!$A$2:$A$13</c:f>
              <c:strCache>
                <c:ptCount val="12"/>
                <c:pt idx="0">
                  <c:v>Sep 25</c:v>
                </c:pt>
                <c:pt idx="1">
                  <c:v>Oct 25</c:v>
                </c:pt>
                <c:pt idx="2">
                  <c:v>Nov 25</c:v>
                </c:pt>
                <c:pt idx="3">
                  <c:v>Dec 25</c:v>
                </c:pt>
                <c:pt idx="4">
                  <c:v>Jan 26</c:v>
                </c:pt>
                <c:pt idx="5">
                  <c:v>Feb 26</c:v>
                </c:pt>
                <c:pt idx="6">
                  <c:v>Mar 26</c:v>
                </c:pt>
                <c:pt idx="7">
                  <c:v>Apr 26</c:v>
                </c:pt>
                <c:pt idx="8">
                  <c:v>May 26</c:v>
                </c:pt>
                <c:pt idx="9">
                  <c:v>Jun 26</c:v>
                </c:pt>
                <c:pt idx="10">
                  <c:v>Jul 26</c:v>
                </c:pt>
                <c:pt idx="11">
                  <c:v>Aug 26</c:v>
                </c:pt>
              </c:strCache>
            </c:strRef>
          </c:cat>
          <c:val>
            <c:numRef>
              <c:f>Sheet1!$C$2:$C$13</c:f>
              <c:numCache>
                <c:formatCode>0.0%</c:formatCode>
                <c:ptCount val="12"/>
                <c:pt idx="4">
                  <c:v>0.015957446808510637</c:v>
                </c:pt>
                <c:pt idx="5">
                  <c:v>0.015810276679841896</c:v>
                </c:pt>
                <c:pt idx="6">
                  <c:v>0.0</c:v>
                </c:pt>
                <c:pt idx="7">
                  <c:v>0.026490066225165563</c:v>
                </c:pt>
                <c:pt idx="8">
                  <c:v>0.0</c:v>
                </c:pt>
                <c:pt idx="9">
                  <c:v>0.0</c:v>
                </c:pt>
                <c:pt idx="10">
                  <c:v>0.00819672131147541</c:v>
                </c:pt>
                <c:pt idx="11">
                  <c:v>0.0423728813559322</c:v>
                </c:pt>
              </c:numCache>
            </c:numRef>
          </c:val>
          <c:smooth val="0"/>
        </c:ser>
        <c:marker val="1"/>
        <c:smooth val="0"/>
        <c:axId val="901001"/>
        <c:axId val="901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  <c:catAx>
        <c:axId val="901001"/>
        <c:scaling>
          <c:orientation val="minMax"/>
        </c:scaling>
        <c:delete val="1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2"/>
        <c:crosses val="max"/>
        <c:auto val="1"/>
        <c:lblAlgn val="ctr"/>
        <c:lblOffset val="100"/>
        <c:noMultiLvlLbl val="0"/>
      </c:catAx>
      <c:valAx>
        <c:axId val="901002"/>
        <c:scaling>
          <c:min val="0.0"/>
        </c:scaling>
        <c:delete val="0"/>
        <c:axPos val="r"/>
        <c:numFmt formatCode="0%" sourceLinked="0"/>
        <c:majorTickMark val="none"/>
        <c:minorTickMark val="none"/>
        <c:tickLblPos val="high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901001"/>
        <c:crosses val="autoZero"/>
      </c:valAx>
    </c:plotArea>
    <c:legend>
      <c:legendPos val="t"/>
      <c:overlay val="0"/>
      <c:txPr>
        <a:bodyPr/>
        <a:lstStyle/>
        <a:p>
          <a:pPr>
            <a:defRPr sz="900">
              <a:latin typeface="Montserrat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95% target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0.9888982390525167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95% target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95% target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0.95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2855677107682717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0.1242603550295858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16153846153846155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0.05215866754328293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6780626780626782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"MONITOR", "Action Reason": "", "Supporting Rule Matches": [], "Primary Action KPI": "CVR", "Likely Operational Driver": "Assortment / pricing / content / discoverability / funnel quality: investigate", "Operational/Data State": ["COMPLETE"]}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11.xml"/><Relationship Id="rId4" Type="http://schemas.openxmlformats.org/officeDocument/2006/relationships/chart" Target="../charts/chart12.xml"/><Relationship Id="rId5" Type="http://schemas.openxmlformats.org/officeDocument/2006/relationships/chart" Target="../charts/chart1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Relationship Id="rId6" Type="http://schemas.openxmlformats.org/officeDocument/2006/relationships/chart" Target="../charts/chart5.xml"/><Relationship Id="rId7" Type="http://schemas.openxmlformats.org/officeDocument/2006/relationships/notesSlide" Target="../notesSlides/notesSlide1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chart" Target="../charts/chart7.xml"/><Relationship Id="rId4" Type="http://schemas.openxmlformats.org/officeDocument/2006/relationships/chart" Target="../charts/chart8.xml"/><Relationship Id="rId5" Type="http://schemas.openxmlformats.org/officeDocument/2006/relationships/notesSlide" Target="../notesSlides/notesSlide1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CC3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307969"/>
            <a:ext cx="2331720" cy="7648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485632" y="256032"/>
            <a:ext cx="22860" cy="84124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rtn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8479" y="274320"/>
            <a:ext cx="2509024" cy="822960"/>
          </a:xfrm>
          <a:prstGeom prst="rect">
            <a:avLst/>
          </a:prstGeom>
        </p:spPr>
      </p:pic>
      <p:sp>
        <p:nvSpPr>
          <p:cNvPr id="5" name="Presentation identity title"/>
          <p:cNvSpPr txBox="1"/>
          <p:nvPr/>
        </p:nvSpPr>
        <p:spPr>
          <a:xfrm>
            <a:off x="731520" y="21488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 Business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97180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Montserrat"/>
              </a:defRPr>
            </a:pPr>
            <a:r>
              <a:t>September 2025 – August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4290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Sub-Business Unit: BEAUTY_PERSONAL_CARE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28232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V9_Beta2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BEAUTY_PERSONAL_CARE Business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SBU performance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€111,423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9.5%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Orders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4,269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5.6% vs prev.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AOV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€26.10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3.7% vs prev. 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7824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19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CVR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19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9.3%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19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0.2 pp vs prev. month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33756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Composition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730752"/>
            <a:ext cx="512064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977639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3977639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+9.5%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63240" y="4050791"/>
            <a:ext cx="1303270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462272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Orders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446227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+5.6%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063240" y="4535424"/>
            <a:ext cx="763130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946904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57400" y="4946904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+3.7%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63240" y="5020056"/>
            <a:ext cx="511671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0" y="333756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Key Takeaways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3730752"/>
            <a:ext cx="539496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399592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GMV increased 9.5% vs previous month.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449884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Both order volume and average basket supported growth.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500176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CVR improved by 0.2 pp to 9.3%.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BEAUTY_PERSONAL_CARE Performance 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Last 12 available months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bu_performanc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789920" cy="4343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Across the displayed period, BEAUTY_PERSONAL_CARE GMV changed +54.0%, while orders changed +31.6%.</a:t>
            </a:r>
          </a:p>
        </p:txBody>
      </p:sp>
      <p:pic>
        <p:nvPicPr>
          <p:cNvPr id="8" name="Picture 7" descr="sbu_beauty_personal_c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551308"/>
            <a:ext cx="1371600" cy="13662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 vs BEAUTY_PERSONAL_CARE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Comparable period: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BEAUTY_PERSONAL_CARE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933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€44.10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€26.10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19933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69.0% better than BEAUTY_PERSONAL_CARE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6791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4.2%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9.3%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6791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5.1 pp worse than BEAUTY_PERSONAL_CARE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649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98.9%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76.8%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3649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22.1 pp better than BEAUTY_PERSONAL_CARE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050791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12.4%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4050791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12.4 pp better than BEAUTY_PERSONAL_CARE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7365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5.2%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47365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5.2 pp better than BEAUTY_PERSONAL_CARE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Benchmark comparison uses the latest common period available in both datasets: August 2026.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 Growth vs BEAUTY_PERSONAL_CARE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MoM growth comparison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BEAUTY_PERSONAL_CARE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01168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Growth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01168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+759.7%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201168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+9.5%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01168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+750.2 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78892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Orders Growth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78892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+400.0%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78892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+5.6%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78892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+394.4 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56616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Growth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56616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+71.9%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356616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+3.7%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56616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+68.2 pp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 Share of BEAUTY_PERSONAL_CARE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Partner GMV as a share of BEAUTY_PERSONAL_CARE GMV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18288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91056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Share of BEAUTY_PERSONAL_CARE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83664"/>
            <a:ext cx="29260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0.2%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0.2 pp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15184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pic>
        <p:nvPicPr>
          <p:cNvPr id="10" name="Picture 9" descr="partner_sbu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325880"/>
            <a:ext cx="6949440" cy="42062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Partner gained 0.17 pp of BEAUTY_PERSONAL_CARE GMV share vs previous month.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Health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partner performance — Uptime vs 95% target; PNA/Cancels vs BEAUTY_PERSONAL_CARE (August 2026)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Operating Store Uptime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98.9%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1.0 pp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00A082"/>
                </a:solidFill>
                <a:latin typeface="Montserrat"/>
              </a:defRPr>
            </a:pPr>
            <a:r>
              <a:t>3.9 pp better than 95% target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PNA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No change vs prev.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00A082"/>
                </a:solidFill>
                <a:latin typeface="Montserrat"/>
              </a:defRPr>
            </a:pPr>
            <a:r>
              <a:t>12.4 pp better than BEAUTY_PERSONAL_CARE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Cancels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No change vs prev. 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00A082"/>
                </a:solidFill>
                <a:latin typeface="Montserrat"/>
              </a:defRPr>
            </a:pPr>
            <a:r>
              <a:t>5.2 pp better than BEAUTY_PERSONAL_CARE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42239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Interpretation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797296"/>
            <a:ext cx="102412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Uptime is evaluated against a 95% operating target. Lower is better for PNA and Cancels. Green indicates improvement; red indicates deterioration. Uptime coverage: 1/1 operating store. Missing current store records: 0.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68580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315468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98.9%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468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95.0%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438912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685800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12.4%</a:t>
            </a:r>
          </a:p>
        </p:txBody>
      </p:sp>
      <p:graphicFrame>
        <p:nvGraphicFramePr>
          <p:cNvPr id="28" name="Chart 27"/>
          <p:cNvGraphicFramePr>
            <a:graphicFrameLocks noGrp="1"/>
          </p:cNvGraphicFramePr>
          <p:nvPr/>
        </p:nvGraphicFramePr>
        <p:xfrm>
          <a:off x="809244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1056132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6132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5.2%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Top GMV Stores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2648" y="1417320"/>
            <a:ext cx="7818120" cy="448056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36192"/>
            <a:ext cx="24505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93592" y="1536192"/>
            <a:ext cx="9418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1728" y="1536192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Commercial 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0256" y="1536192"/>
            <a:ext cx="16642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Operational status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1965960"/>
            <a:ext cx="7818120" cy="649224"/>
          </a:xfrm>
          <a:prstGeom prst="roundRect">
            <a:avLst>
              <a:gd name="adj" fmla="val 9000"/>
            </a:avLst>
          </a:prstGeom>
          <a:solidFill>
            <a:srgbClr val="F7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93976"/>
            <a:ext cx="2194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039112"/>
            <a:ext cx="24505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70 Vazha Pshavela Ave, Tbilisi 0186 0101 Tbilisi T'bilisi Georgia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2039112"/>
            <a:ext cx="9418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€220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2039112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Conversion Opportunity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0256" y="2039112"/>
            <a:ext cx="16642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Healthy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68512" y="1417320"/>
            <a:ext cx="2916936" cy="4873752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0" y="1618488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Top Stores</a:t>
            </a:r>
          </a:p>
        </p:txBody>
      </p:sp>
      <p:pic>
        <p:nvPicPr>
          <p:cNvPr id="18" name="Picture 17" descr="goldCrownCele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0388" y="1965960"/>
            <a:ext cx="1716607" cy="170992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869680" y="3767328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900" b="1">
                <a:solidFill>
                  <a:srgbClr val="00A082"/>
                </a:solidFill>
                <a:latin typeface="Montserrat"/>
              </a:defRPr>
            </a:pPr>
            <a:r>
              <a:t>100.0%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4553712"/>
            <a:ext cx="2487168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Top 1 store generated 100.0% of total partner GMV in August 2026.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5815584"/>
            <a:ext cx="2487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Reported partner GMV: €220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How We Prioritize Opportunities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Higher Priority = stronger case for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537028"/>
            <a:ext cx="429768" cy="4280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89304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SEVERITY — 0–100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large is the KPI problem?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Compared with the relevant SBU benchmark or operating target.</a:t>
            </a:r>
            <a:br/>
            <a:br/>
            <a:r>
              <a:t>Evidence volume and confidence are considered. Larger reliable negative gaps create higher Severity.</a:t>
            </a:r>
            <a:br/>
            <a:br/>
            <a:r>
              <a:t>Dominant-KPI protection keeps a major problem from being hidden by healthy KPIs.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9704" y="1537028"/>
            <a:ext cx="429768" cy="42809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0056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IMPACT — 0–100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much business exposure</a:t>
            </a:r>
            <a:br/>
            <a:r>
              <a:t>sits behind the problem?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Order-related exposure behind the KPI gap. Higher-volume problems generally create higher Impact.</a:t>
            </a:r>
            <a:br/>
            <a:br/>
            <a:r>
              <a:t>Not euros. Not guaranteed recovered orders. Not a financial forecast.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5864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456" y="1537028"/>
            <a:ext cx="429768" cy="42809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750808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PRIORITY — 0–100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Where should we act first?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Metric Priority =</a:t>
            </a:r>
            <a:br/>
            <a:r>
              <a:t>KPI Severity × KPI Impact / 100</a:t>
            </a:r>
            <a:br/>
            <a:br/>
            <a:r>
              <a:t>Store Priority combines eligible KPI-level priorities, with dominant-KPI protection so one major issue cannot be diluted.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544568"/>
            <a:ext cx="5440680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681728"/>
            <a:ext cx="50566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038344"/>
            <a:ext cx="505663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The KPI with the strongest paired business case for action at that store.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27064" y="4544568"/>
            <a:ext cx="5486400" cy="96012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4681728"/>
            <a:ext cx="51023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BASE ACTION RULE · Priority ≥ 5.0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4" y="5038344"/>
            <a:ext cx="51023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The 5.0 threshold remains provisional. V2.1 overrides can classify lower-score stores ACTION.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5650992"/>
            <a:ext cx="11064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6E6E6E"/>
                </a:solidFill>
                <a:latin typeface="Montserrat"/>
              </a:defRPr>
            </a:pPr>
            <a:r>
              <a:t>Priority ranks stores. Separate V2.1 triage assigns ACTION / MONITOR / HEALTHY / UNCLASSIFIED (six ACTION stores shown by default).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Missing evidence → incomplete assessment, not zero. Critical observations are reviewed separately from business Priority.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5352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Uptime: 95% target; restoration exposure uses healthy history where available.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Exposure components may overlap; headline exposure uses the largest. An opportunity signal, not a recovery promise.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45352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Benchmark: 2026-08. SBU peer composition is not available.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Priority Opportunities &amp;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V2.1 business triage · Priority ranking remains unchanged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68512" y="1417320"/>
            <a:ext cx="2916936" cy="4901184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2648" y="1417320"/>
            <a:ext cx="7818120" cy="49011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2148840"/>
            <a:ext cx="7086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300" b="1">
                <a:solidFill>
                  <a:srgbClr val="232323"/>
                </a:solidFill>
                <a:latin typeface="Montserrat"/>
              </a:defRPr>
            </a:pPr>
            <a:r>
              <a:t>No stores classified ACTION</a:t>
            </a:r>
            <a:br/>
            <a:r>
              <a:t>under the current V2.1 rules.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3657600"/>
            <a:ext cx="7086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6E6E6E"/>
                </a:solidFill>
                <a:latin typeface="Montserrat"/>
              </a:defRPr>
            </a:pPr>
            <a:r>
              <a:t>MONITOR, HEALTHY and UNCLASSIFIED remain separate.</a:t>
            </a:r>
            <a:br/>
            <a:r>
              <a:t>Review operational/data observations and Appendix context.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06256" y="1865376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Next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06256" y="2231136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62288" y="2231136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Confirm priority stores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06256" y="2496312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62288" y="2496312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Assign owner / deadline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06256" y="2761488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62288" y="2761488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Track progress next review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Action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Agree owners and dates for the selected V2.1 ACTION stores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182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Store / Primary KPI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1371600"/>
            <a:ext cx="59253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Recommended 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59" y="1371600"/>
            <a:ext cx="14447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Owner / deadline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Montserrat"/>
              </a:defRPr>
            </a:pPr>
            <a:r>
              <a:t>No items in this list. See the separate review and diagnostic sections.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&amp; Data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 and hygiene remain visible independently of business Priority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29992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Store / 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39" y="1371600"/>
            <a:ext cx="363931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1371600"/>
            <a:ext cx="39136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Review 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Montserrat"/>
              </a:defRPr>
            </a:pPr>
            <a:r>
              <a:t>No items in this list. See the separate review and diagnostic sections.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Confirm actions, responsibilities and the next review date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232323"/>
                </a:solidFill>
                <a:latin typeface="Montserrat"/>
              </a:defRPr>
            </a:pPr>
            <a:r>
              <a:t>Which interventions should we start first?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Partner Business Review · V9_Beta2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600" b="1">
                <a:solidFill>
                  <a:srgbClr val="00A082"/>
                </a:solidFill>
                <a:latin typeface="Montserrat"/>
              </a:defRPr>
            </a:pPr>
            <a:r>
              <a:t>Let’s turn the agreed actions into measurable progress.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APPENDIX — 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1 store · Reference section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00A082"/>
                </a:solidFill>
                <a:latin typeface="Montserrat"/>
              </a:defRPr>
            </a:pPr>
            <a:r>
              <a:t>Store-level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461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0">
                <a:solidFill>
                  <a:srgbClr val="232323"/>
                </a:solidFill>
                <a:latin typeface="Montserrat"/>
              </a:defRPr>
            </a:pPr>
            <a:r>
              <a:t>Lifecycle, KPI evidence and recommendations for each store.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70 Vazha Pshavela Ave, Tbilisi 0186 0101 Tbilisi T'bilisi Georgia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€220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4.2%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9.3%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-5.1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460893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7833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12.4%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-12.4 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45736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75810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5.2%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-5.2 pp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537883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98.9%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Target · +3.9 pp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0305288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127783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17.39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7.90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1.37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232323"/>
                </a:solidFill>
                <a:latin typeface="Montserrat"/>
              </a:defRPr>
            </a:pPr>
            <a:r>
              <a:t>PRIORITY &lt; 5.0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44% · n=118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3867912" y="4453127"/>
            <a:ext cx="829374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31520" y="4626864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14% · n=5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867912" y="4718303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3867912" y="4718303"/>
            <a:ext cx="269094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33% · n=5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3867912" y="4983479"/>
            <a:ext cx="627888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pic>
        <p:nvPicPr>
          <p:cNvPr id="78" name="Picture 77" descr="diagnostic_eaea268ccd5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4379976"/>
            <a:ext cx="5148072" cy="786384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6E6E6E"/>
                </a:solidFill>
                <a:latin typeface="Montserrat"/>
              </a:defRPr>
            </a:pPr>
            <a:r>
              <a:t>Assessment evidence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Current sessions or order activity · Critical observations: None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Likely operational driver: Assortment / pricing / content / discoverability / funnel quality: investigate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Review assortment, pricing, content and discoverability, then investigate the conversion journey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31520" y="6464808"/>
            <a:ext cx="10698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Improve conversion against the SBU benchmark</a:t>
            </a:r>
          </a:p>
        </p:txBody>
      </p:sp>
      <p:sp>
        <p:nvSpPr>
          <p:cNvPr id="85" name="Rectangle 84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MONITOR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 vs BEAUTY_PERSONAL_CARE ·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August 2026 · Comparable performance metrics · Each metric uses its own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2763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(€)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423160" y="1426464"/>
          <a:ext cx="5257800" cy="81381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26679" y="152933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€44.10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1936242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€26.10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5400" y="1563624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69.0% better than BEAUTY_PERSONAL_CARE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8716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CVR (%)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423160" y="2286000"/>
          <a:ext cx="5257800" cy="81381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726679" y="238887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4.2%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795778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9.3%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2423160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D24646"/>
                </a:solidFill>
                <a:latin typeface="Montserrat"/>
              </a:defRPr>
            </a:pPr>
            <a:r>
              <a:t>5.1 pp worse than BEAUTY_PERSONAL_CARE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346704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Uptime (%)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423160" y="3145536"/>
          <a:ext cx="5257800" cy="813816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726679" y="3248406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98.9%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365531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76.8%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3282696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22.1 pp better than BEAUTY_PERSONAL_CARE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206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PNA (%)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2423160" y="4005072"/>
          <a:ext cx="5257800" cy="813816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7726679" y="41079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79" y="4514849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12.4%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4142232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12.4 pp better than BEAUTY_PERSONAL_CARE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065776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Cancels (%)</a:t>
            </a:r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2423160" y="4864608"/>
          <a:ext cx="5257800" cy="813816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7726679" y="4967478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79" y="5374386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5.2%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5001768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5.2 pp better than BEAUTY_PERSONAL_CARE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989320"/>
            <a:ext cx="10652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Benchmark comparison uses the latest common period available in both datasets: August 2026.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 Growth vs BEAUTY_PERSONAL_CARE ·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MoM growth comparison — August 2026 · Shared percentage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476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Growth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514600" y="1554480"/>
          <a:ext cx="5120640" cy="112471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80960" y="1735073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+759.7%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22974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+9.5%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18196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+750.2 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192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Orders Growth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514600" y="2926080"/>
          <a:ext cx="5120640" cy="11247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680960" y="310667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+400.0%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36690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+5.6%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31912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+394.4 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908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Growth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514600" y="4297680"/>
          <a:ext cx="5120640" cy="112471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680960" y="447827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+71.9%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50406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+3.7%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45628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+68.2 pp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 Performance &amp; Conversion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Monthly GMV and delivered orders · Partner sessions and conversion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&amp; Orders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682496"/>
          <a:ext cx="5852160" cy="194767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3877056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Partner Sessions × Partner CVR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31520" y="4187952"/>
          <a:ext cx="5852160" cy="194767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Meeting KPI GMV 0"/>
          <p:cNvSpPr/>
          <p:nvPr/>
        </p:nvSpPr>
        <p:spPr>
          <a:xfrm>
            <a:off x="6812280" y="15087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Meeting KPI GMV 1"/>
          <p:cNvSpPr txBox="1"/>
          <p:nvPr/>
        </p:nvSpPr>
        <p:spPr>
          <a:xfrm>
            <a:off x="6995160" y="16367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1" name="Meeting KPI GMV 2"/>
          <p:cNvSpPr txBox="1"/>
          <p:nvPr/>
        </p:nvSpPr>
        <p:spPr>
          <a:xfrm>
            <a:off x="6995160" y="19293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€220</a:t>
            </a:r>
          </a:p>
        </p:txBody>
      </p:sp>
      <p:sp>
        <p:nvSpPr>
          <p:cNvPr id="12" name="Meeting KPI GMV 3"/>
          <p:cNvSpPr txBox="1"/>
          <p:nvPr/>
        </p:nvSpPr>
        <p:spPr>
          <a:xfrm>
            <a:off x="6995160" y="2377439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759.7% vs prev. month</a:t>
            </a:r>
          </a:p>
        </p:txBody>
      </p:sp>
      <p:sp>
        <p:nvSpPr>
          <p:cNvPr id="13" name="Meeting KPI Orders 0"/>
          <p:cNvSpPr/>
          <p:nvPr/>
        </p:nvSpPr>
        <p:spPr>
          <a:xfrm>
            <a:off x="9464040" y="15087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Meeting KPI Orders 1"/>
          <p:cNvSpPr txBox="1"/>
          <p:nvPr/>
        </p:nvSpPr>
        <p:spPr>
          <a:xfrm>
            <a:off x="9646919" y="16367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Orders</a:t>
            </a:r>
          </a:p>
        </p:txBody>
      </p:sp>
      <p:sp>
        <p:nvSpPr>
          <p:cNvPr id="15" name="Meeting KPI Orders 2"/>
          <p:cNvSpPr txBox="1"/>
          <p:nvPr/>
        </p:nvSpPr>
        <p:spPr>
          <a:xfrm>
            <a:off x="9646919" y="19293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5</a:t>
            </a:r>
          </a:p>
        </p:txBody>
      </p:sp>
      <p:sp>
        <p:nvSpPr>
          <p:cNvPr id="16" name="Meeting KPI Orders 3"/>
          <p:cNvSpPr txBox="1"/>
          <p:nvPr/>
        </p:nvSpPr>
        <p:spPr>
          <a:xfrm>
            <a:off x="9646919" y="2377439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400.0% vs prev. month</a:t>
            </a:r>
          </a:p>
        </p:txBody>
      </p:sp>
      <p:sp>
        <p:nvSpPr>
          <p:cNvPr id="17" name="Meeting KPI Partner Sessions 0"/>
          <p:cNvSpPr/>
          <p:nvPr/>
        </p:nvSpPr>
        <p:spPr>
          <a:xfrm>
            <a:off x="6812280" y="40233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Meeting KPI Partner Sessions 1"/>
          <p:cNvSpPr txBox="1"/>
          <p:nvPr/>
        </p:nvSpPr>
        <p:spPr>
          <a:xfrm>
            <a:off x="6995160" y="41513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Sessions</a:t>
            </a:r>
          </a:p>
        </p:txBody>
      </p:sp>
      <p:sp>
        <p:nvSpPr>
          <p:cNvPr id="19" name="Meeting KPI Partner Sessions 2"/>
          <p:cNvSpPr txBox="1"/>
          <p:nvPr/>
        </p:nvSpPr>
        <p:spPr>
          <a:xfrm>
            <a:off x="6995160" y="44439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118</a:t>
            </a:r>
          </a:p>
        </p:txBody>
      </p:sp>
      <p:sp>
        <p:nvSpPr>
          <p:cNvPr id="20" name="Meeting KPI Partner Sessions 3"/>
          <p:cNvSpPr txBox="1"/>
          <p:nvPr/>
        </p:nvSpPr>
        <p:spPr>
          <a:xfrm>
            <a:off x="6995160" y="4892040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D24646"/>
                </a:solidFill>
                <a:latin typeface="Montserrat"/>
              </a:defRPr>
            </a:pPr>
            <a:r>
              <a:t>▼ 3.3% vs prev. month</a:t>
            </a:r>
          </a:p>
        </p:txBody>
      </p:sp>
      <p:sp>
        <p:nvSpPr>
          <p:cNvPr id="21" name="Meeting KPI Partner CVR 0"/>
          <p:cNvSpPr/>
          <p:nvPr/>
        </p:nvSpPr>
        <p:spPr>
          <a:xfrm>
            <a:off x="9464040" y="40233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Meeting KPI Partner CVR 1"/>
          <p:cNvSpPr txBox="1"/>
          <p:nvPr/>
        </p:nvSpPr>
        <p:spPr>
          <a:xfrm>
            <a:off x="9646919" y="41513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CVR</a:t>
            </a:r>
          </a:p>
        </p:txBody>
      </p:sp>
      <p:sp>
        <p:nvSpPr>
          <p:cNvPr id="23" name="Meeting KPI Partner CVR 2"/>
          <p:cNvSpPr txBox="1"/>
          <p:nvPr/>
        </p:nvSpPr>
        <p:spPr>
          <a:xfrm>
            <a:off x="9646919" y="44439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4.2%</a:t>
            </a:r>
          </a:p>
        </p:txBody>
      </p:sp>
      <p:sp>
        <p:nvSpPr>
          <p:cNvPr id="24" name="Meeting KPI Partner CVR 3"/>
          <p:cNvSpPr txBox="1"/>
          <p:nvPr/>
        </p:nvSpPr>
        <p:spPr>
          <a:xfrm>
            <a:off x="9646919" y="4892040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3.4 pp vs prev. month</a:t>
            </a:r>
          </a:p>
        </p:txBody>
      </p:sp>
      <p:sp>
        <p:nvSpPr>
          <p:cNvPr id="25" name="Meeting KPI Partner CVR 4"/>
          <p:cNvSpPr txBox="1"/>
          <p:nvPr/>
        </p:nvSpPr>
        <p:spPr>
          <a:xfrm>
            <a:off x="9646919" y="5230368"/>
            <a:ext cx="19659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D24646"/>
                </a:solidFill>
                <a:latin typeface="Montserrat"/>
              </a:defRPr>
            </a:pPr>
            <a:r>
              <a:t>5.1 pp below BEAUTY_PERSONAL_CARE benchmark</a:t>
            </a:r>
          </a:p>
        </p:txBody>
      </p:sp>
      <p:sp>
        <p:nvSpPr>
          <p:cNvPr id="26" name="Meeting interpretation top 0"/>
          <p:cNvSpPr txBox="1"/>
          <p:nvPr/>
        </p:nvSpPr>
        <p:spPr>
          <a:xfrm>
            <a:off x="6812280" y="3273552"/>
            <a:ext cx="4983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• GMV changed +759.7% vs previous month.</a:t>
            </a:r>
          </a:p>
        </p:txBody>
      </p:sp>
      <p:sp>
        <p:nvSpPr>
          <p:cNvPr id="27" name="Meeting interpretation top 1"/>
          <p:cNvSpPr txBox="1"/>
          <p:nvPr/>
        </p:nvSpPr>
        <p:spPr>
          <a:xfrm>
            <a:off x="6812280" y="3547872"/>
            <a:ext cx="4983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• Order volume moved more sharply than basket size.</a:t>
            </a:r>
          </a:p>
        </p:txBody>
      </p:sp>
      <p:sp>
        <p:nvSpPr>
          <p:cNvPr id="28" name="Meeting interpretation conversion"/>
          <p:cNvSpPr txBox="1"/>
          <p:nvPr/>
        </p:nvSpPr>
        <p:spPr>
          <a:xfrm>
            <a:off x="6812280" y="5843016"/>
            <a:ext cx="498348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• Partner CVR is 5.1 pp below BEAUTY_PERSONAL_CARE benchmark.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419088"/>
            <a:ext cx="106527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Missing months / measurements are blank. Lines break at missing values.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პეტფუდი — შინაური ცხოველების კვებისა და ვეტერინარული მომსახურების ცენტრი Business Review</dc:title>
  <dc:subject>პეტფუდი — შინაური ცხოველების კვებისა და ვეტერინარული მომსახურების ცენტრი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cp:version>V9_Beta2</cp:version>
</cp:coreProperties>
</file>
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2" r:id="rId22"/>
    <p:sldId id="260" r:id="rId11"/>
    <p:sldId id="283" r:id="rId21"/>
    <p:sldId id="261" r:id="rId12"/>
    <p:sldId id="284" r:id="rId20"/>
    <p:sldId id="266" r:id="rId17"/>
    <p:sldId id="268" r:id="rId19"/>
    <p:sldId id="279" r:id="rId31"/>
    <p:sldId id="285" r:id="rId18"/>
    <p:sldId id="286" r:id="rId16"/>
    <p:sldId id="287" r:id="rId15"/>
    <p:sldId id="274" r:id="rId25"/>
    <p:sldId id="288" r:id="rId14"/>
    <p:sldId id="289" r:id="rId13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3" Type="http://schemas.openxmlformats.org/officeDocument/2006/relationships/slide" Target="slides/slide26.xml"/><Relationship Id="rId14" Type="http://schemas.openxmlformats.org/officeDocument/2006/relationships/slide" Target="slides/slide25.xml"/><Relationship Id="rId15" Type="http://schemas.openxmlformats.org/officeDocument/2006/relationships/slide" Target="slides/slide24.xml"/><Relationship Id="rId16" Type="http://schemas.openxmlformats.org/officeDocument/2006/relationships/slide" Target="slides/slide23.xml"/><Relationship Id="rId17" Type="http://schemas.openxmlformats.org/officeDocument/2006/relationships/slide" Target="slides/slide10.xml"/><Relationship Id="rId18" Type="http://schemas.openxmlformats.org/officeDocument/2006/relationships/slide" Target="slides/slide22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1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8000.0</c:v>
                </c:pt>
                <c:pt idx="1">
                  <c:v>8000.0</c:v>
                </c:pt>
                <c:pt idx="2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200.0</c:v>
                </c:pt>
                <c:pt idx="1">
                  <c:v>200.0</c:v>
                </c:pt>
                <c:pt idx="2">
                  <c:v>200.0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8000.0</c:v>
                </c:pt>
                <c:pt idx="1">
                  <c:v>8000.0</c:v>
                </c:pt>
                <c:pt idx="2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· München / São Paulo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· München / São Paulo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· München / São Paulo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· München / São Paulo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-5.3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-3.5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-1.8 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· München / São Paulo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-5.3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-3.5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-1.8 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· München / São Paulo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0.3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720000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0.28 pp of PETS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· München / São Paulo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8,000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23.9 pp below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+0.0%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Basket-size movement was larger than the change in order volume.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23.9 pp below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23.0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2/2 operating stores.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2670048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98064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43200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43200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743200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743200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24" name="Picture 23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2 stores generated 100.0% of total partner GMV in August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€8,000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Thank You decorative visual" descr="Thank_Y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003" y="0"/>
            <a:ext cx="10108692" cy="6739128"/>
          </a:xfrm>
          <a:prstGeom prst="rect">
            <a:avLst/>
          </a:prstGeom>
        </p:spPr>
      </p:pic>
      <p:sp>
        <p:nvSpPr>
          <p:cNvPr id="6" name="Closing main heading"/>
          <p:cNvSpPr txBox="1"/>
          <p:nvPr/>
        </p:nvSpPr>
        <p:spPr>
          <a:xfrm>
            <a:off x="822960" y="150876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4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7" name="Closing second heading"/>
          <p:cNvSpPr txBox="1"/>
          <p:nvPr/>
        </p:nvSpPr>
        <p:spPr>
          <a:xfrm>
            <a:off x="822960" y="24231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For Your Partnership</a:t>
            </a:r>
          </a:p>
        </p:txBody>
      </p:sp>
      <p:sp>
        <p:nvSpPr>
          <p:cNvPr id="8" name="Closing message"/>
          <p:cNvSpPr txBox="1"/>
          <p:nvPr/>
        </p:nvSpPr>
        <p:spPr>
          <a:xfrm>
            <a:off x="822960" y="3703320"/>
            <a:ext cx="7315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</a:t>
            </a:r>
            <a:br/>
            <a:r>
              <a:t>Into Measurable Progress</a:t>
            </a:r>
          </a:p>
        </p:txBody>
      </p:sp>
      <p:sp>
        <p:nvSpPr>
          <p:cNvPr id="9" name="Closing reporting period"/>
          <p:cNvSpPr txBox="1"/>
          <p:nvPr/>
        </p:nvSpPr>
        <p:spPr>
          <a:xfrm>
            <a:off x="822960" y="60990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2 stores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#1 · 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1911095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1762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24048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26426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3035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34655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931920"/>
            <a:ext cx="7818120" cy="2377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pportunity store: PRIVATE-ID-1"/>
          <p:cNvSpPr txBox="1"/>
          <p:nvPr/>
        </p:nvSpPr>
        <p:spPr>
          <a:xfrm>
            <a:off x="841248" y="4041648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00A082"/>
                </a:solidFill>
                <a:latin typeface="Montserrat"/>
              </a:defRPr>
            </a:pPr>
            <a:r>
              <a:t>#2 · </a:t>
            </a:r>
            <a:r>
              <a:rPr>
                <a:latin typeface="Noto Sans Georgian"/>
              </a:rPr>
              <a:t>ცხოველების</a:t>
            </a:r>
            <a:r>
              <a:t> </a:t>
            </a:r>
            <a:r>
              <a:rPr>
                <a:latin typeface="Noto Sans Georgian"/>
              </a:rPr>
              <a:t>კვებისა</a:t>
            </a:r>
            <a:r>
              <a:t> </a:t>
            </a:r>
            <a:r>
              <a:rPr>
                <a:latin typeface="Noto Sans Georgian"/>
              </a:rPr>
              <a:t>და</a:t>
            </a:r>
            <a:r>
              <a:t> </a:t>
            </a:r>
            <a:r>
              <a:rPr>
                <a:latin typeface="Noto Sans Georgian"/>
              </a:rPr>
              <a:t>მოვლის</a:t>
            </a:r>
            <a:r>
              <a:t> </a:t>
            </a:r>
            <a:r>
              <a:rPr>
                <a:latin typeface="Noto Sans Georgian"/>
              </a:rPr>
              <a:t>ცენტრი</a:t>
            </a:r>
            <a:r>
              <a:t> · München / São Paulo / Αθήνα — Rustaveli Avenue 123</a:t>
            </a:r>
          </a:p>
        </p:txBody>
      </p:sp>
      <p:sp>
        <p:nvSpPr>
          <p:cNvPr id="16" name="V2.1 action field 0: PRIVATE-ID-1"/>
          <p:cNvSpPr txBox="1"/>
          <p:nvPr/>
        </p:nvSpPr>
        <p:spPr>
          <a:xfrm>
            <a:off x="841248" y="4425696"/>
            <a:ext cx="7315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17" name="V2.1 action field 1: PRIVATE-ID-1"/>
          <p:cNvSpPr txBox="1"/>
          <p:nvPr/>
        </p:nvSpPr>
        <p:spPr>
          <a:xfrm>
            <a:off x="841248" y="4690872"/>
            <a:ext cx="73152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8" name="V2.1 action field 2: PRIVATE-ID-1"/>
          <p:cNvSpPr txBox="1"/>
          <p:nvPr/>
        </p:nvSpPr>
        <p:spPr>
          <a:xfrm>
            <a:off x="841248" y="49194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9" name="V2.1 action field 3: PRIVATE-ID-1"/>
          <p:cNvSpPr txBox="1"/>
          <p:nvPr/>
        </p:nvSpPr>
        <p:spPr>
          <a:xfrm>
            <a:off x="841248" y="5157216"/>
            <a:ext cx="731520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8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20" name="V2.1 action field 4: PRIVATE-ID-1"/>
          <p:cNvSpPr txBox="1"/>
          <p:nvPr/>
        </p:nvSpPr>
        <p:spPr>
          <a:xfrm>
            <a:off x="841248" y="55504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8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21" name="V2.1 action field 5: PRIVATE-ID-1"/>
          <p:cNvSpPr txBox="1"/>
          <p:nvPr/>
        </p:nvSpPr>
        <p:spPr>
          <a:xfrm>
            <a:off x="841248" y="5980176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2 selected of 2 ACTION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2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6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10698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996695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0 store"/>
          <p:cNvSpPr txBox="1"/>
          <p:nvPr/>
        </p:nvSpPr>
        <p:spPr>
          <a:xfrm>
            <a:off x="813816" y="251460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0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0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0 evidence"/>
          <p:cNvSpPr txBox="1"/>
          <p:nvPr/>
        </p:nvSpPr>
        <p:spPr>
          <a:xfrm>
            <a:off x="5577840" y="2514600"/>
            <a:ext cx="235915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6" name="Review 0 action"/>
          <p:cNvSpPr txBox="1"/>
          <p:nvPr/>
        </p:nvSpPr>
        <p:spPr>
          <a:xfrm>
            <a:off x="8147304" y="2514600"/>
            <a:ext cx="321868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520439"/>
            <a:ext cx="10991088" cy="10698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557015"/>
            <a:ext cx="41148" cy="996695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1 store"/>
          <p:cNvSpPr txBox="1"/>
          <p:nvPr/>
        </p:nvSpPr>
        <p:spPr>
          <a:xfrm>
            <a:off x="813816" y="3666744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675887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1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712463"/>
            <a:ext cx="256032" cy="256032"/>
          </a:xfrm>
          <a:prstGeom prst="rect">
            <a:avLst/>
          </a:prstGeom>
        </p:spPr>
      </p:pic>
      <p:sp>
        <p:nvSpPr>
          <p:cNvPr id="32" name="Review 1 type"/>
          <p:cNvSpPr txBox="1"/>
          <p:nvPr/>
        </p:nvSpPr>
        <p:spPr>
          <a:xfrm>
            <a:off x="4251960" y="373989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1 evidence"/>
          <p:cNvSpPr txBox="1"/>
          <p:nvPr/>
        </p:nvSpPr>
        <p:spPr>
          <a:xfrm>
            <a:off x="5577840" y="3666744"/>
            <a:ext cx="235915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4" name="Review 1 action"/>
          <p:cNvSpPr txBox="1"/>
          <p:nvPr/>
        </p:nvSpPr>
        <p:spPr>
          <a:xfrm>
            <a:off x="8147304" y="3666744"/>
            <a:ext cx="321868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672583"/>
            <a:ext cx="10991088" cy="1069848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709159"/>
            <a:ext cx="41148" cy="996695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2 store"/>
          <p:cNvSpPr txBox="1"/>
          <p:nvPr/>
        </p:nvSpPr>
        <p:spPr>
          <a:xfrm>
            <a:off x="813816" y="4818888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828031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2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864607"/>
            <a:ext cx="256032" cy="256032"/>
          </a:xfrm>
          <a:prstGeom prst="rect">
            <a:avLst/>
          </a:prstGeom>
        </p:spPr>
      </p:pic>
      <p:sp>
        <p:nvSpPr>
          <p:cNvPr id="40" name="Review 2 type"/>
          <p:cNvSpPr txBox="1"/>
          <p:nvPr/>
        </p:nvSpPr>
        <p:spPr>
          <a:xfrm>
            <a:off x="4251960" y="489204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2 evidence"/>
          <p:cNvSpPr txBox="1"/>
          <p:nvPr/>
        </p:nvSpPr>
        <p:spPr>
          <a:xfrm>
            <a:off x="5577840" y="4818888"/>
            <a:ext cx="235915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2" name="Review 2 action"/>
          <p:cNvSpPr txBox="1"/>
          <p:nvPr/>
        </p:nvSpPr>
        <p:spPr>
          <a:xfrm>
            <a:off x="8147304" y="4818888"/>
            <a:ext cx="3218688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 ·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2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6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6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7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8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368296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2404872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view 3 store"/>
          <p:cNvSpPr txBox="1"/>
          <p:nvPr/>
        </p:nvSpPr>
        <p:spPr>
          <a:xfrm>
            <a:off x="813816" y="2514600"/>
            <a:ext cx="301752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2523744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Review 3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2560320"/>
            <a:ext cx="256032" cy="256032"/>
          </a:xfrm>
          <a:prstGeom prst="rect">
            <a:avLst/>
          </a:prstGeom>
        </p:spPr>
      </p:pic>
      <p:sp>
        <p:nvSpPr>
          <p:cNvPr id="24" name="Review 3 type"/>
          <p:cNvSpPr txBox="1"/>
          <p:nvPr/>
        </p:nvSpPr>
        <p:spPr>
          <a:xfrm>
            <a:off x="4251960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5" name="Review 3 evidence"/>
          <p:cNvSpPr txBox="1"/>
          <p:nvPr/>
        </p:nvSpPr>
        <p:spPr>
          <a:xfrm>
            <a:off x="5577840" y="2514600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6" name="Review 3 action"/>
          <p:cNvSpPr txBox="1"/>
          <p:nvPr/>
        </p:nvSpPr>
        <p:spPr>
          <a:xfrm>
            <a:off x="8147304" y="2514600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46704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3383280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view 4 store"/>
          <p:cNvSpPr txBox="1"/>
          <p:nvPr/>
        </p:nvSpPr>
        <p:spPr>
          <a:xfrm>
            <a:off x="813816" y="3493008"/>
            <a:ext cx="301752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13632" y="3502152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Review 4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3538728"/>
            <a:ext cx="256032" cy="256032"/>
          </a:xfrm>
          <a:prstGeom prst="rect">
            <a:avLst/>
          </a:prstGeom>
        </p:spPr>
      </p:pic>
      <p:sp>
        <p:nvSpPr>
          <p:cNvPr id="32" name="Review 4 type"/>
          <p:cNvSpPr txBox="1"/>
          <p:nvPr/>
        </p:nvSpPr>
        <p:spPr>
          <a:xfrm>
            <a:off x="4251960" y="3566160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3" name="Review 4 evidence"/>
          <p:cNvSpPr txBox="1"/>
          <p:nvPr/>
        </p:nvSpPr>
        <p:spPr>
          <a:xfrm>
            <a:off x="5577840" y="3493008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34" name="Review 4 action"/>
          <p:cNvSpPr txBox="1"/>
          <p:nvPr/>
        </p:nvSpPr>
        <p:spPr>
          <a:xfrm>
            <a:off x="8147304" y="3493008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325112"/>
            <a:ext cx="10991088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61688"/>
            <a:ext cx="41148" cy="822960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view 5 store"/>
          <p:cNvSpPr txBox="1"/>
          <p:nvPr/>
        </p:nvSpPr>
        <p:spPr>
          <a:xfrm>
            <a:off x="813816" y="4471416"/>
            <a:ext cx="301752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13632" y="4480560"/>
            <a:ext cx="1572768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Review 5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3" y="4517136"/>
            <a:ext cx="256032" cy="256032"/>
          </a:xfrm>
          <a:prstGeom prst="rect">
            <a:avLst/>
          </a:prstGeom>
        </p:spPr>
      </p:pic>
      <p:sp>
        <p:nvSpPr>
          <p:cNvPr id="40" name="Review 5 type"/>
          <p:cNvSpPr txBox="1"/>
          <p:nvPr/>
        </p:nvSpPr>
        <p:spPr>
          <a:xfrm>
            <a:off x="4251960" y="4544568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41" name="Review 5 evidence"/>
          <p:cNvSpPr txBox="1"/>
          <p:nvPr/>
        </p:nvSpPr>
        <p:spPr>
          <a:xfrm>
            <a:off x="5577840" y="4471416"/>
            <a:ext cx="235915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42" name="Review 5 action"/>
          <p:cNvSpPr txBox="1"/>
          <p:nvPr/>
        </p:nvSpPr>
        <p:spPr>
          <a:xfrm>
            <a:off x="8147304" y="4471416"/>
            <a:ext cx="32186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lan action 1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91056"/>
            <a:ext cx="256032" cy="256032"/>
          </a:xfrm>
          <a:prstGeom prst="rect">
            <a:avLst/>
          </a:prstGeom>
        </p:spPr>
      </p:pic>
      <p:sp>
        <p:nvSpPr>
          <p:cNvPr id="7" name="Plan action 1 rank"/>
          <p:cNvSpPr txBox="1"/>
          <p:nvPr/>
        </p:nvSpPr>
        <p:spPr>
          <a:xfrm>
            <a:off x="109728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1</a:t>
            </a:r>
          </a:p>
        </p:txBody>
      </p:sp>
      <p:sp>
        <p:nvSpPr>
          <p:cNvPr id="8" name="Plan action 1 priority"/>
          <p:cNvSpPr txBox="1"/>
          <p:nvPr/>
        </p:nvSpPr>
        <p:spPr>
          <a:xfrm>
            <a:off x="429768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9" name="Plan action 1 store"/>
          <p:cNvSpPr txBox="1"/>
          <p:nvPr/>
        </p:nvSpPr>
        <p:spPr>
          <a:xfrm>
            <a:off x="77724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PetFood International — Veterinary Nutrition &amp; Animal Care · São Paulo / München / Αθήνα — Central Flagship Store, Rustaveli Avenue 123</a:t>
            </a:r>
          </a:p>
        </p:txBody>
      </p:sp>
      <p:sp>
        <p:nvSpPr>
          <p:cNvPr id="10" name="Plan action 1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1" name="Plan action 1 primary"/>
          <p:cNvSpPr txBox="1"/>
          <p:nvPr/>
        </p:nvSpPr>
        <p:spPr>
          <a:xfrm>
            <a:off x="242316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2" name="Plan action 1 recommendation label"/>
          <p:cNvSpPr txBox="1"/>
          <p:nvPr/>
        </p:nvSpPr>
        <p:spPr>
          <a:xfrm>
            <a:off x="77724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3" name="Plan action 1 recommendation"/>
          <p:cNvSpPr txBox="1"/>
          <p:nvPr/>
        </p:nvSpPr>
        <p:spPr>
          <a:xfrm>
            <a:off x="77724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action 1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97680"/>
            <a:ext cx="237744" cy="237744"/>
          </a:xfrm>
          <a:prstGeom prst="rect">
            <a:avLst/>
          </a:prstGeom>
        </p:spPr>
      </p:pic>
      <p:sp>
        <p:nvSpPr>
          <p:cNvPr id="16" name="Plan action 1 agreed label"/>
          <p:cNvSpPr txBox="1"/>
          <p:nvPr/>
        </p:nvSpPr>
        <p:spPr>
          <a:xfrm>
            <a:off x="111556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7" name="Plan action 1 agreed"/>
          <p:cNvSpPr txBox="1"/>
          <p:nvPr/>
        </p:nvSpPr>
        <p:spPr>
          <a:xfrm>
            <a:off x="85039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1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9" name="Plan action 1 Owner"/>
          <p:cNvSpPr txBox="1"/>
          <p:nvPr/>
        </p:nvSpPr>
        <p:spPr>
          <a:xfrm>
            <a:off x="147218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1 Contact label"/>
          <p:cNvSpPr txBox="1"/>
          <p:nvPr/>
        </p:nvSpPr>
        <p:spPr>
          <a:xfrm>
            <a:off x="346100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21" name="Plan action 1 Contact"/>
          <p:cNvSpPr txBox="1"/>
          <p:nvPr/>
        </p:nvSpPr>
        <p:spPr>
          <a:xfrm>
            <a:off x="415594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1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3" name="Plan action 1 ETA"/>
          <p:cNvSpPr txBox="1"/>
          <p:nvPr/>
        </p:nvSpPr>
        <p:spPr>
          <a:xfrm>
            <a:off x="147218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4" name="Plan action 1 Follow-up KPI label"/>
          <p:cNvSpPr txBox="1"/>
          <p:nvPr/>
        </p:nvSpPr>
        <p:spPr>
          <a:xfrm>
            <a:off x="346100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5" name="Plan action 1 Follow-up KPI"/>
          <p:cNvSpPr txBox="1"/>
          <p:nvPr/>
        </p:nvSpPr>
        <p:spPr>
          <a:xfrm>
            <a:off x="467715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lan action 2 priority icon" descr="icon_prior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91056"/>
            <a:ext cx="256032" cy="256032"/>
          </a:xfrm>
          <a:prstGeom prst="rect">
            <a:avLst/>
          </a:prstGeom>
        </p:spPr>
      </p:pic>
      <p:sp>
        <p:nvSpPr>
          <p:cNvPr id="28" name="Plan action 2 rank"/>
          <p:cNvSpPr txBox="1"/>
          <p:nvPr/>
        </p:nvSpPr>
        <p:spPr>
          <a:xfrm>
            <a:off x="6720840" y="1618488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2</a:t>
            </a:r>
          </a:p>
        </p:txBody>
      </p:sp>
      <p:sp>
        <p:nvSpPr>
          <p:cNvPr id="29" name="Plan action 2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30" name="Plan action 2 store"/>
          <p:cNvSpPr txBox="1"/>
          <p:nvPr/>
        </p:nvSpPr>
        <p:spPr>
          <a:xfrm>
            <a:off x="6400800" y="1947672"/>
            <a:ext cx="500176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ცხოველების კვებისა და მოვლის ცენტრი · München / São Paulo / Αθήνα — Rustaveli Avenue 123</a:t>
            </a:r>
          </a:p>
        </p:txBody>
      </p:sp>
      <p:sp>
        <p:nvSpPr>
          <p:cNvPr id="31" name="Plan action 2 primary label"/>
          <p:cNvSpPr txBox="1"/>
          <p:nvPr/>
        </p:nvSpPr>
        <p:spPr>
          <a:xfrm>
            <a:off x="640080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32" name="Plan action 2 primary"/>
          <p:cNvSpPr txBox="1"/>
          <p:nvPr/>
        </p:nvSpPr>
        <p:spPr>
          <a:xfrm>
            <a:off x="8046720" y="2624328"/>
            <a:ext cx="33558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33" name="Plan action 2 recommendation label"/>
          <p:cNvSpPr txBox="1"/>
          <p:nvPr/>
        </p:nvSpPr>
        <p:spPr>
          <a:xfrm>
            <a:off x="6400800" y="2990088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34" name="Plan action 2 recommendation"/>
          <p:cNvSpPr txBox="1"/>
          <p:nvPr/>
        </p:nvSpPr>
        <p:spPr>
          <a:xfrm>
            <a:off x="6400800" y="3282696"/>
            <a:ext cx="50017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251960"/>
            <a:ext cx="5093208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lan action 2 agreed icon" descr="icon_agreed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4297680"/>
            <a:ext cx="237744" cy="237744"/>
          </a:xfrm>
          <a:prstGeom prst="rect">
            <a:avLst/>
          </a:prstGeom>
        </p:spPr>
      </p:pic>
      <p:sp>
        <p:nvSpPr>
          <p:cNvPr id="37" name="Plan action 2 agreed label"/>
          <p:cNvSpPr txBox="1"/>
          <p:nvPr/>
        </p:nvSpPr>
        <p:spPr>
          <a:xfrm>
            <a:off x="6739128" y="4325112"/>
            <a:ext cx="459028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38" name="Plan action 2 agreed"/>
          <p:cNvSpPr txBox="1"/>
          <p:nvPr/>
        </p:nvSpPr>
        <p:spPr>
          <a:xfrm>
            <a:off x="6473952" y="4590288"/>
            <a:ext cx="485546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Plan action 2 Owner label"/>
          <p:cNvSpPr txBox="1"/>
          <p:nvPr/>
        </p:nvSpPr>
        <p:spPr>
          <a:xfrm>
            <a:off x="640080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40" name="Plan action 2 Owner"/>
          <p:cNvSpPr txBox="1"/>
          <p:nvPr/>
        </p:nvSpPr>
        <p:spPr>
          <a:xfrm>
            <a:off x="7095744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1" name="Plan action 2 Contact label"/>
          <p:cNvSpPr txBox="1"/>
          <p:nvPr/>
        </p:nvSpPr>
        <p:spPr>
          <a:xfrm>
            <a:off x="9084564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42" name="Plan action 2 Contact"/>
          <p:cNvSpPr txBox="1"/>
          <p:nvPr/>
        </p:nvSpPr>
        <p:spPr>
          <a:xfrm>
            <a:off x="9779508" y="5065776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3" name="Plan action 2 ETA label"/>
          <p:cNvSpPr txBox="1"/>
          <p:nvPr/>
        </p:nvSpPr>
        <p:spPr>
          <a:xfrm>
            <a:off x="640080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44" name="Plan action 2 ETA"/>
          <p:cNvSpPr txBox="1"/>
          <p:nvPr/>
        </p:nvSpPr>
        <p:spPr>
          <a:xfrm>
            <a:off x="7095744" y="5468112"/>
            <a:ext cx="16962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45" name="Plan action 2 Follow-up KPI label"/>
          <p:cNvSpPr txBox="1"/>
          <p:nvPr/>
        </p:nvSpPr>
        <p:spPr>
          <a:xfrm>
            <a:off x="9084564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46" name="Plan action 2 Follow-up KPI"/>
          <p:cNvSpPr txBox="1"/>
          <p:nvPr/>
        </p:nvSpPr>
        <p:spPr>
          <a:xfrm>
            <a:off x="10300716" y="5468112"/>
            <a:ext cx="11750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Next check-in icon" descr="icon_next_check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9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5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პეტფუდი — შინაური ცხოველების კვებისა და ვეტერინარული მომსახურების ცენტრი · München / São Paulo Business Review</dc:title>
  <dc:subject>პეტფუდი — შინაური ცხოველების კვებისა და ვეტერინარული მომსახურების ცენტრი · München / São Paulo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
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73" r:id="rId24"/>
    <p:sldId id="274" r:id="rId25"/>
    <p:sldId id="287" r:id="rId1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9.853658536585366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40.43541788722749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56604325339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0.2058252427184466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0.039466666666666664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6757281553398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0.6195671753333872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775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-0.14700848400636213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-0.09925293489861264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-0.053017712694266916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4102545201908636"/>
          <c:min val="-0.1734700111275073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2020.0</c:v>
                </c:pt>
                <c:pt idx="2">
                  <c:v>2020.0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205.0</c:v>
                </c:pt>
                <c:pt idx="2">
                  <c:v>205.0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1030.0</c:v>
                </c:pt>
                <c:pt idx="2">
                  <c:v>1030.0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0.2058252427184466</c:v>
                </c:pt>
                <c:pt idx="2">
                  <c:v>0.2058252427184466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0.07772020725388601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10362694300518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0.024390243902439025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0.08393782383419689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091191709844559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"UNCLASSIFIED", "Action Reason": "", "Supporting Rule Matches": [], "Primary Action KPI": "None", "Likely Operational Driver": "Not assessed; review lifecycle / data evidence", "Operational/Data State": ["DATA_REVIEW"]}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["COMPLETE", "HYGIENE_REVIEW"]}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€34,127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14.7%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9.9%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5.3%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16368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1361353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72719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14.7%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basket size declined vs previous month.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0.2 pp to 3.9%.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FLOWERS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FLOWERS GMV changed +7.5%, while orders changed +9.3%.</a:t>
            </a:r>
          </a:p>
        </p:txBody>
      </p:sp>
      <p:pic>
        <p:nvPicPr>
          <p:cNvPr id="8" name="Picture 7" descr="sbu_flow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€9.85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75.6% worse than FLOWERS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3.9%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16.6 pp better than FLOWERS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62.0%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5.5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 FLOWERS uptime is opening-hours hygiene, excluded from business Priority.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FLOWERS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FLOWERS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-14.7%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-9.9%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-5.3%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FLOWERS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FLOWERS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FLOWERS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Share comparisons involving incomplete store coverage are not comparable.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€2,020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1,030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20.6%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16.6 pp above FLOWERS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16.6 pp above FLOWERS benchmark.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FLOWERS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27.5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Benchmark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MoM: Not comparable — incomplete store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6.0 pp better than FLOWERS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Observed Uptime is treated as opening-hours configuration hygiene and does not increase business priority. Lower is better for PNA and Cancels. Uptime coverage: 2/2 operating stores. Missing current store records: 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67.5%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7.8%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8.4%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Data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Growth Potential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Opening-hours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€2,020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 FLOWERS: hygiene only; excluded from business Priority.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Store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Raw totals are retained. Incomplete-period growth comparisons are suppressed.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July 2026 · Partial Store Coverage · Expected 2 · Present 0 · Missing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Missing: Pet supplies branch A, Rustaveli Avenue 15 | Pet supplies branch E, Rustaveli Avenue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65734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Gap not assessed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-5.9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25512" y="2345436"/>
            <a:ext cx="30152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At Target · +0.0 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Leading known issue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known KPI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known exposure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4626864"/>
            <a:ext cx="48920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0">
                <a:solidFill>
                  <a:srgbClr val="232323"/>
                </a:solidFill>
                <a:latin typeface="Montserrat"/>
              </a:defRPr>
            </a:pPr>
            <a:r>
              <a:t>PNA · Rate unavailable / not assessed · n=400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n=400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983479"/>
            <a:ext cx="183772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Leading known issue trend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Assessment incomplete — review evidence before selecting a business action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Unavailable metrics: PNA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Required data review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incomplete assessment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Evidence: Unavailable metrics: PNA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UNCLASSIFIED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3.9%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+36.1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584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7.8%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-7.8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8.4%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-8.4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-55.0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679191"/>
            <a:ext cx="24323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70" b="1">
                <a:solidFill>
                  <a:srgbClr val="6E6E6E"/>
                </a:solidFill>
                <a:latin typeface="Montserrat"/>
              </a:defRPr>
            </a:pPr>
            <a:r>
              <a:t>Hygiene only — excluded from business Priority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17% · n=30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867912" y="4453127"/>
            <a:ext cx="31394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25% · n=10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867912" y="4718303"/>
            <a:ext cx="470916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50% · n=10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867912" y="4983479"/>
            <a:ext cx="9418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Uptime 40.0% · uptime observation (hygiene only)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A, Rustaveli Avenue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02336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Data quality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Missing scoring evidence: PNA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Reconcile current activity, lifecycle, missing inputs and benchmark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493008"/>
            <a:ext cx="3017520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 supplies branch E, Rustaveli Avenue 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opening_h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Opening-hours hygiene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Observed uptime 40.0%; verify configured opening hours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Verify and correct configured store opening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1115568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Historical periods have Partial Store Coverage · See coverage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
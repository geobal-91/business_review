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1" r:id="rId22"/>
    <p:sldId id="260" r:id="rId11"/>
    <p:sldId id="282" r:id="rId21"/>
    <p:sldId id="261" r:id="rId12"/>
    <p:sldId id="283" r:id="rId20"/>
    <p:sldId id="266" r:id="rId17"/>
    <p:sldId id="268" r:id="rId19"/>
    <p:sldId id="278" r:id="rId30"/>
    <p:sldId id="284" r:id="rId18"/>
    <p:sldId id="285" r:id="rId16"/>
    <p:sldId id="273" r:id="rId24"/>
    <p:sldId id="286" r:id="rId15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8.xml"/><Relationship Id="rId15" Type="http://schemas.openxmlformats.org/officeDocument/2006/relationships/slide" Target="slides/slide23.xml"/><Relationship Id="rId16" Type="http://schemas.openxmlformats.org/officeDocument/2006/relationships/slide" Target="slides/slide22.xml"/><Relationship Id="rId17" Type="http://schemas.openxmlformats.org/officeDocument/2006/relationships/slide" Target="slides/slide10.xml"/><Relationship Id="rId18" Type="http://schemas.openxmlformats.org/officeDocument/2006/relationships/slide" Target="slides/slide21.xml"/><Relationship Id="rId19" Type="http://schemas.openxmlformats.org/officeDocument/2006/relationships/slide" Target="slides/slide11.xml"/><Relationship Id="rId20" Type="http://schemas.openxmlformats.org/officeDocument/2006/relationships/slide" Target="slides/slide9.xml"/><Relationship Id="rId21" Type="http://schemas.openxmlformats.org/officeDocument/2006/relationships/slide" Target="slides/slide7.xml"/><Relationship Id="rId22" Type="http://schemas.openxmlformats.org/officeDocument/2006/relationships/slide" Target="slides/slide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notesMaster" Target="notesMasters/notesMaster1.xml"/><Relationship Id="rId30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16.710824014275204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.72407121855776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0.2640490936985056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43263821808057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0.9130246652046374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86932064766028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98451257027686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3295852339026201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-1.0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0.05342537960078331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694529934810183"/>
          <c:min val="-1.189616568328141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-1.0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0.03524329240563895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694529934810183"/>
          <c:min val="-1.189616568328141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0.017563105531351875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694529934810183"/>
          <c:min val="-1.189616568328141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May 26</c:v>
                </c:pt>
                <c:pt idx="1">
                  <c:v>Jun 26</c:v>
                </c:pt>
                <c:pt idx="2">
                  <c:v>Jul 26</c:v>
                </c:pt>
                <c:pt idx="3">
                  <c:v>Aug 26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2000.0</c:v>
                </c:pt>
                <c:pt idx="1">
                  <c:v>0.0</c:v>
                </c:pt>
                <c:pt idx="2">
                  <c:v>2000.0</c:v>
                </c:pt>
                <c:pt idx="3">
                  <c:v>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May 26</c:v>
                </c:pt>
                <c:pt idx="1">
                  <c:v>Jun 26</c:v>
                </c:pt>
                <c:pt idx="2">
                  <c:v>Jul 26</c:v>
                </c:pt>
                <c:pt idx="3">
                  <c:v>Aug 26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200.0</c:v>
                </c:pt>
                <c:pt idx="1">
                  <c:v>0.0</c:v>
                </c:pt>
                <c:pt idx="2">
                  <c:v>200.0</c:v>
                </c:pt>
                <c:pt idx="3">
                  <c:v>0.0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May 26</c:v>
                </c:pt>
                <c:pt idx="1">
                  <c:v>Jun 26</c:v>
                </c:pt>
                <c:pt idx="2">
                  <c:v>Jul 26</c:v>
                </c:pt>
                <c:pt idx="3">
                  <c:v>Aug 26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1000.0</c:v>
                </c:pt>
                <c:pt idx="1">
                  <c:v>0.0</c:v>
                </c:pt>
                <c:pt idx="2">
                  <c:v>1000.0</c:v>
                </c:pt>
                <c:pt idx="3">
                  <c:v>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May 26</c:v>
                </c:pt>
                <c:pt idx="1">
                  <c:v>Jun 26</c:v>
                </c:pt>
                <c:pt idx="2">
                  <c:v>Jul 26</c:v>
                </c:pt>
                <c:pt idx="3">
                  <c:v>Aug 26</c:v>
                </c:pt>
              </c:strCache>
            </c:strRef>
          </c:cat>
          <c:val>
            <c:numRef>
              <c:f>Sheet1!$C$2:$C$5</c:f>
              <c:numCache>
                <c:formatCode>0.0%</c:formatCode>
                <c:ptCount val="4"/>
                <c:pt idx="0">
                  <c:v>0.2</c:v>
                </c:pt>
                <c:pt idx="2">
                  <c:v>0.2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349999999999999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98451257027686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3295852339026201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"UNCLASSIFIED", "Action Reason": "", "Supporting Rule Matches": [], "Primary Action KPI": "None", "Likely Operational Driver": "Not assessed; review lifecycle / data evidence", "Operational/Data State": ["NO_ACTIVITY"]}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"UNCLASSIFIED", "Action Reason": "", "Supporting Rule Matches": [], "Primary Action KPI": "None", "Likely Operational Driver": "Not assessed; review lifecycle / data evidence", "Operational/Data State": ["CLOSED"]}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ver teal rail"/>
          <p:cNvSpPr/>
          <p:nvPr/>
        </p:nvSpPr>
        <p:spPr>
          <a:xfrm>
            <a:off x="0" y="0"/>
            <a:ext cx="1613916" cy="6858000"/>
          </a:xfrm>
          <a:prstGeom prst="rect">
            <a:avLst/>
          </a:prstGeom>
          <a:gradFill rotWithShape="1">
            <a:gsLst>
              <a:gs pos="0">
                <a:srgbClr val="00A587"/>
              </a:gs>
              <a:gs pos="100000">
                <a:srgbClr val="00B798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ver yellow accent"/>
          <p:cNvSpPr/>
          <p:nvPr/>
        </p:nvSpPr>
        <p:spPr>
          <a:xfrm>
            <a:off x="1508760" y="2368296"/>
            <a:ext cx="214884" cy="1399032"/>
          </a:xfrm>
          <a:prstGeom prst="rect">
            <a:avLst/>
          </a:prstGeom>
          <a:solidFill>
            <a:srgbClr val="FFD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esentation identity title"/>
          <p:cNvSpPr txBox="1"/>
          <p:nvPr/>
        </p:nvSpPr>
        <p:spPr>
          <a:xfrm>
            <a:off x="2020824" y="2423160"/>
            <a:ext cx="7635240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4400" b="1">
                <a:solidFill>
                  <a:srgbClr val="232323"/>
                </a:solidFill>
                <a:latin typeface="Montserrat"/>
              </a:defRPr>
            </a:pPr>
            <a:r>
              <a:t>PetFood</a:t>
            </a:r>
          </a:p>
        </p:txBody>
      </p:sp>
      <p:sp>
        <p:nvSpPr>
          <p:cNvPr id="5" name="Cover review heading"/>
          <p:cNvSpPr txBox="1"/>
          <p:nvPr/>
        </p:nvSpPr>
        <p:spPr>
          <a:xfrm>
            <a:off x="2020824" y="3191256"/>
            <a:ext cx="763524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3400" b="0">
                <a:solidFill>
                  <a:srgbClr val="232323"/>
                </a:solidFill>
                <a:latin typeface="Montserrat"/>
              </a:defRPr>
            </a:pPr>
            <a:r>
              <a:t>Business Review</a:t>
            </a:r>
          </a:p>
        </p:txBody>
      </p:sp>
      <p:sp>
        <p:nvSpPr>
          <p:cNvPr id="6" name="Cover reporting period"/>
          <p:cNvSpPr txBox="1"/>
          <p:nvPr/>
        </p:nvSpPr>
        <p:spPr>
          <a:xfrm>
            <a:off x="2020824" y="4297680"/>
            <a:ext cx="76352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2000" b="0">
                <a:solidFill>
                  <a:srgbClr val="232323"/>
                </a:solidFill>
                <a:latin typeface="Montserrat"/>
              </a:defRPr>
            </a:pPr>
            <a:r>
              <a:t>August 2026</a:t>
            </a:r>
          </a:p>
        </p:txBody>
      </p:sp>
      <p:pic>
        <p:nvPicPr>
          <p:cNvPr id="7" name="Bookend Glovo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1" y="676656"/>
            <a:ext cx="1865376" cy="611843"/>
          </a:xfrm>
          <a:prstGeom prst="rect">
            <a:avLst/>
          </a:prstGeom>
        </p:spPr>
      </p:pic>
      <p:sp>
        <p:nvSpPr>
          <p:cNvPr id="8" name="Cover logo divider"/>
          <p:cNvSpPr/>
          <p:nvPr/>
        </p:nvSpPr>
        <p:spPr>
          <a:xfrm>
            <a:off x="10341864" y="877824"/>
            <a:ext cx="7315" cy="356616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Cover uploaded partner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901598"/>
            <a:ext cx="914400" cy="299923"/>
          </a:xfrm>
          <a:prstGeom prst="rect">
            <a:avLst/>
          </a:prstGeom>
        </p:spPr>
      </p:pic>
      <p:sp>
        <p:nvSpPr>
          <p:cNvPr id="10" name="Cover SBU"/>
          <p:cNvSpPr txBox="1"/>
          <p:nvPr/>
        </p:nvSpPr>
        <p:spPr>
          <a:xfrm>
            <a:off x="6675120" y="6236208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defRPr sz="1400" b="0">
                <a:solidFill>
                  <a:srgbClr val="232323"/>
                </a:solidFill>
                <a:latin typeface="Montserrat"/>
              </a:defRPr>
            </a:pPr>
            <a:r>
              <a:t>Sub-Business Unit: PETS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€152,169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5.3%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9,106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3.5%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1.8%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0.3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732782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483396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240895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increased 5.3%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Both order volume and average basket supported growth.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improved by 0.3 pp to 26.4%.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PETS GMV changed +100.4%, while orders changed +73.2%.</a:t>
            </a:r>
          </a:p>
        </p:txBody>
      </p:sp>
      <p:pic>
        <p:nvPicPr>
          <p:cNvPr id="8" name="Picture 7" descr="sbu_p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90.0%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1.3 pp worse than PETS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1.3 pp worse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-100.0%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01168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-105.3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-100.0%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7889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-103.5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-100.0%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-105.3 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-100.0%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-103.5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Share of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PETS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PETS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1.4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7200000" cy="4206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Partner lost 1.38 pp of PETS GMV share vs previous month.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82496"/>
          <a:ext cx="5852160" cy="1947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87952"/>
          <a:ext cx="5852160" cy="19476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Meeting KPI GMV 0"/>
          <p:cNvSpPr/>
          <p:nvPr/>
        </p:nvSpPr>
        <p:spPr>
          <a:xfrm>
            <a:off x="681228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eting KPI GMV 1"/>
          <p:cNvSpPr txBox="1"/>
          <p:nvPr/>
        </p:nvSpPr>
        <p:spPr>
          <a:xfrm>
            <a:off x="6995160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1" name="Meeting KPI GMV 2"/>
          <p:cNvSpPr txBox="1"/>
          <p:nvPr/>
        </p:nvSpPr>
        <p:spPr>
          <a:xfrm>
            <a:off x="6995160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€0</a:t>
            </a:r>
          </a:p>
        </p:txBody>
      </p:sp>
      <p:sp>
        <p:nvSpPr>
          <p:cNvPr id="12" name="Meeting KPI GMV 3"/>
          <p:cNvSpPr txBox="1"/>
          <p:nvPr/>
        </p:nvSpPr>
        <p:spPr>
          <a:xfrm>
            <a:off x="6995160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100.0% vs prev. month</a:t>
            </a:r>
          </a:p>
        </p:txBody>
      </p:sp>
      <p:sp>
        <p:nvSpPr>
          <p:cNvPr id="13" name="Meeting KPI Orders 0"/>
          <p:cNvSpPr/>
          <p:nvPr/>
        </p:nvSpPr>
        <p:spPr>
          <a:xfrm>
            <a:off x="946404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eting KPI Orders 1"/>
          <p:cNvSpPr txBox="1"/>
          <p:nvPr/>
        </p:nvSpPr>
        <p:spPr>
          <a:xfrm>
            <a:off x="9646919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5" name="Meeting KPI Orders 2"/>
          <p:cNvSpPr txBox="1"/>
          <p:nvPr/>
        </p:nvSpPr>
        <p:spPr>
          <a:xfrm>
            <a:off x="9646919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16" name="Meeting KPI Orders 3"/>
          <p:cNvSpPr txBox="1"/>
          <p:nvPr/>
        </p:nvSpPr>
        <p:spPr>
          <a:xfrm>
            <a:off x="9646919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100.0% vs prev. month</a:t>
            </a:r>
          </a:p>
        </p:txBody>
      </p:sp>
      <p:sp>
        <p:nvSpPr>
          <p:cNvPr id="17" name="Meeting KPI Partner Sessions 0"/>
          <p:cNvSpPr/>
          <p:nvPr/>
        </p:nvSpPr>
        <p:spPr>
          <a:xfrm>
            <a:off x="681228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eting KPI Partner Sessions 1"/>
          <p:cNvSpPr txBox="1"/>
          <p:nvPr/>
        </p:nvSpPr>
        <p:spPr>
          <a:xfrm>
            <a:off x="6995160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Sessions</a:t>
            </a:r>
          </a:p>
        </p:txBody>
      </p:sp>
      <p:sp>
        <p:nvSpPr>
          <p:cNvPr id="19" name="Meeting KPI Partner Sessions 2"/>
          <p:cNvSpPr txBox="1"/>
          <p:nvPr/>
        </p:nvSpPr>
        <p:spPr>
          <a:xfrm>
            <a:off x="6995160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20" name="Meeting KPI Partner Sessions 3"/>
          <p:cNvSpPr txBox="1"/>
          <p:nvPr/>
        </p:nvSpPr>
        <p:spPr>
          <a:xfrm>
            <a:off x="6995160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100.0% vs prev. month</a:t>
            </a:r>
          </a:p>
        </p:txBody>
      </p:sp>
      <p:sp>
        <p:nvSpPr>
          <p:cNvPr id="21" name="Meeting KPI Partner CVR 0"/>
          <p:cNvSpPr/>
          <p:nvPr/>
        </p:nvSpPr>
        <p:spPr>
          <a:xfrm>
            <a:off x="946404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eting KPI Partner CVR 1"/>
          <p:cNvSpPr txBox="1"/>
          <p:nvPr/>
        </p:nvSpPr>
        <p:spPr>
          <a:xfrm>
            <a:off x="9646919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3" name="Meeting KPI Partner CVR 2"/>
          <p:cNvSpPr txBox="1"/>
          <p:nvPr/>
        </p:nvSpPr>
        <p:spPr>
          <a:xfrm>
            <a:off x="9646919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4" name="Meeting KPI Partner CVR 3"/>
          <p:cNvSpPr txBox="1"/>
          <p:nvPr/>
        </p:nvSpPr>
        <p:spPr>
          <a:xfrm>
            <a:off x="9646919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5" name="Meeting KPI Partner CVR 4"/>
          <p:cNvSpPr txBox="1"/>
          <p:nvPr/>
        </p:nvSpPr>
        <p:spPr>
          <a:xfrm>
            <a:off x="9646919" y="523036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26" name="Meeting interpretation top 0"/>
          <p:cNvSpPr txBox="1"/>
          <p:nvPr/>
        </p:nvSpPr>
        <p:spPr>
          <a:xfrm>
            <a:off x="6812280" y="327355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GMV changed -100.0% vs previous month.</a:t>
            </a:r>
          </a:p>
        </p:txBody>
      </p:sp>
      <p:sp>
        <p:nvSpPr>
          <p:cNvPr id="27" name="Meeting interpretation conversion"/>
          <p:cNvSpPr txBox="1"/>
          <p:nvPr/>
        </p:nvSpPr>
        <p:spPr>
          <a:xfrm>
            <a:off x="6812280" y="5843016"/>
            <a:ext cx="49834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Partner CVR: Benchmark unavailable.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419088"/>
            <a:ext cx="106527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Missing months / measurements are blank. Lines break at missing values.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PETS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90.0%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42.5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5.0 pp worse than 95%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Lower is better for PNA and Cancels. Green indicates improvement; red indicates deterioration. Uptime coverage: 1/1 operating store. Missing current store records: 0.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90.0%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0">
                <a:solidFill>
                  <a:srgbClr val="232323"/>
                </a:solidFill>
                <a:latin typeface="Montserrat"/>
              </a:defRPr>
            </a:pPr>
            <a:r>
              <a:t>No positive-GMV stores available for the current period.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13" name="Picture 12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869680" y="3813048"/>
            <a:ext cx="248716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00A082"/>
                </a:solidFill>
                <a:latin typeface="Montserrat"/>
              </a:defRPr>
            </a:pPr>
            <a:r>
              <a:t>0 stores displayed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4608576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No positive-GMV stores available for the current period.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D6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hank You decorative visual" descr="Thank_You.png"/>
          <p:cNvPicPr>
            <a:picLocks noChangeAspect="1"/>
          </p:cNvPicPr>
          <p:nvPr/>
        </p:nvPicPr>
        <p:blipFill>
          <a:blip r:embed="rId3">
            <a:duotone>
              <a:srgbClr val="FFFFFF"/>
              <a:srgbClr val="FFFFFF"/>
            </a:duotone>
            <a:alphaModFix amt="26000"/>
          </a:blip>
          <a:stretch>
            <a:fillRect/>
          </a:stretch>
        </p:blipFill>
        <p:spPr>
          <a:xfrm>
            <a:off x="1904695" y="0"/>
            <a:ext cx="10287000" cy="6858000"/>
          </a:xfrm>
          <a:prstGeom prst="rect">
            <a:avLst/>
          </a:prstGeom>
        </p:spPr>
      </p:pic>
      <p:sp>
        <p:nvSpPr>
          <p:cNvPr id="3" name="Closing main heading"/>
          <p:cNvSpPr txBox="1"/>
          <p:nvPr/>
        </p:nvSpPr>
        <p:spPr>
          <a:xfrm>
            <a:off x="1325880" y="2295144"/>
            <a:ext cx="68580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5000" b="1">
                <a:solidFill>
                  <a:srgbClr val="00A082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4" name="Closing second heading"/>
          <p:cNvSpPr txBox="1"/>
          <p:nvPr/>
        </p:nvSpPr>
        <p:spPr>
          <a:xfrm>
            <a:off x="1325880" y="3099816"/>
            <a:ext cx="6858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3000" b="0">
                <a:solidFill>
                  <a:srgbClr val="232323"/>
                </a:solidFill>
                <a:latin typeface="Montserrat"/>
              </a:defRPr>
            </a:pPr>
            <a:r>
              <a:t>For Your Partnership</a:t>
            </a:r>
          </a:p>
        </p:txBody>
      </p:sp>
      <p:sp>
        <p:nvSpPr>
          <p:cNvPr id="5" name="Closing message"/>
          <p:cNvSpPr txBox="1"/>
          <p:nvPr/>
        </p:nvSpPr>
        <p:spPr>
          <a:xfrm>
            <a:off x="1325880" y="4306824"/>
            <a:ext cx="713232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2000" b="0">
                <a:solidFill>
                  <a:srgbClr val="232323"/>
                </a:solidFill>
                <a:latin typeface="Montserrat"/>
              </a:defRPr>
            </a:pPr>
            <a:r>
              <a:t>Let’s Turn The Agreed Actions</a:t>
            </a:r>
            <a:br/>
            <a:r>
              <a:t>Into Measurable Progress</a:t>
            </a:r>
          </a:p>
        </p:txBody>
      </p:sp>
      <p:sp>
        <p:nvSpPr>
          <p:cNvPr id="6" name="Closing period pill"/>
          <p:cNvSpPr/>
          <p:nvPr/>
        </p:nvSpPr>
        <p:spPr>
          <a:xfrm>
            <a:off x="1325880" y="5724144"/>
            <a:ext cx="1901952" cy="402336"/>
          </a:xfrm>
          <a:prstGeom prst="roundRect">
            <a:avLst>
              <a:gd name="adj" fmla="val 50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losing reporting period"/>
          <p:cNvSpPr txBox="1"/>
          <p:nvPr/>
        </p:nvSpPr>
        <p:spPr>
          <a:xfrm>
            <a:off x="1371600" y="5751576"/>
            <a:ext cx="181051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defRPr sz="1700" b="0">
                <a:solidFill>
                  <a:srgbClr val="FFFFFF"/>
                </a:solidFill>
                <a:latin typeface="Montserrat"/>
              </a:defRPr>
            </a:pPr>
            <a:r>
              <a:t>August 2026</a:t>
            </a:r>
          </a:p>
        </p:txBody>
      </p:sp>
      <p:pic>
        <p:nvPicPr>
          <p:cNvPr id="8" name="Bookend Glovo logo" descr="image.png"/>
          <p:cNvPicPr>
            <a:picLocks noChangeAspect="1"/>
          </p:cNvPicPr>
          <p:nvPr/>
        </p:nvPicPr>
        <p:blipFill>
          <a:blip r:embed="rId4">
            <a:clrChange useA="1">
              <a:clrFrom>
                <a:srgbClr val="F1CC37"/>
              </a:clrFrom>
              <a:clrTo>
                <a:srgbClr val="FFFFFF"/>
              </a:clrTo>
            </a:clrChange>
          </a:blip>
          <a:stretch>
            <a:fillRect/>
          </a:stretch>
        </p:blipFill>
        <p:spPr>
          <a:xfrm>
            <a:off x="8193024" y="1078992"/>
            <a:ext cx="1828800" cy="59984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2 stores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მაღაზია — Store Activity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NO ACTIVITY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NOT APPLICABLE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Lifecycle state · reference only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Lifecycle state · reference only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Lifecycle state · reference only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90.0%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Lifecycle state · reference only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305288" y="2345436"/>
            <a:ext cx="959088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NO ROUTINE RECOVERY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Lifecycle state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 Activity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 assessed exposure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4361688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CVR · Rate unavailable / not assessed · n=0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" y="4626864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PNA · Rate unavailable / not assessed · n=0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" y="4892040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Cancels · Rate unavailable / not assessed · n=0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E6E6E"/>
                </a:solidFill>
                <a:latin typeface="Montserrat"/>
              </a:defRPr>
            </a:pPr>
            <a:r>
              <a:t>Lifecycle / activity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No sessions, order attempts or deliveries in reporting month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Lifecycle / activity action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store activity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UNCLASSIFIED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Closure verification 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CLOSED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NOT APPLICABLE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Lifecycle state · reference only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Lifecycle state · reference only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Lifecycle state · reference only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Lifecycle state · reference only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NO ROUTINE RECOVERY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Lifecycle state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Closed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 assessed exposure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" y="4361688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CVR · Rate unavailable / not assessed · n=0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4626864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PNA · Rate unavailable / not assessed · n=0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" y="4892040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Cancels · Rate unavailable / not assessed · n=0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E6E6E"/>
                </a:solidFill>
                <a:latin typeface="Montserrat"/>
              </a:defRPr>
            </a:pPr>
            <a:r>
              <a:t>Lifecycle / activity evidence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Inferred closed: 3 consecutive zero-uptime months after operating history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Lifecycle / activity action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Confirm closure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UNCLASSIFIED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49011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48840"/>
            <a:ext cx="7086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232323"/>
                </a:solidFill>
                <a:latin typeface="Montserrat"/>
              </a:defRPr>
            </a:pPr>
            <a:r>
              <a:t>No stores classified ACTION</a:t>
            </a:r>
            <a:br/>
            <a:r>
              <a:t>under the current V2.1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657600"/>
            <a:ext cx="7086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6E6E6E"/>
                </a:solidFill>
                <a:latin typeface="Montserrat"/>
              </a:defRPr>
            </a:pPr>
            <a:r>
              <a:t>MONITOR, HEALTHY and UNCLASSIFIED remain separate.</a:t>
            </a:r>
            <a:br/>
            <a:r>
              <a:t>Review operational/data observations and Appendix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06256" y="1865376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06256" y="223113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23113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6256" y="249631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249631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6256" y="2761488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276148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</a:t>
            </a:r>
          </a:p>
        </p:txBody>
      </p:sp>
      <p:pic>
        <p:nvPicPr>
          <p:cNvPr id="7" name="Review summary items to review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50" y="1496872"/>
            <a:ext cx="310896" cy="310896"/>
          </a:xfrm>
          <a:prstGeom prst="rect">
            <a:avLst/>
          </a:prstGeom>
        </p:spPr>
      </p:pic>
      <p:sp>
        <p:nvSpPr>
          <p:cNvPr id="8" name="Review summary label"/>
          <p:cNvSpPr txBox="1"/>
          <p:nvPr/>
        </p:nvSpPr>
        <p:spPr>
          <a:xfrm>
            <a:off x="1387510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9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</a:t>
            </a:r>
          </a:p>
        </p:txBody>
      </p:sp>
      <p:pic>
        <p:nvPicPr>
          <p:cNvPr id="10" name="Review summary stores affected icon" descr="icon_store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268" y="1496872"/>
            <a:ext cx="310896" cy="310896"/>
          </a:xfrm>
          <a:prstGeom prst="rect">
            <a:avLst/>
          </a:prstGeom>
        </p:spPr>
      </p:pic>
      <p:sp>
        <p:nvSpPr>
          <p:cNvPr id="11" name="Review summary label"/>
          <p:cNvSpPr txBox="1"/>
          <p:nvPr/>
        </p:nvSpPr>
        <p:spPr>
          <a:xfrm>
            <a:off x="507802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2" name="Review summary critical observations"/>
          <p:cNvSpPr txBox="1"/>
          <p:nvPr/>
        </p:nvSpPr>
        <p:spPr>
          <a:xfrm>
            <a:off x="8129016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pic>
        <p:nvPicPr>
          <p:cNvPr id="13" name="Review summary critical observations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238" y="1496872"/>
            <a:ext cx="310896" cy="310896"/>
          </a:xfrm>
          <a:prstGeom prst="rect">
            <a:avLst/>
          </a:prstGeom>
        </p:spPr>
      </p:pic>
      <p:sp>
        <p:nvSpPr>
          <p:cNvPr id="14" name="Review summary label"/>
          <p:cNvSpPr txBox="1"/>
          <p:nvPr/>
        </p:nvSpPr>
        <p:spPr>
          <a:xfrm>
            <a:off x="872099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5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6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7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8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view 0 store"/>
          <p:cNvSpPr txBox="1"/>
          <p:nvPr/>
        </p:nvSpPr>
        <p:spPr>
          <a:xfrm>
            <a:off x="813816" y="2514600"/>
            <a:ext cx="3017520" cy="2103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მაღაზია — Store Activity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13632" y="2523744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Review 0 icon" descr="icon_store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1063" y="2560320"/>
            <a:ext cx="256032" cy="256032"/>
          </a:xfrm>
          <a:prstGeom prst="rect">
            <a:avLst/>
          </a:prstGeom>
        </p:spPr>
      </p:pic>
      <p:sp>
        <p:nvSpPr>
          <p:cNvPr id="24" name="Review 0 type"/>
          <p:cNvSpPr txBox="1"/>
          <p:nvPr/>
        </p:nvSpPr>
        <p:spPr>
          <a:xfrm>
            <a:off x="4251960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Activity review</a:t>
            </a:r>
          </a:p>
        </p:txBody>
      </p:sp>
      <p:sp>
        <p:nvSpPr>
          <p:cNvPr id="25" name="Review 0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No sessions, order attempts or deliveries in reporting month</a:t>
            </a:r>
          </a:p>
        </p:txBody>
      </p:sp>
      <p:sp>
        <p:nvSpPr>
          <p:cNvPr id="26" name="Review 0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Confirm listing status and investigate absent demand or order activity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346704"/>
            <a:ext cx="10991088" cy="9052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4360" y="3383280"/>
            <a:ext cx="41148" cy="832104"/>
          </a:xfrm>
          <a:prstGeom prst="roundRect">
            <a:avLst>
              <a:gd name="adj" fmla="val 8000"/>
            </a:avLst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view 1 store"/>
          <p:cNvSpPr txBox="1"/>
          <p:nvPr/>
        </p:nvSpPr>
        <p:spPr>
          <a:xfrm>
            <a:off x="813816" y="3493008"/>
            <a:ext cx="3017520" cy="2103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Closure verification location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13632" y="3502152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Review 1 icon" descr="icon_store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1063" y="3538728"/>
            <a:ext cx="256032" cy="256032"/>
          </a:xfrm>
          <a:prstGeom prst="rect">
            <a:avLst/>
          </a:prstGeom>
        </p:spPr>
      </p:pic>
      <p:sp>
        <p:nvSpPr>
          <p:cNvPr id="32" name="Review 1 type"/>
          <p:cNvSpPr txBox="1"/>
          <p:nvPr/>
        </p:nvSpPr>
        <p:spPr>
          <a:xfrm>
            <a:off x="4251960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Closure verification</a:t>
            </a:r>
          </a:p>
        </p:txBody>
      </p:sp>
      <p:sp>
        <p:nvSpPr>
          <p:cNvPr id="33" name="Review 1 evidence"/>
          <p:cNvSpPr txBox="1"/>
          <p:nvPr/>
        </p:nvSpPr>
        <p:spPr>
          <a:xfrm>
            <a:off x="5577840" y="3493008"/>
            <a:ext cx="23591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Inferred closed: 3 consecutive zero-uptime months after operating history</a:t>
            </a:r>
          </a:p>
        </p:txBody>
      </p:sp>
      <p:sp>
        <p:nvSpPr>
          <p:cNvPr id="34" name="Review 1 action"/>
          <p:cNvSpPr txBox="1"/>
          <p:nvPr/>
        </p:nvSpPr>
        <p:spPr>
          <a:xfrm>
            <a:off x="8147304" y="3493008"/>
            <a:ext cx="32186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Confirm lifecycle status before treating closure as permanent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Additional agreed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dditional action 1"/>
          <p:cNvSpPr txBox="1"/>
          <p:nvPr/>
        </p:nvSpPr>
        <p:spPr>
          <a:xfrm>
            <a:off x="77724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1</a:t>
            </a:r>
          </a:p>
        </p:txBody>
      </p:sp>
      <p:sp>
        <p:nvSpPr>
          <p:cNvPr id="7" name="Additional action 1Action / Topic label"/>
          <p:cNvSpPr txBox="1"/>
          <p:nvPr/>
        </p:nvSpPr>
        <p:spPr>
          <a:xfrm>
            <a:off x="77724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dditional action 1Action / Topic"/>
          <p:cNvSpPr txBox="1"/>
          <p:nvPr/>
        </p:nvSpPr>
        <p:spPr>
          <a:xfrm>
            <a:off x="85039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10" name="Additional action 1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27248"/>
            <a:ext cx="246888" cy="246888"/>
          </a:xfrm>
          <a:prstGeom prst="rect">
            <a:avLst/>
          </a:prstGeom>
        </p:spPr>
      </p:pic>
      <p:sp>
        <p:nvSpPr>
          <p:cNvPr id="11" name="Additional action 1Agreed Action label"/>
          <p:cNvSpPr txBox="1"/>
          <p:nvPr/>
        </p:nvSpPr>
        <p:spPr>
          <a:xfrm>
            <a:off x="108813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dditional action 1Agreed Action"/>
          <p:cNvSpPr txBox="1"/>
          <p:nvPr/>
        </p:nvSpPr>
        <p:spPr>
          <a:xfrm>
            <a:off x="85039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4" name="Additional action 1Owner label"/>
          <p:cNvSpPr txBox="1"/>
          <p:nvPr/>
        </p:nvSpPr>
        <p:spPr>
          <a:xfrm>
            <a:off x="77724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5" name="Additional action 1Owner"/>
          <p:cNvSpPr txBox="1"/>
          <p:nvPr/>
        </p:nvSpPr>
        <p:spPr>
          <a:xfrm>
            <a:off x="77724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6" name="Additional action 1Contact label"/>
          <p:cNvSpPr txBox="1"/>
          <p:nvPr/>
        </p:nvSpPr>
        <p:spPr>
          <a:xfrm>
            <a:off x="346100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17" name="Additional action 1Contact"/>
          <p:cNvSpPr txBox="1"/>
          <p:nvPr/>
        </p:nvSpPr>
        <p:spPr>
          <a:xfrm>
            <a:off x="346100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Additional action 1ETA label"/>
          <p:cNvSpPr txBox="1"/>
          <p:nvPr/>
        </p:nvSpPr>
        <p:spPr>
          <a:xfrm>
            <a:off x="77724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19" name="Additional action 1ETA"/>
          <p:cNvSpPr txBox="1"/>
          <p:nvPr/>
        </p:nvSpPr>
        <p:spPr>
          <a:xfrm>
            <a:off x="77724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Additional action 1Follow-up KPI label"/>
          <p:cNvSpPr txBox="1"/>
          <p:nvPr/>
        </p:nvSpPr>
        <p:spPr>
          <a:xfrm>
            <a:off x="346100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1" name="Additional action 1Follow-up KPI"/>
          <p:cNvSpPr txBox="1"/>
          <p:nvPr/>
        </p:nvSpPr>
        <p:spPr>
          <a:xfrm>
            <a:off x="346100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dditional action 2"/>
          <p:cNvSpPr txBox="1"/>
          <p:nvPr/>
        </p:nvSpPr>
        <p:spPr>
          <a:xfrm>
            <a:off x="640080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2</a:t>
            </a:r>
          </a:p>
        </p:txBody>
      </p:sp>
      <p:sp>
        <p:nvSpPr>
          <p:cNvPr id="24" name="Additional action 2Action / Topic label"/>
          <p:cNvSpPr txBox="1"/>
          <p:nvPr/>
        </p:nvSpPr>
        <p:spPr>
          <a:xfrm>
            <a:off x="640080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dditional action 2Action / Topic"/>
          <p:cNvSpPr txBox="1"/>
          <p:nvPr/>
        </p:nvSpPr>
        <p:spPr>
          <a:xfrm>
            <a:off x="647395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27" name="Additional action 2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127248"/>
            <a:ext cx="246888" cy="246888"/>
          </a:xfrm>
          <a:prstGeom prst="rect">
            <a:avLst/>
          </a:prstGeom>
        </p:spPr>
      </p:pic>
      <p:sp>
        <p:nvSpPr>
          <p:cNvPr id="28" name="Additional action 2Agreed Action label"/>
          <p:cNvSpPr txBox="1"/>
          <p:nvPr/>
        </p:nvSpPr>
        <p:spPr>
          <a:xfrm>
            <a:off x="671169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dditional action 2Agreed Action"/>
          <p:cNvSpPr txBox="1"/>
          <p:nvPr/>
        </p:nvSpPr>
        <p:spPr>
          <a:xfrm>
            <a:off x="647395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1" name="Additional action 2Owner label"/>
          <p:cNvSpPr txBox="1"/>
          <p:nvPr/>
        </p:nvSpPr>
        <p:spPr>
          <a:xfrm>
            <a:off x="640080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32" name="Additional action 2Owner"/>
          <p:cNvSpPr txBox="1"/>
          <p:nvPr/>
        </p:nvSpPr>
        <p:spPr>
          <a:xfrm>
            <a:off x="640080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3" name="Additional action 2Contact label"/>
          <p:cNvSpPr txBox="1"/>
          <p:nvPr/>
        </p:nvSpPr>
        <p:spPr>
          <a:xfrm>
            <a:off x="908456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34" name="Additional action 2Contact"/>
          <p:cNvSpPr txBox="1"/>
          <p:nvPr/>
        </p:nvSpPr>
        <p:spPr>
          <a:xfrm>
            <a:off x="908456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5" name="Additional action 2ETA label"/>
          <p:cNvSpPr txBox="1"/>
          <p:nvPr/>
        </p:nvSpPr>
        <p:spPr>
          <a:xfrm>
            <a:off x="640080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36" name="Additional action 2ETA"/>
          <p:cNvSpPr txBox="1"/>
          <p:nvPr/>
        </p:nvSpPr>
        <p:spPr>
          <a:xfrm>
            <a:off x="640080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7" name="Additional action 2Follow-up KPI label"/>
          <p:cNvSpPr txBox="1"/>
          <p:nvPr/>
        </p:nvSpPr>
        <p:spPr>
          <a:xfrm>
            <a:off x="908456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38" name="Additional action 2Follow-up KPI"/>
          <p:cNvSpPr txBox="1"/>
          <p:nvPr/>
        </p:nvSpPr>
        <p:spPr>
          <a:xfrm>
            <a:off x="908456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Next check-in icon" descr="icon_next_check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6217920"/>
            <a:ext cx="256032" cy="256032"/>
          </a:xfrm>
          <a:prstGeom prst="rect">
            <a:avLst/>
          </a:prstGeom>
        </p:spPr>
      </p:pic>
      <p:sp>
        <p:nvSpPr>
          <p:cNvPr id="41" name="Next check-in label"/>
          <p:cNvSpPr txBox="1"/>
          <p:nvPr/>
        </p:nvSpPr>
        <p:spPr>
          <a:xfrm>
            <a:off x="1097280" y="624535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42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PetFood Business Review</dc:title>
  <dc:subject>PetFood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
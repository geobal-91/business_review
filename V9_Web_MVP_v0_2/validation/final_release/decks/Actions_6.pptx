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99" r:id="rId33"/>
    <p:sldId id="260" r:id="rId11"/>
    <p:sldId id="300" r:id="rId23"/>
    <p:sldId id="261" r:id="rId12"/>
    <p:sldId id="301" r:id="rId22"/>
    <p:sldId id="266" r:id="rId17"/>
    <p:sldId id="268" r:id="rId19"/>
    <p:sldId id="292" r:id="rId44"/>
    <p:sldId id="302" r:id="rId21"/>
    <p:sldId id="303" r:id="rId20"/>
    <p:sldId id="304" r:id="rId18"/>
    <p:sldId id="305" r:id="rId16"/>
    <p:sldId id="306" r:id="rId15"/>
    <p:sldId id="307" r:id="rId14"/>
    <p:sldId id="308" r:id="rId13"/>
    <p:sldId id="309" r:id="rId51"/>
    <p:sldId id="278" r:id="rId29"/>
    <p:sldId id="279" r:id="rId30"/>
    <p:sldId id="310" r:id="rId52"/>
    <p:sldId id="311" r:id="rId53"/>
    <p:sldId id="312" r:id="rId54"/>
    <p:sldId id="313" r:id="rId55"/>
    <p:sldId id="280" r:id="rId31"/>
    <p:sldId id="281" r:id="rId32"/>
    <p:sldId id="298" r:id="rId50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6.xml"/><Relationship Id="rId12" Type="http://schemas.openxmlformats.org/officeDocument/2006/relationships/slide" Target="slides/slide8.xml"/><Relationship Id="rId13" Type="http://schemas.openxmlformats.org/officeDocument/2006/relationships/slide" Target="slides/slide43.xml"/><Relationship Id="rId14" Type="http://schemas.openxmlformats.org/officeDocument/2006/relationships/slide" Target="slides/slide42.xml"/><Relationship Id="rId15" Type="http://schemas.openxmlformats.org/officeDocument/2006/relationships/slide" Target="slides/slide41.xml"/><Relationship Id="rId16" Type="http://schemas.openxmlformats.org/officeDocument/2006/relationships/slide" Target="slides/slide40.xml"/><Relationship Id="rId17" Type="http://schemas.openxmlformats.org/officeDocument/2006/relationships/slide" Target="slides/slide10.xml"/><Relationship Id="rId18" Type="http://schemas.openxmlformats.org/officeDocument/2006/relationships/slide" Target="slides/slide39.xml"/><Relationship Id="rId19" Type="http://schemas.openxmlformats.org/officeDocument/2006/relationships/slide" Target="slides/slide11.xml"/><Relationship Id="rId20" Type="http://schemas.openxmlformats.org/officeDocument/2006/relationships/slide" Target="slides/slide38.xml"/><Relationship Id="rId21" Type="http://schemas.openxmlformats.org/officeDocument/2006/relationships/slide" Target="slides/slide37.xml"/><Relationship Id="rId22" Type="http://schemas.openxmlformats.org/officeDocument/2006/relationships/slide" Target="slides/slide9.xml"/><Relationship Id="rId23" Type="http://schemas.openxmlformats.org/officeDocument/2006/relationships/slide" Target="slides/slide7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5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notesMaster" Target="notesMasters/notesMaster1.xml"/><Relationship Id="rId44" Type="http://schemas.openxmlformats.org/officeDocument/2006/relationships/slide" Target="slides/slide12.xml"/><Relationship Id="rId50" Type="http://schemas.openxmlformats.org/officeDocument/2006/relationships/slide" Target="slides/slide27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€#,##0.00</c:formatCode>
                <c:ptCount val="2"/>
                <c:pt idx="0">
                  <c:v>32.32298136645963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€#,##0.00</c:formatCode>
                <c:ptCount val="2"/>
                <c:pt idx="1">
                  <c:v>16.710824014275204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2.01987577639752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0.03244107071514183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0.2640490936985056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343263821808057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0.76875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0.9130246652046374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1869320647660286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0.06141932746366819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7984512570276865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0.20748829953198128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0.025352710300201548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2697347893915757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0.05342537960078331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0.03524329240563895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0.017563105531351875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GMV (€)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26000.0</c:v>
                </c:pt>
                <c:pt idx="1">
                  <c:v>24000.0</c:v>
                </c:pt>
                <c:pt idx="2">
                  <c:v>26020.0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Orders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  <c:spPr>
              <a:solidFill>
                <a:srgbClr val="00A082"/>
              </a:solidFill>
              <a:ln>
                <a:solidFill>
                  <a:srgbClr val="00A082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Sheet1!$C$2:$C$4</c:f>
              <c:numCache>
                <c:formatCode>#,##0</c:formatCode>
                <c:ptCount val="3"/>
                <c:pt idx="0">
                  <c:v>800.0</c:v>
                </c:pt>
                <c:pt idx="1">
                  <c:v>600.0</c:v>
                </c:pt>
                <c:pt idx="2">
                  <c:v>805.0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#,##0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 Sessions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25000.0</c:v>
                </c:pt>
                <c:pt idx="1">
                  <c:v>24000.0</c:v>
                </c:pt>
                <c:pt idx="2">
                  <c:v>25030.0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Partner CVR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  <c:spPr>
              <a:solidFill>
                <a:srgbClr val="00A082"/>
              </a:solidFill>
              <a:ln>
                <a:solidFill>
                  <a:srgbClr val="00A082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Sheet1!$C$2:$C$4</c:f>
              <c:numCache>
                <c:formatCode>0.0%</c:formatCode>
                <c:ptCount val="3"/>
                <c:pt idx="0">
                  <c:v>0.032</c:v>
                </c:pt>
                <c:pt idx="1">
                  <c:v>0.025</c:v>
                </c:pt>
                <c:pt idx="2">
                  <c:v>0.03244107071514183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0%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0.76875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95% target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2349999999999999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0.06141932746366819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7984512570276865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0.20748829953198128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0.025352710300201548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2697347893915757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"MONITOR", "Action Reason": "", "Supporting Rule Matches": [], "Primary Action KPI": "Uptime", "Likely Operational Driver": "Store availability; investigate scheduling / execution",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"ACTION", "Action Reason": "BASE_PRIORITY", "Supporting Rule Matches": [], "Primary Action KPI": "PNA", "Likely Operational Driver": "Availability / stock synchronization; possible contributing factor",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"ACTION", "Action Reason": "BASE_PRIORITY", "Supporting Rule Matches": [], "Primary Action KPI": "PNA", "Likely Operational Driver": "Availability / stock synchronization; possible contributing factor",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"ACTION", "Action Reason": "BASE_PRIORITY", "Supporting Rule Matches": [], "Primary Action KPI": "PNA", "Likely Operational Driver": "Availability / stock synchronization; possible contributing factor",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"ACTION", "Action Reason": "BASE_PRIORITY", "Supporting Rule Matches": [], "Primary Action KPI": "PNA", "Likely Operational Driver": "Availability / stock synchronization; possible contributing factor",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"ACTION", "Action Reason": "BASE_PRIORITY", "Supporting Rule Matches": [], "Primary Action KPI": "PNA", "Likely Operational Driver": "Availability / stock synchronization; possible contributing factor",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"ACTION", "Action Reason": "BASE_PRIORITY", "Supporting Rule Matches": [], "Primary Action KPI": "PNA", "Likely Operational Driver": "Availability / stock synchronization; possible contributing factor",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"UNCLASSIFIED", "Action Reason": "", "Supporting Rule Matches": [], "Primary Action KPI": "CVR", "Likely Operational Driver": "Not assessed; review lifecycle / data evidence", "Operational/Data State": ["DATA_REVIEW"]}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"UNCLASSIFIED", "Action Reason": "", "Supporting Rule Matches": [], "Primary Action KPI": "None", "Likely Operational Driver": "Not assessed; review lifecycle / data evidence", "Operational/Data State": ["MISSING_CURRENT"]}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chart" Target="../charts/chart5.xml"/><Relationship Id="rId7" Type="http://schemas.openxmlformats.org/officeDocument/2006/relationships/notesSlide" Target="../notesSlides/notesSlide2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Relationship Id="rId4" Type="http://schemas.openxmlformats.org/officeDocument/2006/relationships/chart" Target="../charts/chart8.xml"/><Relationship Id="rId5" Type="http://schemas.openxmlformats.org/officeDocument/2006/relationships/notesSlide" Target="../notesSlides/notesSlide1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notesSlide" Target="../notesSlides/notesSlide1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1.xml"/><Relationship Id="rId4" Type="http://schemas.openxmlformats.org/officeDocument/2006/relationships/chart" Target="../charts/chart12.xml"/><Relationship Id="rId5" Type="http://schemas.openxmlformats.org/officeDocument/2006/relationships/chart" Target="../charts/char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8.png"/><Relationship Id="rId4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9.xml"/><Relationship Id="rId3" Type="http://schemas.openxmlformats.org/officeDocument/2006/relationships/slide" Target="slide30.xml"/><Relationship Id="rId4" Type="http://schemas.openxmlformats.org/officeDocument/2006/relationships/slide" Target="slide31.xml"/><Relationship Id="rId5" Type="http://schemas.openxmlformats.org/officeDocument/2006/relationships/slide" Target="slide32.xml"/><Relationship Id="rId6" Type="http://schemas.openxmlformats.org/officeDocument/2006/relationships/slide" Target="slide33.xml"/><Relationship Id="rId7" Type="http://schemas.openxmlformats.org/officeDocument/2006/relationships/slide" Target="slide34.xml"/><Relationship Id="rId8" Type="http://schemas.openxmlformats.org/officeDocument/2006/relationships/slide" Target="slide28.xml"/><Relationship Id="rId9" Type="http://schemas.openxmlformats.org/officeDocument/2006/relationships/slide" Target="slide35.xml"/><Relationship Id="rId10" Type="http://schemas.openxmlformats.org/officeDocument/2006/relationships/slide" Target="slide3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1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9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notesSlide" Target="../notesSlides/notesSlide3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notesSlide" Target="../notesSlides/notesSlide38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notesSlide" Target="../notesSlides/notesSlide39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notesSlide" Target="../notesSlides/notesSlide40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ver teal rail"/>
          <p:cNvSpPr/>
          <p:nvPr/>
        </p:nvSpPr>
        <p:spPr>
          <a:xfrm>
            <a:off x="0" y="0"/>
            <a:ext cx="1613916" cy="6858000"/>
          </a:xfrm>
          <a:prstGeom prst="rect">
            <a:avLst/>
          </a:prstGeom>
          <a:gradFill rotWithShape="1">
            <a:gsLst>
              <a:gs pos="0">
                <a:srgbClr val="00A587"/>
              </a:gs>
              <a:gs pos="100000">
                <a:srgbClr val="00B798"/>
              </a:gs>
            </a:gsLst>
            <a:lin scaled="0" ang="5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over yellow accent"/>
          <p:cNvSpPr/>
          <p:nvPr/>
        </p:nvSpPr>
        <p:spPr>
          <a:xfrm>
            <a:off x="1508760" y="2368296"/>
            <a:ext cx="214884" cy="1399032"/>
          </a:xfrm>
          <a:prstGeom prst="rect">
            <a:avLst/>
          </a:prstGeom>
          <a:solidFill>
            <a:srgbClr val="FFD6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resentation identity title"/>
          <p:cNvSpPr txBox="1"/>
          <p:nvPr/>
        </p:nvSpPr>
        <p:spPr>
          <a:xfrm>
            <a:off x="2020824" y="2423160"/>
            <a:ext cx="7635240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defRPr sz="4400" b="1">
                <a:solidFill>
                  <a:srgbClr val="232323"/>
                </a:solidFill>
                <a:latin typeface="Montserrat"/>
              </a:defRPr>
            </a:pPr>
            <a:r>
              <a:t>Invet Zoo</a:t>
            </a:r>
          </a:p>
        </p:txBody>
      </p:sp>
      <p:sp>
        <p:nvSpPr>
          <p:cNvPr id="5" name="Cover review heading"/>
          <p:cNvSpPr txBox="1"/>
          <p:nvPr/>
        </p:nvSpPr>
        <p:spPr>
          <a:xfrm>
            <a:off x="2020824" y="3191256"/>
            <a:ext cx="763524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defRPr sz="3400" b="0">
                <a:solidFill>
                  <a:srgbClr val="232323"/>
                </a:solidFill>
                <a:latin typeface="Montserrat"/>
              </a:defRPr>
            </a:pPr>
            <a:r>
              <a:t>Business Review</a:t>
            </a:r>
          </a:p>
        </p:txBody>
      </p:sp>
      <p:sp>
        <p:nvSpPr>
          <p:cNvPr id="6" name="Cover reporting period"/>
          <p:cNvSpPr txBox="1"/>
          <p:nvPr/>
        </p:nvSpPr>
        <p:spPr>
          <a:xfrm>
            <a:off x="2020824" y="4297680"/>
            <a:ext cx="763524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defRPr sz="2000" b="0">
                <a:solidFill>
                  <a:srgbClr val="232323"/>
                </a:solidFill>
                <a:latin typeface="Montserrat"/>
              </a:defRPr>
            </a:pPr>
            <a:r>
              <a:t>August 2026</a:t>
            </a:r>
          </a:p>
        </p:txBody>
      </p:sp>
      <p:pic>
        <p:nvPicPr>
          <p:cNvPr id="7" name="Bookend Glovo 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8431" y="676656"/>
            <a:ext cx="1865376" cy="611843"/>
          </a:xfrm>
          <a:prstGeom prst="rect">
            <a:avLst/>
          </a:prstGeom>
        </p:spPr>
      </p:pic>
      <p:sp>
        <p:nvSpPr>
          <p:cNvPr id="8" name="Cover logo divider"/>
          <p:cNvSpPr/>
          <p:nvPr/>
        </p:nvSpPr>
        <p:spPr>
          <a:xfrm>
            <a:off x="10341864" y="877824"/>
            <a:ext cx="7315" cy="356616"/>
          </a:xfrm>
          <a:prstGeom prst="rect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Cover uploaded partner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0" y="901598"/>
            <a:ext cx="914400" cy="299923"/>
          </a:xfrm>
          <a:prstGeom prst="rect">
            <a:avLst/>
          </a:prstGeom>
        </p:spPr>
      </p:pic>
      <p:sp>
        <p:nvSpPr>
          <p:cNvPr id="10" name="Cover SBU"/>
          <p:cNvSpPr txBox="1"/>
          <p:nvPr/>
        </p:nvSpPr>
        <p:spPr>
          <a:xfrm>
            <a:off x="6675120" y="6236208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defRPr sz="1400" b="0">
                <a:solidFill>
                  <a:srgbClr val="232323"/>
                </a:solidFill>
                <a:latin typeface="Montserrat"/>
              </a:defRPr>
            </a:pPr>
            <a:r>
              <a:t>Sub-Business Unit: PETS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PETS Business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SBU performance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€152,169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5.3%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9,106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3.5%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AOV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1.8%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19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CVR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9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0.3 pp vs prev. month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33756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Composition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730752"/>
            <a:ext cx="512064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977639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3977639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4050791"/>
            <a:ext cx="732782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462272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446227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63240" y="4535424"/>
            <a:ext cx="483396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946904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4946904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5020056"/>
            <a:ext cx="240895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333756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Key Takeaways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3730752"/>
            <a:ext cx="539496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399592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GMV increased 5.3% vs previous month.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49884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Both order volume and average basket supported growth.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500176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CVR improved by 0.3 pp to 26.4%.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PETS Performance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Last 12 available months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bu_performanc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4343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Across the displayed period, PETS GMV changed +100.4%, while orders changed +73.2%.</a:t>
            </a:r>
          </a:p>
        </p:txBody>
      </p:sp>
      <p:pic>
        <p:nvPicPr>
          <p:cNvPr id="8" name="Picture 7" descr="sbu_pe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551308"/>
            <a:ext cx="1371600" cy="13662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Invet Zoo vs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Reporting period: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933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€32.32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993392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6791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3.2%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679192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649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76.9%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91.3%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364992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050791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050791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7365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20.7%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4736592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Not assessed — incomplete store coverage. Raw values use August 2026.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Invet Zoo vs PETS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 · Comparable performance metrics · Each metric uses its own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(€)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423160" y="1426464"/>
          <a:ext cx="5257800" cy="81381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26679" y="152933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€32.32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936242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1563624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8716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 (%)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423160" y="2286000"/>
          <a:ext cx="5257800" cy="8138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726679" y="238887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3.2%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7957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2423160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4670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 (%)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423160" y="3145536"/>
          <a:ext cx="5257800" cy="813816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726679" y="324840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76.9%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365531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91.3%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3282696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06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 (%)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2423160" y="4005072"/>
          <a:ext cx="5257800" cy="813816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726679" y="41079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4514849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4142232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065776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 (%)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2423160" y="4864608"/>
          <a:ext cx="5257800" cy="813816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7726679" y="49674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20.7%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537438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5001768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989320"/>
            <a:ext cx="10652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 Raw values shown.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Invet Zoo Growth vs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78892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56616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35661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0807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6E6E6E"/>
                </a:solidFill>
                <a:latin typeface="Montserrat"/>
              </a:defRPr>
            </a:pPr>
            <a:r>
              <a:t>Partner MoM: Not comparable — incomplete store coverage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Invet Zoo Growth vs PETS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 · Shared percentage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476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514600" y="1554480"/>
          <a:ext cx="5120640" cy="112471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1735073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2974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8196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Comparison unavailable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192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514600" y="2926080"/>
          <a:ext cx="5120640" cy="11247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680960" y="31066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36690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31912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Comparison unavailable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908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514600" y="4297680"/>
          <a:ext cx="5120640" cy="11247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680960" y="44782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50406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45628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Comparison unavailable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0807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6E6E6E"/>
                </a:solidFill>
                <a:latin typeface="Montserrat"/>
              </a:defRPr>
            </a:pPr>
            <a:r>
              <a:t>Partner MoM: Not comparable — incomplete store coverage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Invet Zoo Share of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GMV as a share of PETS GMV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18288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91056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Share of PETS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83664"/>
            <a:ext cx="29260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17.1%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15184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pic>
        <p:nvPicPr>
          <p:cNvPr id="10" name="Picture 9" descr="partner_sbu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25880"/>
            <a:ext cx="7200000" cy="4206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80644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Share comparisons involving incomplete store coverage are not comparable.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Invet Zoo Performance &amp; Conversion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Monthly GMV and delivered orders · Partner sessions and conversion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&amp; Orders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682496"/>
          <a:ext cx="5852160" cy="194767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3877056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Partner Sessions × Partner CVR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4187952"/>
          <a:ext cx="5852160" cy="194767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Meeting KPI GMV 0"/>
          <p:cNvSpPr/>
          <p:nvPr/>
        </p:nvSpPr>
        <p:spPr>
          <a:xfrm>
            <a:off x="681228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eeting KPI GMV 1"/>
          <p:cNvSpPr txBox="1"/>
          <p:nvPr/>
        </p:nvSpPr>
        <p:spPr>
          <a:xfrm>
            <a:off x="6995160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1" name="Meeting KPI GMV 2"/>
          <p:cNvSpPr txBox="1"/>
          <p:nvPr/>
        </p:nvSpPr>
        <p:spPr>
          <a:xfrm>
            <a:off x="6995160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€26,020</a:t>
            </a:r>
          </a:p>
        </p:txBody>
      </p:sp>
      <p:sp>
        <p:nvSpPr>
          <p:cNvPr id="12" name="Meeting KPI GMV 3"/>
          <p:cNvSpPr txBox="1"/>
          <p:nvPr/>
        </p:nvSpPr>
        <p:spPr>
          <a:xfrm>
            <a:off x="6995160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3" name="Meeting KPI Orders 0"/>
          <p:cNvSpPr/>
          <p:nvPr/>
        </p:nvSpPr>
        <p:spPr>
          <a:xfrm>
            <a:off x="946404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Meeting KPI Orders 1"/>
          <p:cNvSpPr txBox="1"/>
          <p:nvPr/>
        </p:nvSpPr>
        <p:spPr>
          <a:xfrm>
            <a:off x="9646919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15" name="Meeting KPI Orders 2"/>
          <p:cNvSpPr txBox="1"/>
          <p:nvPr/>
        </p:nvSpPr>
        <p:spPr>
          <a:xfrm>
            <a:off x="9646919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805</a:t>
            </a:r>
          </a:p>
        </p:txBody>
      </p:sp>
      <p:sp>
        <p:nvSpPr>
          <p:cNvPr id="16" name="Meeting KPI Orders 3"/>
          <p:cNvSpPr txBox="1"/>
          <p:nvPr/>
        </p:nvSpPr>
        <p:spPr>
          <a:xfrm>
            <a:off x="9646919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7" name="Meeting KPI Partner Sessions 0"/>
          <p:cNvSpPr/>
          <p:nvPr/>
        </p:nvSpPr>
        <p:spPr>
          <a:xfrm>
            <a:off x="681228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Meeting KPI Partner Sessions 1"/>
          <p:cNvSpPr txBox="1"/>
          <p:nvPr/>
        </p:nvSpPr>
        <p:spPr>
          <a:xfrm>
            <a:off x="6995160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Sessions</a:t>
            </a:r>
          </a:p>
        </p:txBody>
      </p:sp>
      <p:sp>
        <p:nvSpPr>
          <p:cNvPr id="19" name="Meeting KPI Partner Sessions 2"/>
          <p:cNvSpPr txBox="1"/>
          <p:nvPr/>
        </p:nvSpPr>
        <p:spPr>
          <a:xfrm>
            <a:off x="6995160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25,030</a:t>
            </a:r>
          </a:p>
        </p:txBody>
      </p:sp>
      <p:sp>
        <p:nvSpPr>
          <p:cNvPr id="20" name="Meeting KPI Partner Sessions 3"/>
          <p:cNvSpPr txBox="1"/>
          <p:nvPr/>
        </p:nvSpPr>
        <p:spPr>
          <a:xfrm>
            <a:off x="6995160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1" name="Meeting KPI Partner CVR 0"/>
          <p:cNvSpPr/>
          <p:nvPr/>
        </p:nvSpPr>
        <p:spPr>
          <a:xfrm>
            <a:off x="946404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Meeting KPI Partner CVR 1"/>
          <p:cNvSpPr txBox="1"/>
          <p:nvPr/>
        </p:nvSpPr>
        <p:spPr>
          <a:xfrm>
            <a:off x="9646919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CVR</a:t>
            </a:r>
          </a:p>
        </p:txBody>
      </p:sp>
      <p:sp>
        <p:nvSpPr>
          <p:cNvPr id="23" name="Meeting KPI Partner CVR 2"/>
          <p:cNvSpPr txBox="1"/>
          <p:nvPr/>
        </p:nvSpPr>
        <p:spPr>
          <a:xfrm>
            <a:off x="9646919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3.2%</a:t>
            </a:r>
          </a:p>
        </p:txBody>
      </p:sp>
      <p:sp>
        <p:nvSpPr>
          <p:cNvPr id="24" name="Meeting KPI Partner CVR 3"/>
          <p:cNvSpPr txBox="1"/>
          <p:nvPr/>
        </p:nvSpPr>
        <p:spPr>
          <a:xfrm>
            <a:off x="9646919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5" name="Meeting KPI Partner CVR 4"/>
          <p:cNvSpPr txBox="1"/>
          <p:nvPr/>
        </p:nvSpPr>
        <p:spPr>
          <a:xfrm>
            <a:off x="9646919" y="5230368"/>
            <a:ext cx="19659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26" name="Meeting interpretation top 0"/>
          <p:cNvSpPr txBox="1"/>
          <p:nvPr/>
        </p:nvSpPr>
        <p:spPr>
          <a:xfrm>
            <a:off x="6812280" y="3273552"/>
            <a:ext cx="4983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GMV MoM comparison unavailable.</a:t>
            </a:r>
          </a:p>
        </p:txBody>
      </p:sp>
      <p:sp>
        <p:nvSpPr>
          <p:cNvPr id="27" name="Meeting interpretation conversion"/>
          <p:cNvSpPr txBox="1"/>
          <p:nvPr/>
        </p:nvSpPr>
        <p:spPr>
          <a:xfrm>
            <a:off x="6812280" y="5843016"/>
            <a:ext cx="498348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Partner CVR: Not assessed — incomplete store coverage.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partner performance — Uptime vs 95% target; PNA/Cancels vs PETS (August 2026)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Operating Store Uptime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76.9%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MoM: Not comparable — incomplete store coverage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Target: 95.0%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PNA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MoM: Not comparable — incomplete store coverage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SBU PNA: 6.1%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Cancels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20.7%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MoM: Not comparable — incomplete store coverage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SBU Cancels: 2.5%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154680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6E6E6E"/>
                </a:solidFill>
                <a:latin typeface="Montserrat"/>
              </a:defRPr>
            </a:pPr>
            <a:r>
              <a:t>Partner benchmark / target comparisons: Not assessed — incomplete store coverage.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42239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Interpretation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797296"/>
            <a:ext cx="10241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Raw rates reflect stores with current data. Uptime coverage: 8/8 operating stores. Missing current store records: 1.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68580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315468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76.9%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5468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95.0%</a:t>
            </a:r>
          </a:p>
        </p:txBody>
      </p:sp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438912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685800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graphicFrame>
        <p:nvGraphicFramePr>
          <p:cNvPr id="30" name="Chart 29"/>
          <p:cNvGraphicFramePr>
            <a:graphicFrameLocks noGrp="1"/>
          </p:cNvGraphicFramePr>
          <p:nvPr/>
        </p:nvGraphicFramePr>
        <p:xfrm>
          <a:off x="809244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1056132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20.7%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6132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Top GMV Stores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2648" y="1417320"/>
            <a:ext cx="7818120" cy="448056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36192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93592" y="1536192"/>
            <a:ext cx="941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1728" y="1536192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Commercial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0256" y="1536192"/>
            <a:ext cx="1664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Operational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1965960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93976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39112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039112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2039112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Conversion Opportunity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2039112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" y="2670048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798064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743200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1, Rustaveli Avenue 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93592" y="2743200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1728" y="2743200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Conversion Opportunity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0256" y="2743200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" y="3374136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502152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447288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2, Rustaveli Avenue 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93592" y="3447288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81728" y="3447288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Conversion Opportunity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0256" y="3447288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" y="4078224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206240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4151376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3, Rustaveli Avenue 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93592" y="4151376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81728" y="4151376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Conversion Opportunity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0256" y="4151376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2648" y="4782312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910328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4855464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4, Rustaveli Avenue 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93592" y="4855464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81728" y="4855464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Conversion Opportunity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0256" y="4855464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2648" y="5486400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5614416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" y="5559551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5, Rustaveli Avenue 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93592" y="5559551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81728" y="5559551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Conversion Opportunity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20256" y="5559551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668512" y="1417320"/>
            <a:ext cx="2916936" cy="4873752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869680" y="1618488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Top Stores</a:t>
            </a:r>
          </a:p>
        </p:txBody>
      </p:sp>
      <p:pic>
        <p:nvPicPr>
          <p:cNvPr id="48" name="Picture 47" descr="goldCrownCele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388" y="1965960"/>
            <a:ext cx="1716607" cy="1709928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8869680" y="3813048"/>
            <a:ext cx="2487168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>
                <a:solidFill>
                  <a:srgbClr val="00A082"/>
                </a:solidFill>
                <a:latin typeface="Montserrat"/>
              </a:defRPr>
            </a:pPr>
            <a:r>
              <a:t>6 stores displayed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69680" y="4608576"/>
            <a:ext cx="2487168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GMV share not assessed — incomplete store coverage.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69680" y="5815584"/>
            <a:ext cx="2487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Reported partner GMV: €26,020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How We Prioritize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Higher Priority = stronger case for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537028"/>
            <a:ext cx="429768" cy="4280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89304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SEVERITY — 0–100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large is the KPI problem?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Compared with the relevant SBU benchmark or operating target.</a:t>
            </a:r>
            <a:br/>
            <a:br/>
            <a:r>
              <a:t>Evidence volume and confidence are considered. Larger reliable negative gaps create higher Severity.</a:t>
            </a:r>
            <a:br/>
            <a:br/>
            <a:r>
              <a:t>Dominant-KPI protection keeps a major problem from being hidden by healthy KPIs.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704" y="1537028"/>
            <a:ext cx="429768" cy="4280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0056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IMPACT — 0–100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much business exposure</a:t>
            </a:r>
            <a:br/>
            <a:r>
              <a:t>sits behind the problem?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Order-related exposure behind the KPI gap. Higher-volume problems generally create higher Impact.</a:t>
            </a:r>
            <a:br/>
            <a:br/>
            <a:r>
              <a:t>Not euros. Not guaranteed recovered orders. Not a financial forecast.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456" y="1537028"/>
            <a:ext cx="429768" cy="42809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750808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PRIORITY — 0–100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Where should we act first?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Metric Priority =</a:t>
            </a:r>
            <a:br/>
            <a:r>
              <a:t>KPI Severity × KPI Impact / 100</a:t>
            </a:r>
            <a:br/>
            <a:br/>
            <a:r>
              <a:t>Store Priority combines eligible KPI-level priorities, with dominant-KPI protection so one major issue cannot be diluted.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544568"/>
            <a:ext cx="544068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681728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038344"/>
            <a:ext cx="505663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The KPI with the strongest paired business case for action at that store.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7064" y="4544568"/>
            <a:ext cx="5486400" cy="96012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4681728"/>
            <a:ext cx="5102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BASE ACTION RULE · Priority ≥ 5.0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5038344"/>
            <a:ext cx="51023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The 5.0 threshold remains provisional. V2.1 overrides can classify lower-score stores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5650992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6E6E6E"/>
                </a:solidFill>
                <a:latin typeface="Montserrat"/>
              </a:defRPr>
            </a:pPr>
            <a:r>
              <a:t>Priority ranks stores. Separate V2.1 triage assigns ACTION / MONITOR / HEALTHY / UNCLASSIFIED (six ACTION stores shown by default).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Missing evidence → incomplete assessment, not zero. Critical observations are reviewed separately from business Priority.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5352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Uptime: 95% target; restoration exposure uses healthy history where available.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Exposure components may overlap; headline exposure uses the largest. An opportunity signal, not a recovery promise.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5352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Benchmark: 2026-08. SBU peer composition is not available.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 · Store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Raw totals are retained. Incomplete-period growth comparisons are suppressed.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July 2026 · Partial Store Coverage · Expected 7 · Present 6 · Missing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Missing: Pet supplies branch D, Rustaveli Avenue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August 2026 · Partial Store Coverage · Expected 9 · Present 8 · Missing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7180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Missing: Pet supplies branch D, Rustaveli Avenue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Confirm actions, responsibilities and the next review 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232323"/>
                </a:solidFill>
                <a:latin typeface="Montserrat"/>
              </a:defRPr>
            </a:pPr>
            <a:r>
              <a:t>Which interventions should we start first?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D63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hank You decorative visual" descr="Thank_You.png"/>
          <p:cNvPicPr>
            <a:picLocks noChangeAspect="1"/>
          </p:cNvPicPr>
          <p:nvPr/>
        </p:nvPicPr>
        <p:blipFill>
          <a:blip r:embed="rId3">
            <a:duotone>
              <a:srgbClr val="FFFFFF"/>
              <a:srgbClr val="FFFFFF"/>
            </a:duotone>
            <a:alphaModFix amt="26000"/>
          </a:blip>
          <a:stretch>
            <a:fillRect/>
          </a:stretch>
        </p:blipFill>
        <p:spPr>
          <a:xfrm>
            <a:off x="1904695" y="0"/>
            <a:ext cx="10287000" cy="6858000"/>
          </a:xfrm>
          <a:prstGeom prst="rect">
            <a:avLst/>
          </a:prstGeom>
        </p:spPr>
      </p:pic>
      <p:sp>
        <p:nvSpPr>
          <p:cNvPr id="3" name="Closing main heading"/>
          <p:cNvSpPr txBox="1"/>
          <p:nvPr/>
        </p:nvSpPr>
        <p:spPr>
          <a:xfrm>
            <a:off x="1325880" y="2295144"/>
            <a:ext cx="685800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defRPr sz="5000" b="1">
                <a:solidFill>
                  <a:srgbClr val="00A082"/>
                </a:solidFill>
                <a:latin typeface="Montserrat"/>
              </a:defRPr>
            </a:pPr>
            <a:r>
              <a:t>Thank You</a:t>
            </a:r>
          </a:p>
        </p:txBody>
      </p:sp>
      <p:sp>
        <p:nvSpPr>
          <p:cNvPr id="4" name="Closing second heading"/>
          <p:cNvSpPr txBox="1"/>
          <p:nvPr/>
        </p:nvSpPr>
        <p:spPr>
          <a:xfrm>
            <a:off x="1325880" y="3099816"/>
            <a:ext cx="685800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defRPr sz="3000" b="0">
                <a:solidFill>
                  <a:srgbClr val="232323"/>
                </a:solidFill>
                <a:latin typeface="Montserrat"/>
              </a:defRPr>
            </a:pPr>
            <a:r>
              <a:t>For Your Partnership</a:t>
            </a:r>
          </a:p>
        </p:txBody>
      </p:sp>
      <p:sp>
        <p:nvSpPr>
          <p:cNvPr id="5" name="Closing message"/>
          <p:cNvSpPr txBox="1"/>
          <p:nvPr/>
        </p:nvSpPr>
        <p:spPr>
          <a:xfrm>
            <a:off x="1325880" y="4306824"/>
            <a:ext cx="713232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defRPr sz="2000" b="0">
                <a:solidFill>
                  <a:srgbClr val="232323"/>
                </a:solidFill>
                <a:latin typeface="Montserrat"/>
              </a:defRPr>
            </a:pPr>
            <a:r>
              <a:t>Let’s Turn The Agreed Actions</a:t>
            </a:r>
            <a:br/>
            <a:r>
              <a:t>Into Measurable Progress</a:t>
            </a:r>
          </a:p>
        </p:txBody>
      </p:sp>
      <p:sp>
        <p:nvSpPr>
          <p:cNvPr id="6" name="Closing period pill"/>
          <p:cNvSpPr/>
          <p:nvPr/>
        </p:nvSpPr>
        <p:spPr>
          <a:xfrm>
            <a:off x="1325880" y="5724144"/>
            <a:ext cx="1901952" cy="402336"/>
          </a:xfrm>
          <a:prstGeom prst="roundRect">
            <a:avLst>
              <a:gd name="adj" fmla="val 50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losing reporting period"/>
          <p:cNvSpPr txBox="1"/>
          <p:nvPr/>
        </p:nvSpPr>
        <p:spPr>
          <a:xfrm>
            <a:off x="1371600" y="5751576"/>
            <a:ext cx="1810512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defRPr sz="1700" b="0">
                <a:solidFill>
                  <a:srgbClr val="FFFFFF"/>
                </a:solidFill>
                <a:latin typeface="Montserrat"/>
              </a:defRPr>
            </a:pPr>
            <a:r>
              <a:t>August 2026</a:t>
            </a:r>
          </a:p>
        </p:txBody>
      </p:sp>
      <p:pic>
        <p:nvPicPr>
          <p:cNvPr id="8" name="Bookend Glovo logo" descr="image.png"/>
          <p:cNvPicPr>
            <a:picLocks noChangeAspect="1"/>
          </p:cNvPicPr>
          <p:nvPr/>
        </p:nvPicPr>
        <p:blipFill>
          <a:blip r:embed="rId4">
            <a:clrChange useA="1">
              <a:clrFrom>
                <a:srgbClr val="F1CC37"/>
              </a:clrFrom>
              <a:clrTo>
                <a:srgbClr val="FFFFFF"/>
              </a:clrTo>
            </a:clrChange>
          </a:blip>
          <a:stretch>
            <a:fillRect/>
          </a:stretch>
        </p:blipFill>
        <p:spPr>
          <a:xfrm>
            <a:off x="8193024" y="1078992"/>
            <a:ext cx="1828800" cy="599846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APPENDIX — 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9 stores · Reference section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00A082"/>
                </a:solidFill>
                <a:latin typeface="Montserrat"/>
              </a:defRPr>
            </a:pPr>
            <a:r>
              <a:t>Store-level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232323"/>
                </a:solidFill>
                <a:latin typeface="Montserrat"/>
              </a:defRPr>
            </a:pPr>
            <a:r>
              <a:t>Lifecycle, KPI evidence and recommendations for each store.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Store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Operational state and business classification are separate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35608"/>
            <a:ext cx="10972800" cy="356616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27980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1536192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27448" y="1536192"/>
            <a:ext cx="10698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Business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07024" y="1536192"/>
            <a:ext cx="9052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22008" y="1536192"/>
            <a:ext cx="7589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0688" y="1536192"/>
            <a:ext cx="7589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59367" y="1536192"/>
            <a:ext cx="7589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8047" y="1536192"/>
            <a:ext cx="7589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96727" y="1536192"/>
            <a:ext cx="11247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1856231"/>
            <a:ext cx="10972800" cy="5349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erview store: PRIVATE-ID-0">
            <a:hlinkClick action="ppaction://hlinksldjump" r:id="rId2"/>
          </p:cNvPr>
          <p:cNvSpPr txBox="1"/>
          <p:nvPr/>
        </p:nvSpPr>
        <p:spPr>
          <a:xfrm>
            <a:off x="658368" y="1911095"/>
            <a:ext cx="2798064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00A082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17" name="V2.1 Overview 1: PRIVATE-ID-0"/>
          <p:cNvSpPr txBox="1"/>
          <p:nvPr/>
        </p:nvSpPr>
        <p:spPr>
          <a:xfrm>
            <a:off x="3566160" y="1911095"/>
            <a:ext cx="105156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18" name="V2.1 Overview 2: PRIVATE-ID-0"/>
          <p:cNvSpPr txBox="1"/>
          <p:nvPr/>
        </p:nvSpPr>
        <p:spPr>
          <a:xfrm>
            <a:off x="4727448" y="1911095"/>
            <a:ext cx="1069848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A082"/>
                </a:solidFill>
                <a:latin typeface="Montserrat"/>
              </a:defRPr>
            </a:pPr>
            <a:r>
              <a:t>ACTION</a:t>
            </a:r>
          </a:p>
        </p:txBody>
      </p:sp>
      <p:sp>
        <p:nvSpPr>
          <p:cNvPr id="19" name="V2.1 Overview 3: PRIVATE-ID-0"/>
          <p:cNvSpPr txBox="1"/>
          <p:nvPr/>
        </p:nvSpPr>
        <p:spPr>
          <a:xfrm>
            <a:off x="5907024" y="1911095"/>
            <a:ext cx="905256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20" name="V2.1 Overview 4: PRIVATE-ID-0"/>
          <p:cNvSpPr txBox="1"/>
          <p:nvPr/>
        </p:nvSpPr>
        <p:spPr>
          <a:xfrm>
            <a:off x="6922008" y="1911095"/>
            <a:ext cx="758952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1" name="V2.1 Overview 5: PRIVATE-ID-0"/>
          <p:cNvSpPr txBox="1"/>
          <p:nvPr/>
        </p:nvSpPr>
        <p:spPr>
          <a:xfrm>
            <a:off x="7790688" y="1911095"/>
            <a:ext cx="758952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22" name="V2.1 Overview 6: PRIVATE-ID-0"/>
          <p:cNvSpPr txBox="1"/>
          <p:nvPr/>
        </p:nvSpPr>
        <p:spPr>
          <a:xfrm>
            <a:off x="8659367" y="1911095"/>
            <a:ext cx="758952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23" name="V2.1 Overview 7: PRIVATE-ID-0"/>
          <p:cNvSpPr txBox="1"/>
          <p:nvPr/>
        </p:nvSpPr>
        <p:spPr>
          <a:xfrm>
            <a:off x="9528047" y="1911095"/>
            <a:ext cx="758952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24" name="V2.1 Overview 8: PRIVATE-ID-0"/>
          <p:cNvSpPr txBox="1"/>
          <p:nvPr/>
        </p:nvSpPr>
        <p:spPr>
          <a:xfrm>
            <a:off x="10396727" y="1911095"/>
            <a:ext cx="1124712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2414015"/>
            <a:ext cx="10972800" cy="3794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erview store: PRIVATE-ID-1">
            <a:hlinkClick action="ppaction://hlinksldjump" r:id="rId3"/>
          </p:cNvPr>
          <p:cNvSpPr txBox="1"/>
          <p:nvPr/>
        </p:nvSpPr>
        <p:spPr>
          <a:xfrm>
            <a:off x="658368" y="2468879"/>
            <a:ext cx="27980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00A082"/>
                </a:solidFill>
                <a:latin typeface="Montserrat"/>
              </a:defRPr>
            </a:pPr>
            <a:r>
              <a:t>Pet supplies branch 1, Rustaveli Avenue 15</a:t>
            </a:r>
          </a:p>
        </p:txBody>
      </p:sp>
      <p:sp>
        <p:nvSpPr>
          <p:cNvPr id="27" name="V2.1 Overview 1: PRIVATE-ID-1"/>
          <p:cNvSpPr txBox="1"/>
          <p:nvPr/>
        </p:nvSpPr>
        <p:spPr>
          <a:xfrm>
            <a:off x="3566160" y="2468879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28" name="V2.1 Overview 2: PRIVATE-ID-1"/>
          <p:cNvSpPr txBox="1"/>
          <p:nvPr/>
        </p:nvSpPr>
        <p:spPr>
          <a:xfrm>
            <a:off x="4727448" y="2468879"/>
            <a:ext cx="10698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A082"/>
                </a:solidFill>
                <a:latin typeface="Montserrat"/>
              </a:defRPr>
            </a:pPr>
            <a:r>
              <a:t>ACTION</a:t>
            </a:r>
          </a:p>
        </p:txBody>
      </p:sp>
      <p:sp>
        <p:nvSpPr>
          <p:cNvPr id="29" name="V2.1 Overview 3: PRIVATE-ID-1"/>
          <p:cNvSpPr txBox="1"/>
          <p:nvPr/>
        </p:nvSpPr>
        <p:spPr>
          <a:xfrm>
            <a:off x="5907024" y="2468879"/>
            <a:ext cx="9052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30" name="V2.1 Overview 4: PRIVATE-ID-1"/>
          <p:cNvSpPr txBox="1"/>
          <p:nvPr/>
        </p:nvSpPr>
        <p:spPr>
          <a:xfrm>
            <a:off x="6922008" y="2468879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31" name="V2.1 Overview 5: PRIVATE-ID-1"/>
          <p:cNvSpPr txBox="1"/>
          <p:nvPr/>
        </p:nvSpPr>
        <p:spPr>
          <a:xfrm>
            <a:off x="7790688" y="2468879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32" name="V2.1 Overview 6: PRIVATE-ID-1"/>
          <p:cNvSpPr txBox="1"/>
          <p:nvPr/>
        </p:nvSpPr>
        <p:spPr>
          <a:xfrm>
            <a:off x="8659367" y="2468879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3" name="V2.1 Overview 7: PRIVATE-ID-1"/>
          <p:cNvSpPr txBox="1"/>
          <p:nvPr/>
        </p:nvSpPr>
        <p:spPr>
          <a:xfrm>
            <a:off x="9528047" y="2468879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34" name="V2.1 Overview 8: PRIVATE-ID-1"/>
          <p:cNvSpPr txBox="1"/>
          <p:nvPr/>
        </p:nvSpPr>
        <p:spPr>
          <a:xfrm>
            <a:off x="10396727" y="2468879"/>
            <a:ext cx="1124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2816351"/>
            <a:ext cx="10972800" cy="3794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erview store: PRIVATE-ID-2">
            <a:hlinkClick action="ppaction://hlinksldjump" r:id="rId4"/>
          </p:cNvPr>
          <p:cNvSpPr txBox="1"/>
          <p:nvPr/>
        </p:nvSpPr>
        <p:spPr>
          <a:xfrm>
            <a:off x="658368" y="2871215"/>
            <a:ext cx="27980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00A082"/>
                </a:solidFill>
                <a:latin typeface="Montserrat"/>
              </a:defRPr>
            </a:pPr>
            <a:r>
              <a:t>Pet supplies branch 2, Rustaveli Avenue 15</a:t>
            </a:r>
          </a:p>
        </p:txBody>
      </p:sp>
      <p:sp>
        <p:nvSpPr>
          <p:cNvPr id="37" name="V2.1 Overview 1: PRIVATE-ID-2"/>
          <p:cNvSpPr txBox="1"/>
          <p:nvPr/>
        </p:nvSpPr>
        <p:spPr>
          <a:xfrm>
            <a:off x="3566160" y="2871215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38" name="V2.1 Overview 2: PRIVATE-ID-2"/>
          <p:cNvSpPr txBox="1"/>
          <p:nvPr/>
        </p:nvSpPr>
        <p:spPr>
          <a:xfrm>
            <a:off x="4727448" y="2871215"/>
            <a:ext cx="10698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A082"/>
                </a:solidFill>
                <a:latin typeface="Montserrat"/>
              </a:defRPr>
            </a:pPr>
            <a:r>
              <a:t>ACTION</a:t>
            </a:r>
          </a:p>
        </p:txBody>
      </p:sp>
      <p:sp>
        <p:nvSpPr>
          <p:cNvPr id="39" name="V2.1 Overview 3: PRIVATE-ID-2"/>
          <p:cNvSpPr txBox="1"/>
          <p:nvPr/>
        </p:nvSpPr>
        <p:spPr>
          <a:xfrm>
            <a:off x="5907024" y="2871215"/>
            <a:ext cx="9052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40" name="V2.1 Overview 4: PRIVATE-ID-2"/>
          <p:cNvSpPr txBox="1"/>
          <p:nvPr/>
        </p:nvSpPr>
        <p:spPr>
          <a:xfrm>
            <a:off x="6922008" y="2871215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41" name="V2.1 Overview 5: PRIVATE-ID-2"/>
          <p:cNvSpPr txBox="1"/>
          <p:nvPr/>
        </p:nvSpPr>
        <p:spPr>
          <a:xfrm>
            <a:off x="7790688" y="2871215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42" name="V2.1 Overview 6: PRIVATE-ID-2"/>
          <p:cNvSpPr txBox="1"/>
          <p:nvPr/>
        </p:nvSpPr>
        <p:spPr>
          <a:xfrm>
            <a:off x="8659367" y="2871215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43" name="V2.1 Overview 7: PRIVATE-ID-2"/>
          <p:cNvSpPr txBox="1"/>
          <p:nvPr/>
        </p:nvSpPr>
        <p:spPr>
          <a:xfrm>
            <a:off x="9528047" y="2871215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44" name="V2.1 Overview 8: PRIVATE-ID-2"/>
          <p:cNvSpPr txBox="1"/>
          <p:nvPr/>
        </p:nvSpPr>
        <p:spPr>
          <a:xfrm>
            <a:off x="10396727" y="2871215"/>
            <a:ext cx="1124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94360" y="3218687"/>
            <a:ext cx="10972800" cy="3794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erview store: PRIVATE-ID-3">
            <a:hlinkClick action="ppaction://hlinksldjump" r:id="rId5"/>
          </p:cNvPr>
          <p:cNvSpPr txBox="1"/>
          <p:nvPr/>
        </p:nvSpPr>
        <p:spPr>
          <a:xfrm>
            <a:off x="658368" y="3273551"/>
            <a:ext cx="27980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00A082"/>
                </a:solidFill>
                <a:latin typeface="Montserrat"/>
              </a:defRPr>
            </a:pPr>
            <a:r>
              <a:t>Pet supplies branch 3, Rustaveli Avenue 15</a:t>
            </a:r>
          </a:p>
        </p:txBody>
      </p:sp>
      <p:sp>
        <p:nvSpPr>
          <p:cNvPr id="47" name="V2.1 Overview 1: PRIVATE-ID-3"/>
          <p:cNvSpPr txBox="1"/>
          <p:nvPr/>
        </p:nvSpPr>
        <p:spPr>
          <a:xfrm>
            <a:off x="3566160" y="3273551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48" name="V2.1 Overview 2: PRIVATE-ID-3"/>
          <p:cNvSpPr txBox="1"/>
          <p:nvPr/>
        </p:nvSpPr>
        <p:spPr>
          <a:xfrm>
            <a:off x="4727448" y="3273551"/>
            <a:ext cx="10698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A082"/>
                </a:solidFill>
                <a:latin typeface="Montserrat"/>
              </a:defRPr>
            </a:pPr>
            <a:r>
              <a:t>ACTION</a:t>
            </a:r>
          </a:p>
        </p:txBody>
      </p:sp>
      <p:sp>
        <p:nvSpPr>
          <p:cNvPr id="49" name="V2.1 Overview 3: PRIVATE-ID-3"/>
          <p:cNvSpPr txBox="1"/>
          <p:nvPr/>
        </p:nvSpPr>
        <p:spPr>
          <a:xfrm>
            <a:off x="5907024" y="3273551"/>
            <a:ext cx="9052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50" name="V2.1 Overview 4: PRIVATE-ID-3"/>
          <p:cNvSpPr txBox="1"/>
          <p:nvPr/>
        </p:nvSpPr>
        <p:spPr>
          <a:xfrm>
            <a:off x="6922008" y="3273551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51" name="V2.1 Overview 5: PRIVATE-ID-3"/>
          <p:cNvSpPr txBox="1"/>
          <p:nvPr/>
        </p:nvSpPr>
        <p:spPr>
          <a:xfrm>
            <a:off x="7790688" y="3273551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52" name="V2.1 Overview 6: PRIVATE-ID-3"/>
          <p:cNvSpPr txBox="1"/>
          <p:nvPr/>
        </p:nvSpPr>
        <p:spPr>
          <a:xfrm>
            <a:off x="8659367" y="3273551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53" name="V2.1 Overview 7: PRIVATE-ID-3"/>
          <p:cNvSpPr txBox="1"/>
          <p:nvPr/>
        </p:nvSpPr>
        <p:spPr>
          <a:xfrm>
            <a:off x="9528047" y="3273551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54" name="V2.1 Overview 8: PRIVATE-ID-3"/>
          <p:cNvSpPr txBox="1"/>
          <p:nvPr/>
        </p:nvSpPr>
        <p:spPr>
          <a:xfrm>
            <a:off x="10396727" y="3273551"/>
            <a:ext cx="1124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94360" y="3621023"/>
            <a:ext cx="10972800" cy="3794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erview store: PRIVATE-ID-4">
            <a:hlinkClick action="ppaction://hlinksldjump" r:id="rId6"/>
          </p:cNvPr>
          <p:cNvSpPr txBox="1"/>
          <p:nvPr/>
        </p:nvSpPr>
        <p:spPr>
          <a:xfrm>
            <a:off x="658368" y="3675887"/>
            <a:ext cx="27980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00A082"/>
                </a:solidFill>
                <a:latin typeface="Montserrat"/>
              </a:defRPr>
            </a:pPr>
            <a:r>
              <a:t>Pet supplies branch 4, Rustaveli Avenue 15</a:t>
            </a:r>
          </a:p>
        </p:txBody>
      </p:sp>
      <p:sp>
        <p:nvSpPr>
          <p:cNvPr id="57" name="V2.1 Overview 1: PRIVATE-ID-4"/>
          <p:cNvSpPr txBox="1"/>
          <p:nvPr/>
        </p:nvSpPr>
        <p:spPr>
          <a:xfrm>
            <a:off x="3566160" y="3675887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58" name="V2.1 Overview 2: PRIVATE-ID-4"/>
          <p:cNvSpPr txBox="1"/>
          <p:nvPr/>
        </p:nvSpPr>
        <p:spPr>
          <a:xfrm>
            <a:off x="4727448" y="3675887"/>
            <a:ext cx="10698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A082"/>
                </a:solidFill>
                <a:latin typeface="Montserrat"/>
              </a:defRPr>
            </a:pPr>
            <a:r>
              <a:t>ACTION</a:t>
            </a:r>
          </a:p>
        </p:txBody>
      </p:sp>
      <p:sp>
        <p:nvSpPr>
          <p:cNvPr id="59" name="V2.1 Overview 3: PRIVATE-ID-4"/>
          <p:cNvSpPr txBox="1"/>
          <p:nvPr/>
        </p:nvSpPr>
        <p:spPr>
          <a:xfrm>
            <a:off x="5907024" y="3675887"/>
            <a:ext cx="9052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60" name="V2.1 Overview 4: PRIVATE-ID-4"/>
          <p:cNvSpPr txBox="1"/>
          <p:nvPr/>
        </p:nvSpPr>
        <p:spPr>
          <a:xfrm>
            <a:off x="6922008" y="3675887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61" name="V2.1 Overview 5: PRIVATE-ID-4"/>
          <p:cNvSpPr txBox="1"/>
          <p:nvPr/>
        </p:nvSpPr>
        <p:spPr>
          <a:xfrm>
            <a:off x="7790688" y="3675887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62" name="V2.1 Overview 6: PRIVATE-ID-4"/>
          <p:cNvSpPr txBox="1"/>
          <p:nvPr/>
        </p:nvSpPr>
        <p:spPr>
          <a:xfrm>
            <a:off x="8659367" y="3675887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63" name="V2.1 Overview 7: PRIVATE-ID-4"/>
          <p:cNvSpPr txBox="1"/>
          <p:nvPr/>
        </p:nvSpPr>
        <p:spPr>
          <a:xfrm>
            <a:off x="9528047" y="3675887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64" name="V2.1 Overview 8: PRIVATE-ID-4"/>
          <p:cNvSpPr txBox="1"/>
          <p:nvPr/>
        </p:nvSpPr>
        <p:spPr>
          <a:xfrm>
            <a:off x="10396727" y="3675887"/>
            <a:ext cx="1124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94360" y="4023359"/>
            <a:ext cx="10972800" cy="3794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erview store: PRIVATE-ID-5">
            <a:hlinkClick action="ppaction://hlinksldjump" r:id="rId7"/>
          </p:cNvPr>
          <p:cNvSpPr txBox="1"/>
          <p:nvPr/>
        </p:nvSpPr>
        <p:spPr>
          <a:xfrm>
            <a:off x="658368" y="4078223"/>
            <a:ext cx="27980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00A082"/>
                </a:solidFill>
                <a:latin typeface="Montserrat"/>
              </a:defRPr>
            </a:pPr>
            <a:r>
              <a:t>Pet supplies branch 5, Rustaveli Avenue 15</a:t>
            </a:r>
          </a:p>
        </p:txBody>
      </p:sp>
      <p:sp>
        <p:nvSpPr>
          <p:cNvPr id="67" name="V2.1 Overview 1: PRIVATE-ID-5"/>
          <p:cNvSpPr txBox="1"/>
          <p:nvPr/>
        </p:nvSpPr>
        <p:spPr>
          <a:xfrm>
            <a:off x="3566160" y="4078223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68" name="V2.1 Overview 2: PRIVATE-ID-5"/>
          <p:cNvSpPr txBox="1"/>
          <p:nvPr/>
        </p:nvSpPr>
        <p:spPr>
          <a:xfrm>
            <a:off x="4727448" y="4078223"/>
            <a:ext cx="10698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A082"/>
                </a:solidFill>
                <a:latin typeface="Montserrat"/>
              </a:defRPr>
            </a:pPr>
            <a:r>
              <a:t>ACTION</a:t>
            </a:r>
          </a:p>
        </p:txBody>
      </p:sp>
      <p:sp>
        <p:nvSpPr>
          <p:cNvPr id="69" name="V2.1 Overview 3: PRIVATE-ID-5"/>
          <p:cNvSpPr txBox="1"/>
          <p:nvPr/>
        </p:nvSpPr>
        <p:spPr>
          <a:xfrm>
            <a:off x="5907024" y="4078223"/>
            <a:ext cx="9052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70" name="V2.1 Overview 4: PRIVATE-ID-5"/>
          <p:cNvSpPr txBox="1"/>
          <p:nvPr/>
        </p:nvSpPr>
        <p:spPr>
          <a:xfrm>
            <a:off x="6922008" y="4078223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71" name="V2.1 Overview 5: PRIVATE-ID-5"/>
          <p:cNvSpPr txBox="1"/>
          <p:nvPr/>
        </p:nvSpPr>
        <p:spPr>
          <a:xfrm>
            <a:off x="7790688" y="4078223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72" name="V2.1 Overview 6: PRIVATE-ID-5"/>
          <p:cNvSpPr txBox="1"/>
          <p:nvPr/>
        </p:nvSpPr>
        <p:spPr>
          <a:xfrm>
            <a:off x="8659367" y="4078223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73" name="V2.1 Overview 7: PRIVATE-ID-5"/>
          <p:cNvSpPr txBox="1"/>
          <p:nvPr/>
        </p:nvSpPr>
        <p:spPr>
          <a:xfrm>
            <a:off x="9528047" y="4078223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74" name="V2.1 Overview 8: PRIVATE-ID-5"/>
          <p:cNvSpPr txBox="1"/>
          <p:nvPr/>
        </p:nvSpPr>
        <p:spPr>
          <a:xfrm>
            <a:off x="10396727" y="4078223"/>
            <a:ext cx="1124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94360" y="4425696"/>
            <a:ext cx="10972800" cy="3794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erview store: PRIVATE-AVAIL">
            <a:hlinkClick action="ppaction://hlinksldjump" r:id="rId8"/>
          </p:cNvPr>
          <p:cNvSpPr txBox="1"/>
          <p:nvPr/>
        </p:nvSpPr>
        <p:spPr>
          <a:xfrm>
            <a:off x="658368" y="4480559"/>
            <a:ext cx="27980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00A082"/>
                </a:solidFill>
                <a:latin typeface="Montserrat"/>
              </a:defRPr>
            </a:pPr>
            <a:r>
              <a:t>Pet supplies branch L, Rustaveli Avenue 15</a:t>
            </a:r>
          </a:p>
        </p:txBody>
      </p:sp>
      <p:sp>
        <p:nvSpPr>
          <p:cNvPr id="77" name="V2.1 Overview 1: PRIVATE-AVAIL"/>
          <p:cNvSpPr txBox="1"/>
          <p:nvPr/>
        </p:nvSpPr>
        <p:spPr>
          <a:xfrm>
            <a:off x="3566160" y="4480559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Watch</a:t>
            </a:r>
          </a:p>
        </p:txBody>
      </p:sp>
      <p:sp>
        <p:nvSpPr>
          <p:cNvPr id="78" name="V2.1 Overview 2: PRIVATE-AVAIL"/>
          <p:cNvSpPr txBox="1"/>
          <p:nvPr/>
        </p:nvSpPr>
        <p:spPr>
          <a:xfrm>
            <a:off x="4727448" y="4480559"/>
            <a:ext cx="10698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A082"/>
                </a:solidFill>
                <a:latin typeface="Montserrat"/>
              </a:defRPr>
            </a:pPr>
            <a:r>
              <a:t>MONITOR</a:t>
            </a:r>
          </a:p>
        </p:txBody>
      </p:sp>
      <p:sp>
        <p:nvSpPr>
          <p:cNvPr id="79" name="V2.1 Overview 3: PRIVATE-AVAIL"/>
          <p:cNvSpPr txBox="1"/>
          <p:nvPr/>
        </p:nvSpPr>
        <p:spPr>
          <a:xfrm>
            <a:off x="5907024" y="4480559"/>
            <a:ext cx="9052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€20</a:t>
            </a:r>
          </a:p>
        </p:txBody>
      </p:sp>
      <p:sp>
        <p:nvSpPr>
          <p:cNvPr id="80" name="V2.1 Overview 4: PRIVATE-AVAIL"/>
          <p:cNvSpPr txBox="1"/>
          <p:nvPr/>
        </p:nvSpPr>
        <p:spPr>
          <a:xfrm>
            <a:off x="6922008" y="4480559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40.0%</a:t>
            </a:r>
          </a:p>
        </p:txBody>
      </p:sp>
      <p:sp>
        <p:nvSpPr>
          <p:cNvPr id="81" name="V2.1 Overview 5: PRIVATE-AVAIL"/>
          <p:cNvSpPr txBox="1"/>
          <p:nvPr/>
        </p:nvSpPr>
        <p:spPr>
          <a:xfrm>
            <a:off x="7790688" y="4480559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82" name="V2.1 Overview 6: PRIVATE-AVAIL"/>
          <p:cNvSpPr txBox="1"/>
          <p:nvPr/>
        </p:nvSpPr>
        <p:spPr>
          <a:xfrm>
            <a:off x="8659367" y="4480559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83" name="V2.1 Overview 7: PRIVATE-AVAIL"/>
          <p:cNvSpPr txBox="1"/>
          <p:nvPr/>
        </p:nvSpPr>
        <p:spPr>
          <a:xfrm>
            <a:off x="9528047" y="4480559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88.0%</a:t>
            </a:r>
          </a:p>
        </p:txBody>
      </p:sp>
      <p:sp>
        <p:nvSpPr>
          <p:cNvPr id="84" name="V2.1 Overview 8: PRIVATE-AVAIL"/>
          <p:cNvSpPr txBox="1"/>
          <p:nvPr/>
        </p:nvSpPr>
        <p:spPr>
          <a:xfrm>
            <a:off x="10396727" y="4480559"/>
            <a:ext cx="1124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0.18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94360" y="4828032"/>
            <a:ext cx="10972800" cy="3794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erview store: PRIVATE-MISSING">
            <a:hlinkClick action="ppaction://hlinksldjump" r:id="rId9"/>
          </p:cNvPr>
          <p:cNvSpPr txBox="1"/>
          <p:nvPr/>
        </p:nvSpPr>
        <p:spPr>
          <a:xfrm>
            <a:off x="658368" y="4882896"/>
            <a:ext cx="27980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00A082"/>
                </a:solidFill>
                <a:latin typeface="Montserrat"/>
              </a:defRPr>
            </a:pPr>
            <a:r>
              <a:t>Pet supplies branch G, Rustaveli Avenue 15</a:t>
            </a:r>
          </a:p>
        </p:txBody>
      </p:sp>
      <p:sp>
        <p:nvSpPr>
          <p:cNvPr id="87" name="V2.1 Overview 1: PRIVATE-MISSING"/>
          <p:cNvSpPr txBox="1"/>
          <p:nvPr/>
        </p:nvSpPr>
        <p:spPr>
          <a:xfrm>
            <a:off x="3566160" y="4882896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Data review</a:t>
            </a:r>
          </a:p>
        </p:txBody>
      </p:sp>
      <p:sp>
        <p:nvSpPr>
          <p:cNvPr id="88" name="V2.1 Overview 2: PRIVATE-MISSING"/>
          <p:cNvSpPr txBox="1"/>
          <p:nvPr/>
        </p:nvSpPr>
        <p:spPr>
          <a:xfrm>
            <a:off x="4727448" y="4882896"/>
            <a:ext cx="10698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A082"/>
                </a:solidFill>
                <a:latin typeface="Montserrat"/>
              </a:defRPr>
            </a:pPr>
            <a:r>
              <a:t>UNCLASSIFIED</a:t>
            </a:r>
          </a:p>
        </p:txBody>
      </p:sp>
      <p:sp>
        <p:nvSpPr>
          <p:cNvPr id="89" name="V2.1 Overview 3: PRIVATE-MISSING"/>
          <p:cNvSpPr txBox="1"/>
          <p:nvPr/>
        </p:nvSpPr>
        <p:spPr>
          <a:xfrm>
            <a:off x="5907024" y="4882896"/>
            <a:ext cx="9052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€2,000</a:t>
            </a:r>
          </a:p>
        </p:txBody>
      </p:sp>
      <p:sp>
        <p:nvSpPr>
          <p:cNvPr id="90" name="V2.1 Overview 4: PRIVATE-MISSING"/>
          <p:cNvSpPr txBox="1"/>
          <p:nvPr/>
        </p:nvSpPr>
        <p:spPr>
          <a:xfrm>
            <a:off x="6922008" y="4882896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20.0%</a:t>
            </a:r>
          </a:p>
        </p:txBody>
      </p:sp>
      <p:sp>
        <p:nvSpPr>
          <p:cNvPr id="91" name="V2.1 Overview 5: PRIVATE-MISSING"/>
          <p:cNvSpPr txBox="1"/>
          <p:nvPr/>
        </p:nvSpPr>
        <p:spPr>
          <a:xfrm>
            <a:off x="7790688" y="4882896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92" name="V2.1 Overview 6: PRIVATE-MISSING"/>
          <p:cNvSpPr txBox="1"/>
          <p:nvPr/>
        </p:nvSpPr>
        <p:spPr>
          <a:xfrm>
            <a:off x="8659367" y="4882896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93" name="V2.1 Overview 7: PRIVATE-MISSING"/>
          <p:cNvSpPr txBox="1"/>
          <p:nvPr/>
        </p:nvSpPr>
        <p:spPr>
          <a:xfrm>
            <a:off x="9528047" y="4882896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95.0%</a:t>
            </a:r>
          </a:p>
        </p:txBody>
      </p:sp>
      <p:sp>
        <p:nvSpPr>
          <p:cNvPr id="94" name="V2.1 Overview 8: PRIVATE-MISSING"/>
          <p:cNvSpPr txBox="1"/>
          <p:nvPr/>
        </p:nvSpPr>
        <p:spPr>
          <a:xfrm>
            <a:off x="10396727" y="4882896"/>
            <a:ext cx="1124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594360" y="5230368"/>
            <a:ext cx="10972800" cy="3794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erview store: PRIVATE-OLD">
            <a:hlinkClick action="ppaction://hlinksldjump" r:id="rId10"/>
          </p:cNvPr>
          <p:cNvSpPr txBox="1"/>
          <p:nvPr/>
        </p:nvSpPr>
        <p:spPr>
          <a:xfrm>
            <a:off x="658368" y="5285232"/>
            <a:ext cx="27980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00A082"/>
                </a:solidFill>
                <a:latin typeface="Montserrat"/>
              </a:defRPr>
            </a:pPr>
            <a:r>
              <a:t>Pet supplies branch D, Rustaveli Avenue 15</a:t>
            </a:r>
          </a:p>
        </p:txBody>
      </p:sp>
      <p:sp>
        <p:nvSpPr>
          <p:cNvPr id="97" name="V2.1 Overview 1: PRIVATE-OLD"/>
          <p:cNvSpPr txBox="1"/>
          <p:nvPr/>
        </p:nvSpPr>
        <p:spPr>
          <a:xfrm>
            <a:off x="3566160" y="5285232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Unknown</a:t>
            </a:r>
          </a:p>
        </p:txBody>
      </p:sp>
      <p:sp>
        <p:nvSpPr>
          <p:cNvPr id="98" name="V2.1 Overview 2: PRIVATE-OLD"/>
          <p:cNvSpPr txBox="1"/>
          <p:nvPr/>
        </p:nvSpPr>
        <p:spPr>
          <a:xfrm>
            <a:off x="4727448" y="5285232"/>
            <a:ext cx="10698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A082"/>
                </a:solidFill>
                <a:latin typeface="Montserrat"/>
              </a:defRPr>
            </a:pPr>
            <a:r>
              <a:t>UNCLASSIFIED</a:t>
            </a:r>
          </a:p>
        </p:txBody>
      </p:sp>
      <p:sp>
        <p:nvSpPr>
          <p:cNvPr id="99" name="V2.1 Overview 3: PRIVATE-OLD"/>
          <p:cNvSpPr txBox="1"/>
          <p:nvPr/>
        </p:nvSpPr>
        <p:spPr>
          <a:xfrm>
            <a:off x="5907024" y="5285232"/>
            <a:ext cx="9052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00" name="V2.1 Overview 4: PRIVATE-OLD"/>
          <p:cNvSpPr txBox="1"/>
          <p:nvPr/>
        </p:nvSpPr>
        <p:spPr>
          <a:xfrm>
            <a:off x="6922008" y="5285232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01" name="V2.1 Overview 5: PRIVATE-OLD"/>
          <p:cNvSpPr txBox="1"/>
          <p:nvPr/>
        </p:nvSpPr>
        <p:spPr>
          <a:xfrm>
            <a:off x="7790688" y="5285232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02" name="V2.1 Overview 6: PRIVATE-OLD"/>
          <p:cNvSpPr txBox="1"/>
          <p:nvPr/>
        </p:nvSpPr>
        <p:spPr>
          <a:xfrm>
            <a:off x="8659367" y="5285232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03" name="V2.1 Overview 7: PRIVATE-OLD"/>
          <p:cNvSpPr txBox="1"/>
          <p:nvPr/>
        </p:nvSpPr>
        <p:spPr>
          <a:xfrm>
            <a:off x="9528047" y="5285232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04" name="V2.1 Overview 8: PRIVATE-OLD"/>
          <p:cNvSpPr txBox="1"/>
          <p:nvPr/>
        </p:nvSpPr>
        <p:spPr>
          <a:xfrm>
            <a:off x="10396727" y="5285232"/>
            <a:ext cx="1124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12648" y="6409944"/>
            <a:ext cx="110185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Select a store for Diagnostics. ACTION may be below Priority 5.0 through a documented V2.1 override.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L,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Tbilisi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40.0%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+13.6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63424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-6.1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75810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-2.5 pp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37883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88.0%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Target · -7.0 pp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0305288" y="2345436"/>
            <a:ext cx="937775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8.00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2.21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0.18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232323"/>
                </a:solidFill>
                <a:latin typeface="Montserrat"/>
              </a:defRPr>
            </a:pPr>
            <a:r>
              <a:t>PRIORITY &lt; 5.0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17% · n=30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3867912" y="4453127"/>
            <a:ext cx="313944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25% · n=10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3867912" y="4718303"/>
            <a:ext cx="470916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50% · n=10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3867912" y="4983479"/>
            <a:ext cx="941832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254496" y="44805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Trend unavailable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6E6E6E"/>
                </a:solidFill>
                <a:latin typeface="Montserrat"/>
              </a:defRPr>
            </a:pPr>
            <a:r>
              <a:t>Assessment evidence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Current sessions or order activity · Critical observations: None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Store availability; investigate scheduling / execution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Restore availability during scheduled opening hours and verify persistent downtime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Improve uptime toward the 95% target</a:t>
            </a:r>
          </a:p>
        </p:txBody>
      </p:sp>
      <p:sp>
        <p:nvSpPr>
          <p:cNvPr id="85" name="Rectangle 84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MONITOR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თბილისი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-23.9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9585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+38.9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45736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8391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+19.5 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25512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64217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Target · -23.0 pp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305288" y="2345436"/>
            <a:ext cx="76727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90.74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100.00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PRIORITY ≥ 5.0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96% · n=4,000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867912" y="4453127"/>
            <a:ext cx="1815579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97% · n=1,000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867912" y="4718303"/>
            <a:ext cx="182880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99% · n=1,000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867912" y="4983479"/>
            <a:ext cx="1865013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pic>
        <p:nvPicPr>
          <p:cNvPr id="80" name="Picture 79" descr="diagnostic_1cfe316ef6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4379976"/>
            <a:ext cx="5148072" cy="786384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Critical Review — raw observations; separate from business materiality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CVR 2.5% · n=4,000 | PNA 45.0% · n=1,000 | Cancels 22.0% · n=1,000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ACTION · Base Priority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1,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Tbilisi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-23.9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9585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+38.9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45736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8391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+19.5 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25512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64217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Target · -23.0 pp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305288" y="2345436"/>
            <a:ext cx="76727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90.74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100.00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PRIORITY ≥ 5.0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96% · n=4,000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867912" y="4453127"/>
            <a:ext cx="1815579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97% · n=1,000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867912" y="4718303"/>
            <a:ext cx="182880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99% · n=1,000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867912" y="4983479"/>
            <a:ext cx="1865013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pic>
        <p:nvPicPr>
          <p:cNvPr id="80" name="Picture 79" descr="diagnostic_1cfe316ef6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4379976"/>
            <a:ext cx="5148072" cy="786384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Critical Review — raw observations; separate from business materiality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CVR 2.5% · n=4,000 | PNA 45.0% · n=1,000 | Cancels 22.0% · n=1,000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ACTION · Base Priority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2,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Tbilisi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-23.9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9585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+38.9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45736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8391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+19.5 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25512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64217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Target · -23.0 pp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305288" y="2345436"/>
            <a:ext cx="76727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90.74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100.00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PRIORITY ≥ 5.0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96% · n=4,000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867912" y="4453127"/>
            <a:ext cx="1815579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97% · n=1,000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867912" y="4718303"/>
            <a:ext cx="182880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99% · n=1,000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867912" y="4983479"/>
            <a:ext cx="1865013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pic>
        <p:nvPicPr>
          <p:cNvPr id="80" name="Picture 79" descr="diagnostic_1cfe316ef6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4379976"/>
            <a:ext cx="5148072" cy="786384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Critical Review — raw observations; separate from business materiality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CVR 2.5% · n=4,000 | PNA 45.0% · n=1,000 | Cancels 22.0% · n=1,000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ACTION · Base Priority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3,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Tbilisi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-23.9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9585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+38.9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45736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8391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+19.5 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25512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64217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Target · -23.0 pp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305288" y="2345436"/>
            <a:ext cx="76727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90.74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100.00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PRIORITY ≥ 5.0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96% · n=4,000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867912" y="4453127"/>
            <a:ext cx="1815579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97% · n=1,000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867912" y="4718303"/>
            <a:ext cx="182880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99% · n=1,000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867912" y="4983479"/>
            <a:ext cx="1865013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pic>
        <p:nvPicPr>
          <p:cNvPr id="80" name="Picture 79" descr="diagnostic_1cfe316ef6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4379976"/>
            <a:ext cx="5148072" cy="786384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Critical Review — raw observations; separate from business materiality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CVR 2.5% · n=4,000 | PNA 45.0% · n=1,000 | Cancels 22.0% · n=1,000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ACTION · Base Priority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4,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Tbilisi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-23.9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9585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+38.9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45736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8391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+19.5 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25512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64217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Target · -23.0 pp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305288" y="2345436"/>
            <a:ext cx="76727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90.74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100.00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PRIORITY ≥ 5.0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96% · n=4,000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867912" y="4453127"/>
            <a:ext cx="1815579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97% · n=1,000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867912" y="4718303"/>
            <a:ext cx="182880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99% · n=1,000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867912" y="4983479"/>
            <a:ext cx="1865013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pic>
        <p:nvPicPr>
          <p:cNvPr id="80" name="Picture 79" descr="diagnostic_1cfe316ef6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4379976"/>
            <a:ext cx="5148072" cy="786384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Critical Review — raw observations; separate from business materiality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CVR 2.5% · n=4,000 | PNA 45.0% · n=1,000 | Cancels 22.0% · n=1,000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ACTION · Base Priority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5,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Tbilisi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-23.9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9585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+38.9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45736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8391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+19.5 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25512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64217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Target · -23.0 pp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305288" y="2345436"/>
            <a:ext cx="76727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90.74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100.00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PRIORITY ≥ 5.0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96% · n=4,000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867912" y="4453127"/>
            <a:ext cx="1815579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97% · n=1,000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867912" y="4718303"/>
            <a:ext cx="182880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99% · n=1,000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867912" y="4983479"/>
            <a:ext cx="1865013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pic>
        <p:nvPicPr>
          <p:cNvPr id="80" name="Picture 79" descr="diagnostic_1cfe316ef6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4379976"/>
            <a:ext cx="5148072" cy="786384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Critical Review — raw observations; separate from business materiality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CVR 2.5% · n=4,000 | PNA 45.0% · n=1,000 | Cancels 22.0% · n=1,000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ACTION · Base Priority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G,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Tbilisi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INCOMPLETE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€2,000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200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20.0%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-6.4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766805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Gap not assessed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-0.0 pp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525512" y="2345436"/>
            <a:ext cx="998287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537883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95.0%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At Target · +0.0 pp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0305288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Leading known issue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known KPI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known exposure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87% · n=1,000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3867912" y="4453127"/>
            <a:ext cx="1637968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31520" y="4626864"/>
            <a:ext cx="48920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69" b="0">
                <a:solidFill>
                  <a:srgbClr val="232323"/>
                </a:solidFill>
                <a:latin typeface="Montserrat"/>
              </a:defRPr>
            </a:pPr>
            <a:r>
              <a:t>PNA · Rate unavailable / not assessed · n=400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98% · n=400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3867912" y="4983479"/>
            <a:ext cx="183772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Leading known issue trend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54496" y="44805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Trend unavailable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Assessment incomplete — review evidence before selecting a business action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Unavailable metrics: PNA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Required data review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incomplete assessment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Evidence: Unavailable metrics: PNA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UNCLASSIFIED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D,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UNKNOWN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MISSING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INCOMPLETE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Gap not assessed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Gap not assessed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Gap not assessed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Gap not assessed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61704" y="2679191"/>
            <a:ext cx="24323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Missing current evidence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Leading known issue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known KPI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None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known exposure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1520" y="4361688"/>
            <a:ext cx="48920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69" b="0">
                <a:solidFill>
                  <a:srgbClr val="232323"/>
                </a:solidFill>
                <a:latin typeface="Montserrat"/>
              </a:defRPr>
            </a:pPr>
            <a:r>
              <a:t>CVR · Rate unavailable / not assessed · n unavailable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520" y="4626864"/>
            <a:ext cx="48920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69" b="0">
                <a:solidFill>
                  <a:srgbClr val="232323"/>
                </a:solidFill>
                <a:latin typeface="Montserrat"/>
              </a:defRPr>
            </a:pPr>
            <a:r>
              <a:t>PNA · Rate unavailable / not assessed · n unavailable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" y="4892040"/>
            <a:ext cx="48920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69" b="0">
                <a:solidFill>
                  <a:srgbClr val="232323"/>
                </a:solidFill>
                <a:latin typeface="Montserrat"/>
              </a:defRPr>
            </a:pPr>
            <a:r>
              <a:t>Cancels · Rate unavailable / not assessed · n unavailable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Leading known issue trend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54496" y="44805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Trend unavailable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Assessment incomplete — review evidence before selecting a business action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No store row in the reporting month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Required data review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incomplete assessment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Evidence: No store row in the reporting month</a:t>
            </a:r>
          </a:p>
        </p:txBody>
      </p:sp>
      <p:sp>
        <p:nvSpPr>
          <p:cNvPr id="70" name="Rectangle 69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UNCLASSIFIED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Priority Opportunities &amp; Actions · 1/3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V2.1 business triage · Priority ranking remains unchanged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68512" y="1417320"/>
            <a:ext cx="2916936" cy="4901184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" y="1417320"/>
            <a:ext cx="7818120" cy="2377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pportunity store: PRIVATE-ID-0"/>
          <p:cNvSpPr txBox="1"/>
          <p:nvPr/>
        </p:nvSpPr>
        <p:spPr>
          <a:xfrm>
            <a:off x="841248" y="152704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00A082"/>
                </a:solidFill>
                <a:latin typeface="Montserrat"/>
              </a:defRPr>
            </a:pPr>
            <a:r>
              <a:t>#1 · 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8" name="V2.1 action field 0: PRIVATE-ID-0"/>
          <p:cNvSpPr txBox="1"/>
          <p:nvPr/>
        </p:nvSpPr>
        <p:spPr>
          <a:xfrm>
            <a:off x="841248" y="1911095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 · Primary Action KPI: PNA</a:t>
            </a:r>
          </a:p>
        </p:txBody>
      </p:sp>
      <p:sp>
        <p:nvSpPr>
          <p:cNvPr id="9" name="V2.1 action field 1: PRIVATE-ID-0"/>
          <p:cNvSpPr txBox="1"/>
          <p:nvPr/>
        </p:nvSpPr>
        <p:spPr>
          <a:xfrm>
            <a:off x="841248" y="2176272"/>
            <a:ext cx="73152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ACTION · Base Priority</a:t>
            </a:r>
          </a:p>
        </p:txBody>
      </p:sp>
      <p:sp>
        <p:nvSpPr>
          <p:cNvPr id="10" name="V2.1 action field 2: PRIVATE-ID-0"/>
          <p:cNvSpPr txBox="1"/>
          <p:nvPr/>
        </p:nvSpPr>
        <p:spPr>
          <a:xfrm>
            <a:off x="841248" y="24048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PNA 45.0% vs SBU 6.1%</a:t>
            </a:r>
          </a:p>
        </p:txBody>
      </p:sp>
      <p:sp>
        <p:nvSpPr>
          <p:cNvPr id="11" name="V2.1 action field 3: PRIVATE-ID-0"/>
          <p:cNvSpPr txBox="1"/>
          <p:nvPr/>
        </p:nvSpPr>
        <p:spPr>
          <a:xfrm>
            <a:off x="841248" y="2642616"/>
            <a:ext cx="731520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80" b="0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12" name="V2.1 action field 4: PRIVATE-ID-0"/>
          <p:cNvSpPr txBox="1"/>
          <p:nvPr/>
        </p:nvSpPr>
        <p:spPr>
          <a:xfrm>
            <a:off x="841248" y="30358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8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13" name="V2.1 action field 5: PRIVATE-ID-0"/>
          <p:cNvSpPr txBox="1"/>
          <p:nvPr/>
        </p:nvSpPr>
        <p:spPr>
          <a:xfrm>
            <a:off x="841248" y="3465576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" y="3931920"/>
            <a:ext cx="7818120" cy="2377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pportunity store: PRIVATE-ID-1"/>
          <p:cNvSpPr txBox="1"/>
          <p:nvPr/>
        </p:nvSpPr>
        <p:spPr>
          <a:xfrm>
            <a:off x="841248" y="404164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00A082"/>
                </a:solidFill>
                <a:latin typeface="Montserrat"/>
              </a:defRPr>
            </a:pPr>
            <a:r>
              <a:t>#2 · Pet supplies branch 1, Rustaveli Avenue 15</a:t>
            </a:r>
          </a:p>
        </p:txBody>
      </p:sp>
      <p:sp>
        <p:nvSpPr>
          <p:cNvPr id="16" name="V2.1 action field 0: PRIVATE-ID-1"/>
          <p:cNvSpPr txBox="1"/>
          <p:nvPr/>
        </p:nvSpPr>
        <p:spPr>
          <a:xfrm>
            <a:off x="841248" y="4425696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 · Primary Action KPI: PNA</a:t>
            </a:r>
          </a:p>
        </p:txBody>
      </p:sp>
      <p:sp>
        <p:nvSpPr>
          <p:cNvPr id="17" name="V2.1 action field 1: PRIVATE-ID-1"/>
          <p:cNvSpPr txBox="1"/>
          <p:nvPr/>
        </p:nvSpPr>
        <p:spPr>
          <a:xfrm>
            <a:off x="841248" y="4690872"/>
            <a:ext cx="73152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ACTION · Base Priority</a:t>
            </a:r>
          </a:p>
        </p:txBody>
      </p:sp>
      <p:sp>
        <p:nvSpPr>
          <p:cNvPr id="18" name="V2.1 action field 2: PRIVATE-ID-1"/>
          <p:cNvSpPr txBox="1"/>
          <p:nvPr/>
        </p:nvSpPr>
        <p:spPr>
          <a:xfrm>
            <a:off x="841248" y="49194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PNA 45.0% vs SBU 6.1%</a:t>
            </a:r>
          </a:p>
        </p:txBody>
      </p:sp>
      <p:sp>
        <p:nvSpPr>
          <p:cNvPr id="19" name="V2.1 action field 3: PRIVATE-ID-1"/>
          <p:cNvSpPr txBox="1"/>
          <p:nvPr/>
        </p:nvSpPr>
        <p:spPr>
          <a:xfrm>
            <a:off x="841248" y="5157216"/>
            <a:ext cx="731520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80" b="0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20" name="V2.1 action field 4: PRIVATE-ID-1"/>
          <p:cNvSpPr txBox="1"/>
          <p:nvPr/>
        </p:nvSpPr>
        <p:spPr>
          <a:xfrm>
            <a:off x="841248" y="55504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8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21" name="V2.1 action field 5: PRIVATE-ID-1"/>
          <p:cNvSpPr txBox="1"/>
          <p:nvPr/>
        </p:nvSpPr>
        <p:spPr>
          <a:xfrm>
            <a:off x="841248" y="5980176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78824" y="1627632"/>
            <a:ext cx="25328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OVERALL ACTION FOCUS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78824" y="1965960"/>
            <a:ext cx="2532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6 selected of 6 ACTION stores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78824" y="2331720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78824" y="2569463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78824" y="2926079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Requiring 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78824" y="3163824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6 stores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78824" y="3520439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Priority Range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78824" y="3758183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Highest 85.30 · Lowest 85.30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78824" y="4114800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/ Review Items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78824" y="4352544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18 items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78824" y="4745736"/>
            <a:ext cx="2532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Review items are separate from Priority.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06256" y="516636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Next 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06256" y="5532120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62288" y="5532120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Confirm priority stores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06256" y="5797296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62288" y="5797296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Assign owner / deadline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06256" y="6062472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62288" y="6062472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Track progress next review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Priority Opportunities &amp; Actions · 2/3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V2.1 business triage · Priority ranking remains unchanged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68512" y="1417320"/>
            <a:ext cx="2916936" cy="4901184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" y="1417320"/>
            <a:ext cx="7818120" cy="2377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pportunity store: PRIVATE-ID-2"/>
          <p:cNvSpPr txBox="1"/>
          <p:nvPr/>
        </p:nvSpPr>
        <p:spPr>
          <a:xfrm>
            <a:off x="841248" y="152704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00A082"/>
                </a:solidFill>
                <a:latin typeface="Montserrat"/>
              </a:defRPr>
            </a:pPr>
            <a:r>
              <a:t>#3 · Pet supplies branch 2, Rustaveli Avenue 15</a:t>
            </a:r>
          </a:p>
        </p:txBody>
      </p:sp>
      <p:sp>
        <p:nvSpPr>
          <p:cNvPr id="8" name="V2.1 action field 0: PRIVATE-ID-2"/>
          <p:cNvSpPr txBox="1"/>
          <p:nvPr/>
        </p:nvSpPr>
        <p:spPr>
          <a:xfrm>
            <a:off x="841248" y="1911095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 · Primary Action KPI: PNA</a:t>
            </a:r>
          </a:p>
        </p:txBody>
      </p:sp>
      <p:sp>
        <p:nvSpPr>
          <p:cNvPr id="9" name="V2.1 action field 1: PRIVATE-ID-2"/>
          <p:cNvSpPr txBox="1"/>
          <p:nvPr/>
        </p:nvSpPr>
        <p:spPr>
          <a:xfrm>
            <a:off x="841248" y="2176272"/>
            <a:ext cx="73152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ACTION · Base Priority</a:t>
            </a:r>
          </a:p>
        </p:txBody>
      </p:sp>
      <p:sp>
        <p:nvSpPr>
          <p:cNvPr id="10" name="V2.1 action field 2: PRIVATE-ID-2"/>
          <p:cNvSpPr txBox="1"/>
          <p:nvPr/>
        </p:nvSpPr>
        <p:spPr>
          <a:xfrm>
            <a:off x="841248" y="24048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PNA 45.0% vs SBU 6.1%</a:t>
            </a:r>
          </a:p>
        </p:txBody>
      </p:sp>
      <p:sp>
        <p:nvSpPr>
          <p:cNvPr id="11" name="V2.1 action field 3: PRIVATE-ID-2"/>
          <p:cNvSpPr txBox="1"/>
          <p:nvPr/>
        </p:nvSpPr>
        <p:spPr>
          <a:xfrm>
            <a:off x="841248" y="2642616"/>
            <a:ext cx="731520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80" b="0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12" name="V2.1 action field 4: PRIVATE-ID-2"/>
          <p:cNvSpPr txBox="1"/>
          <p:nvPr/>
        </p:nvSpPr>
        <p:spPr>
          <a:xfrm>
            <a:off x="841248" y="30358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8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13" name="V2.1 action field 5: PRIVATE-ID-2"/>
          <p:cNvSpPr txBox="1"/>
          <p:nvPr/>
        </p:nvSpPr>
        <p:spPr>
          <a:xfrm>
            <a:off x="841248" y="3465576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" y="3931920"/>
            <a:ext cx="7818120" cy="2377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pportunity store: PRIVATE-ID-3"/>
          <p:cNvSpPr txBox="1"/>
          <p:nvPr/>
        </p:nvSpPr>
        <p:spPr>
          <a:xfrm>
            <a:off x="841248" y="404164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00A082"/>
                </a:solidFill>
                <a:latin typeface="Montserrat"/>
              </a:defRPr>
            </a:pPr>
            <a:r>
              <a:t>#4 · Pet supplies branch 3, Rustaveli Avenue 15</a:t>
            </a:r>
          </a:p>
        </p:txBody>
      </p:sp>
      <p:sp>
        <p:nvSpPr>
          <p:cNvPr id="16" name="V2.1 action field 0: PRIVATE-ID-3"/>
          <p:cNvSpPr txBox="1"/>
          <p:nvPr/>
        </p:nvSpPr>
        <p:spPr>
          <a:xfrm>
            <a:off x="841248" y="4425696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 · Primary Action KPI: PNA</a:t>
            </a:r>
          </a:p>
        </p:txBody>
      </p:sp>
      <p:sp>
        <p:nvSpPr>
          <p:cNvPr id="17" name="V2.1 action field 1: PRIVATE-ID-3"/>
          <p:cNvSpPr txBox="1"/>
          <p:nvPr/>
        </p:nvSpPr>
        <p:spPr>
          <a:xfrm>
            <a:off x="841248" y="4690872"/>
            <a:ext cx="73152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ACTION · Base Priority</a:t>
            </a:r>
          </a:p>
        </p:txBody>
      </p:sp>
      <p:sp>
        <p:nvSpPr>
          <p:cNvPr id="18" name="V2.1 action field 2: PRIVATE-ID-3"/>
          <p:cNvSpPr txBox="1"/>
          <p:nvPr/>
        </p:nvSpPr>
        <p:spPr>
          <a:xfrm>
            <a:off x="841248" y="49194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PNA 45.0% vs SBU 6.1%</a:t>
            </a:r>
          </a:p>
        </p:txBody>
      </p:sp>
      <p:sp>
        <p:nvSpPr>
          <p:cNvPr id="19" name="V2.1 action field 3: PRIVATE-ID-3"/>
          <p:cNvSpPr txBox="1"/>
          <p:nvPr/>
        </p:nvSpPr>
        <p:spPr>
          <a:xfrm>
            <a:off x="841248" y="5157216"/>
            <a:ext cx="731520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80" b="0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20" name="V2.1 action field 4: PRIVATE-ID-3"/>
          <p:cNvSpPr txBox="1"/>
          <p:nvPr/>
        </p:nvSpPr>
        <p:spPr>
          <a:xfrm>
            <a:off x="841248" y="55504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8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21" name="V2.1 action field 5: PRIVATE-ID-3"/>
          <p:cNvSpPr txBox="1"/>
          <p:nvPr/>
        </p:nvSpPr>
        <p:spPr>
          <a:xfrm>
            <a:off x="841248" y="5980176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78824" y="1627632"/>
            <a:ext cx="25328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OVERALL ACTION FOCUS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78824" y="1965960"/>
            <a:ext cx="2532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6 selected of 6 ACTION stores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78824" y="2331720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78824" y="2569463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78824" y="2926079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Requiring 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78824" y="3163824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6 stores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78824" y="3520439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Priority Range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78824" y="3758183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Highest 85.30 · Lowest 85.30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78824" y="4114800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/ Review Items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78824" y="4352544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18 items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78824" y="4745736"/>
            <a:ext cx="2532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Review items are separate from Priority.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06256" y="516636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Next 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06256" y="5532120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62288" y="5532120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Confirm priority stores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06256" y="5797296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62288" y="5797296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Assign owner / deadline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06256" y="6062472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62288" y="6062472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Track progress next review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Priority Opportunities &amp; Actions · 3/3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V2.1 business triage · Priority ranking remains unchanged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68512" y="1417320"/>
            <a:ext cx="2916936" cy="4901184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" y="1417320"/>
            <a:ext cx="7818120" cy="2377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pportunity store: PRIVATE-ID-4"/>
          <p:cNvSpPr txBox="1"/>
          <p:nvPr/>
        </p:nvSpPr>
        <p:spPr>
          <a:xfrm>
            <a:off x="841248" y="152704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00A082"/>
                </a:solidFill>
                <a:latin typeface="Montserrat"/>
              </a:defRPr>
            </a:pPr>
            <a:r>
              <a:t>#5 · Pet supplies branch 4, Rustaveli Avenue 15</a:t>
            </a:r>
          </a:p>
        </p:txBody>
      </p:sp>
      <p:sp>
        <p:nvSpPr>
          <p:cNvPr id="8" name="V2.1 action field 0: PRIVATE-ID-4"/>
          <p:cNvSpPr txBox="1"/>
          <p:nvPr/>
        </p:nvSpPr>
        <p:spPr>
          <a:xfrm>
            <a:off x="841248" y="1911095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 · Primary Action KPI: PNA</a:t>
            </a:r>
          </a:p>
        </p:txBody>
      </p:sp>
      <p:sp>
        <p:nvSpPr>
          <p:cNvPr id="9" name="V2.1 action field 1: PRIVATE-ID-4"/>
          <p:cNvSpPr txBox="1"/>
          <p:nvPr/>
        </p:nvSpPr>
        <p:spPr>
          <a:xfrm>
            <a:off x="841248" y="2176272"/>
            <a:ext cx="73152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ACTION · Base Priority</a:t>
            </a:r>
          </a:p>
        </p:txBody>
      </p:sp>
      <p:sp>
        <p:nvSpPr>
          <p:cNvPr id="10" name="V2.1 action field 2: PRIVATE-ID-4"/>
          <p:cNvSpPr txBox="1"/>
          <p:nvPr/>
        </p:nvSpPr>
        <p:spPr>
          <a:xfrm>
            <a:off x="841248" y="24048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PNA 45.0% vs SBU 6.1%</a:t>
            </a:r>
          </a:p>
        </p:txBody>
      </p:sp>
      <p:sp>
        <p:nvSpPr>
          <p:cNvPr id="11" name="V2.1 action field 3: PRIVATE-ID-4"/>
          <p:cNvSpPr txBox="1"/>
          <p:nvPr/>
        </p:nvSpPr>
        <p:spPr>
          <a:xfrm>
            <a:off x="841248" y="2642616"/>
            <a:ext cx="731520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80" b="0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12" name="V2.1 action field 4: PRIVATE-ID-4"/>
          <p:cNvSpPr txBox="1"/>
          <p:nvPr/>
        </p:nvSpPr>
        <p:spPr>
          <a:xfrm>
            <a:off x="841248" y="30358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8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13" name="V2.1 action field 5: PRIVATE-ID-4"/>
          <p:cNvSpPr txBox="1"/>
          <p:nvPr/>
        </p:nvSpPr>
        <p:spPr>
          <a:xfrm>
            <a:off x="841248" y="3465576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" y="3931920"/>
            <a:ext cx="7818120" cy="2377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pportunity store: PRIVATE-ID-5"/>
          <p:cNvSpPr txBox="1"/>
          <p:nvPr/>
        </p:nvSpPr>
        <p:spPr>
          <a:xfrm>
            <a:off x="841248" y="404164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00A082"/>
                </a:solidFill>
                <a:latin typeface="Montserrat"/>
              </a:defRPr>
            </a:pPr>
            <a:r>
              <a:t>#6 · Pet supplies branch 5, Rustaveli Avenue 15</a:t>
            </a:r>
          </a:p>
        </p:txBody>
      </p:sp>
      <p:sp>
        <p:nvSpPr>
          <p:cNvPr id="16" name="V2.1 action field 0: PRIVATE-ID-5"/>
          <p:cNvSpPr txBox="1"/>
          <p:nvPr/>
        </p:nvSpPr>
        <p:spPr>
          <a:xfrm>
            <a:off x="841248" y="4425696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 · Primary Action KPI: PNA</a:t>
            </a:r>
          </a:p>
        </p:txBody>
      </p:sp>
      <p:sp>
        <p:nvSpPr>
          <p:cNvPr id="17" name="V2.1 action field 1: PRIVATE-ID-5"/>
          <p:cNvSpPr txBox="1"/>
          <p:nvPr/>
        </p:nvSpPr>
        <p:spPr>
          <a:xfrm>
            <a:off x="841248" y="4690872"/>
            <a:ext cx="73152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ACTION · Base Priority</a:t>
            </a:r>
          </a:p>
        </p:txBody>
      </p:sp>
      <p:sp>
        <p:nvSpPr>
          <p:cNvPr id="18" name="V2.1 action field 2: PRIVATE-ID-5"/>
          <p:cNvSpPr txBox="1"/>
          <p:nvPr/>
        </p:nvSpPr>
        <p:spPr>
          <a:xfrm>
            <a:off x="841248" y="49194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PNA 45.0% vs SBU 6.1%</a:t>
            </a:r>
          </a:p>
        </p:txBody>
      </p:sp>
      <p:sp>
        <p:nvSpPr>
          <p:cNvPr id="19" name="V2.1 action field 3: PRIVATE-ID-5"/>
          <p:cNvSpPr txBox="1"/>
          <p:nvPr/>
        </p:nvSpPr>
        <p:spPr>
          <a:xfrm>
            <a:off x="841248" y="5157216"/>
            <a:ext cx="731520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80" b="0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20" name="V2.1 action field 4: PRIVATE-ID-5"/>
          <p:cNvSpPr txBox="1"/>
          <p:nvPr/>
        </p:nvSpPr>
        <p:spPr>
          <a:xfrm>
            <a:off x="841248" y="55504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8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21" name="V2.1 action field 5: PRIVATE-ID-5"/>
          <p:cNvSpPr txBox="1"/>
          <p:nvPr/>
        </p:nvSpPr>
        <p:spPr>
          <a:xfrm>
            <a:off x="841248" y="5980176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78824" y="1627632"/>
            <a:ext cx="25328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OVERALL ACTION FOCUS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78824" y="1965960"/>
            <a:ext cx="2532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6 selected of 6 ACTION stores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78824" y="2331720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78824" y="2569463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78824" y="2926079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Requiring 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78824" y="3163824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6 stores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78824" y="3520439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Priority Range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78824" y="3758183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Highest 85.30 · Lowest 85.30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78824" y="4114800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/ Review Items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78824" y="4352544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18 items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78824" y="4745736"/>
            <a:ext cx="2532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Review items are separate from Priority.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06256" y="516636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Next 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06256" y="5532120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62288" y="5532120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Confirm priority stores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06256" y="5797296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62288" y="5797296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Assign owner / deadline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06256" y="6062472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62288" y="6062472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Track progress next review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 · 1/5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0991088" cy="49377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view summary items to review"/>
          <p:cNvSpPr txBox="1"/>
          <p:nvPr/>
        </p:nvSpPr>
        <p:spPr>
          <a:xfrm>
            <a:off x="795528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20</a:t>
            </a:r>
          </a:p>
        </p:txBody>
      </p:sp>
      <p:pic>
        <p:nvPicPr>
          <p:cNvPr id="7" name="Review summary items to review icon" descr="icon_data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750" y="1496872"/>
            <a:ext cx="310896" cy="310896"/>
          </a:xfrm>
          <a:prstGeom prst="rect">
            <a:avLst/>
          </a:prstGeom>
        </p:spPr>
      </p:pic>
      <p:sp>
        <p:nvSpPr>
          <p:cNvPr id="8" name="Review summary label"/>
          <p:cNvSpPr txBox="1"/>
          <p:nvPr/>
        </p:nvSpPr>
        <p:spPr>
          <a:xfrm>
            <a:off x="1387510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items to review</a:t>
            </a:r>
          </a:p>
        </p:txBody>
      </p:sp>
      <p:sp>
        <p:nvSpPr>
          <p:cNvPr id="9" name="Review summary stores affected"/>
          <p:cNvSpPr txBox="1"/>
          <p:nvPr/>
        </p:nvSpPr>
        <p:spPr>
          <a:xfrm>
            <a:off x="4462272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8</a:t>
            </a:r>
          </a:p>
        </p:txBody>
      </p:sp>
      <p:pic>
        <p:nvPicPr>
          <p:cNvPr id="10" name="Review summary stores affected icon" descr="icon_store_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2268" y="1496872"/>
            <a:ext cx="310896" cy="310896"/>
          </a:xfrm>
          <a:prstGeom prst="rect">
            <a:avLst/>
          </a:prstGeom>
        </p:spPr>
      </p:pic>
      <p:sp>
        <p:nvSpPr>
          <p:cNvPr id="11" name="Review summary label"/>
          <p:cNvSpPr txBox="1"/>
          <p:nvPr/>
        </p:nvSpPr>
        <p:spPr>
          <a:xfrm>
            <a:off x="5078028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affected</a:t>
            </a:r>
          </a:p>
        </p:txBody>
      </p:sp>
      <p:sp>
        <p:nvSpPr>
          <p:cNvPr id="12" name="Review summary critical observations"/>
          <p:cNvSpPr txBox="1"/>
          <p:nvPr/>
        </p:nvSpPr>
        <p:spPr>
          <a:xfrm>
            <a:off x="8129016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18</a:t>
            </a:r>
          </a:p>
        </p:txBody>
      </p:sp>
      <p:pic>
        <p:nvPicPr>
          <p:cNvPr id="13" name="Review summary critical observations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5238" y="1496872"/>
            <a:ext cx="310896" cy="310896"/>
          </a:xfrm>
          <a:prstGeom prst="rect">
            <a:avLst/>
          </a:prstGeom>
        </p:spPr>
      </p:pic>
      <p:sp>
        <p:nvSpPr>
          <p:cNvPr id="14" name="Review summary label"/>
          <p:cNvSpPr txBox="1"/>
          <p:nvPr/>
        </p:nvSpPr>
        <p:spPr>
          <a:xfrm>
            <a:off x="8720998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</a:t>
            </a:r>
          </a:p>
        </p:txBody>
      </p:sp>
      <p:sp>
        <p:nvSpPr>
          <p:cNvPr id="15" name="Review column STORE / LOCATION"/>
          <p:cNvSpPr txBox="1"/>
          <p:nvPr/>
        </p:nvSpPr>
        <p:spPr>
          <a:xfrm>
            <a:off x="813816" y="2039112"/>
            <a:ext cx="30175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STORE / LOCATION</a:t>
            </a:r>
          </a:p>
        </p:txBody>
      </p:sp>
      <p:sp>
        <p:nvSpPr>
          <p:cNvPr id="16" name="Review column TYPE"/>
          <p:cNvSpPr txBox="1"/>
          <p:nvPr/>
        </p:nvSpPr>
        <p:spPr>
          <a:xfrm>
            <a:off x="4059936" y="2039112"/>
            <a:ext cx="13258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TYPE</a:t>
            </a:r>
          </a:p>
        </p:txBody>
      </p:sp>
      <p:sp>
        <p:nvSpPr>
          <p:cNvPr id="17" name="Review column EVIDENCE"/>
          <p:cNvSpPr txBox="1"/>
          <p:nvPr/>
        </p:nvSpPr>
        <p:spPr>
          <a:xfrm>
            <a:off x="5577840" y="2039112"/>
            <a:ext cx="23957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EVIDENCE</a:t>
            </a:r>
          </a:p>
        </p:txBody>
      </p:sp>
      <p:sp>
        <p:nvSpPr>
          <p:cNvPr id="18" name="Review column REVIEW ACTION"/>
          <p:cNvSpPr txBox="1"/>
          <p:nvPr/>
        </p:nvSpPr>
        <p:spPr>
          <a:xfrm>
            <a:off x="8147304" y="2039112"/>
            <a:ext cx="32004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REVIEW ACTION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2368296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4360" y="2404872"/>
            <a:ext cx="41148" cy="822960"/>
          </a:xfrm>
          <a:prstGeom prst="roundRect">
            <a:avLst>
              <a:gd name="adj" fmla="val 8000"/>
            </a:avLst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view 0 store"/>
          <p:cNvSpPr txBox="1"/>
          <p:nvPr/>
        </p:nvSpPr>
        <p:spPr>
          <a:xfrm>
            <a:off x="813816" y="2514600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G, Rustaveli Avenue 15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13632" y="2523744"/>
            <a:ext cx="1572768" cy="402336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Review 0 icon" descr="icon_data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1063" y="2560320"/>
            <a:ext cx="256032" cy="256032"/>
          </a:xfrm>
          <a:prstGeom prst="rect">
            <a:avLst/>
          </a:prstGeom>
        </p:spPr>
      </p:pic>
      <p:sp>
        <p:nvSpPr>
          <p:cNvPr id="24" name="Review 0 type"/>
          <p:cNvSpPr txBox="1"/>
          <p:nvPr/>
        </p:nvSpPr>
        <p:spPr>
          <a:xfrm>
            <a:off x="4251960" y="2587752"/>
            <a:ext cx="11612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Data quality</a:t>
            </a:r>
          </a:p>
        </p:txBody>
      </p:sp>
      <p:sp>
        <p:nvSpPr>
          <p:cNvPr id="25" name="Review 0 evidence"/>
          <p:cNvSpPr txBox="1"/>
          <p:nvPr/>
        </p:nvSpPr>
        <p:spPr>
          <a:xfrm>
            <a:off x="5577840" y="2514600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Missing scoring evidence: PNA</a:t>
            </a:r>
          </a:p>
        </p:txBody>
      </p:sp>
      <p:sp>
        <p:nvSpPr>
          <p:cNvPr id="26" name="Review 0 action"/>
          <p:cNvSpPr txBox="1"/>
          <p:nvPr/>
        </p:nvSpPr>
        <p:spPr>
          <a:xfrm>
            <a:off x="8147304" y="2514600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Reconcile current activity, lifecycle, missing inputs and benchmark coverage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3346704"/>
            <a:ext cx="10991088" cy="90525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94360" y="3383280"/>
            <a:ext cx="41148" cy="832104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view 1 store"/>
          <p:cNvSpPr txBox="1"/>
          <p:nvPr/>
        </p:nvSpPr>
        <p:spPr>
          <a:xfrm>
            <a:off x="813816" y="3493008"/>
            <a:ext cx="3017520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913632" y="3502152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Review 1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3538728"/>
            <a:ext cx="256032" cy="256032"/>
          </a:xfrm>
          <a:prstGeom prst="rect">
            <a:avLst/>
          </a:prstGeom>
        </p:spPr>
      </p:pic>
      <p:sp>
        <p:nvSpPr>
          <p:cNvPr id="32" name="Review 1 type"/>
          <p:cNvSpPr txBox="1"/>
          <p:nvPr/>
        </p:nvSpPr>
        <p:spPr>
          <a:xfrm>
            <a:off x="4251960" y="3566160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33" name="Review 1 evidence"/>
          <p:cNvSpPr txBox="1"/>
          <p:nvPr/>
        </p:nvSpPr>
        <p:spPr>
          <a:xfrm>
            <a:off x="5577840" y="3493008"/>
            <a:ext cx="235915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CVR 2.5% vs SBU 26.4%; denominator 4,000</a:t>
            </a:r>
          </a:p>
        </p:txBody>
      </p:sp>
      <p:sp>
        <p:nvSpPr>
          <p:cNvPr id="34" name="Review 1 action"/>
          <p:cNvSpPr txBox="1"/>
          <p:nvPr/>
        </p:nvSpPr>
        <p:spPr>
          <a:xfrm>
            <a:off x="8147304" y="3493008"/>
            <a:ext cx="321868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assortment, pricing and the conversion journey; verify the sample before escalation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4334256"/>
            <a:ext cx="10991088" cy="90525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94360" y="4370832"/>
            <a:ext cx="41148" cy="832104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view 2 store"/>
          <p:cNvSpPr txBox="1"/>
          <p:nvPr/>
        </p:nvSpPr>
        <p:spPr>
          <a:xfrm>
            <a:off x="813816" y="4480560"/>
            <a:ext cx="3017520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913632" y="4489704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Review 2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4526280"/>
            <a:ext cx="256032" cy="256032"/>
          </a:xfrm>
          <a:prstGeom prst="rect">
            <a:avLst/>
          </a:prstGeom>
        </p:spPr>
      </p:pic>
      <p:sp>
        <p:nvSpPr>
          <p:cNvPr id="40" name="Review 2 type"/>
          <p:cNvSpPr txBox="1"/>
          <p:nvPr/>
        </p:nvSpPr>
        <p:spPr>
          <a:xfrm>
            <a:off x="4251960" y="4553712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41" name="Review 2 evidence"/>
          <p:cNvSpPr txBox="1"/>
          <p:nvPr/>
        </p:nvSpPr>
        <p:spPr>
          <a:xfrm>
            <a:off x="5577840" y="4480560"/>
            <a:ext cx="235915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Cancels 22.0% vs SBU 2.5%; denominator 1,000</a:t>
            </a:r>
          </a:p>
        </p:txBody>
      </p:sp>
      <p:sp>
        <p:nvSpPr>
          <p:cNvPr id="42" name="Review 2 action"/>
          <p:cNvSpPr txBox="1"/>
          <p:nvPr/>
        </p:nvSpPr>
        <p:spPr>
          <a:xfrm>
            <a:off x="8147304" y="4480560"/>
            <a:ext cx="321868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partner-cancelled orders and resolve the main failure reasons; verify the sample before escalation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4360" y="5321808"/>
            <a:ext cx="10991088" cy="90525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94360" y="5358384"/>
            <a:ext cx="41148" cy="832104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view 3 store"/>
          <p:cNvSpPr txBox="1"/>
          <p:nvPr/>
        </p:nvSpPr>
        <p:spPr>
          <a:xfrm>
            <a:off x="813816" y="5468112"/>
            <a:ext cx="3017520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913632" y="5477256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Review 3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5513832"/>
            <a:ext cx="256032" cy="256032"/>
          </a:xfrm>
          <a:prstGeom prst="rect">
            <a:avLst/>
          </a:prstGeom>
        </p:spPr>
      </p:pic>
      <p:sp>
        <p:nvSpPr>
          <p:cNvPr id="48" name="Review 3 type"/>
          <p:cNvSpPr txBox="1"/>
          <p:nvPr/>
        </p:nvSpPr>
        <p:spPr>
          <a:xfrm>
            <a:off x="4251960" y="5541264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49" name="Review 3 evidence"/>
          <p:cNvSpPr txBox="1"/>
          <p:nvPr/>
        </p:nvSpPr>
        <p:spPr>
          <a:xfrm>
            <a:off x="5577840" y="5468112"/>
            <a:ext cx="235915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PNA 45.0% vs SBU 6.1%; denominator 1,000</a:t>
            </a:r>
          </a:p>
        </p:txBody>
      </p:sp>
      <p:sp>
        <p:nvSpPr>
          <p:cNvPr id="50" name="Review 3 action"/>
          <p:cNvSpPr txBox="1"/>
          <p:nvPr/>
        </p:nvSpPr>
        <p:spPr>
          <a:xfrm>
            <a:off x="8147304" y="5468112"/>
            <a:ext cx="321868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stock accuracy and availability of affected products; verify the sample before escalation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 · 2/5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0991088" cy="49377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view summary items to review"/>
          <p:cNvSpPr txBox="1"/>
          <p:nvPr/>
        </p:nvSpPr>
        <p:spPr>
          <a:xfrm>
            <a:off x="795528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20</a:t>
            </a:r>
          </a:p>
        </p:txBody>
      </p:sp>
      <p:pic>
        <p:nvPicPr>
          <p:cNvPr id="7" name="Review summary items to review icon" descr="icon_data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750" y="1496872"/>
            <a:ext cx="310896" cy="310896"/>
          </a:xfrm>
          <a:prstGeom prst="rect">
            <a:avLst/>
          </a:prstGeom>
        </p:spPr>
      </p:pic>
      <p:sp>
        <p:nvSpPr>
          <p:cNvPr id="8" name="Review summary label"/>
          <p:cNvSpPr txBox="1"/>
          <p:nvPr/>
        </p:nvSpPr>
        <p:spPr>
          <a:xfrm>
            <a:off x="1387510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items to review</a:t>
            </a:r>
          </a:p>
        </p:txBody>
      </p:sp>
      <p:sp>
        <p:nvSpPr>
          <p:cNvPr id="9" name="Review summary stores affected"/>
          <p:cNvSpPr txBox="1"/>
          <p:nvPr/>
        </p:nvSpPr>
        <p:spPr>
          <a:xfrm>
            <a:off x="4462272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8</a:t>
            </a:r>
          </a:p>
        </p:txBody>
      </p:sp>
      <p:pic>
        <p:nvPicPr>
          <p:cNvPr id="10" name="Review summary stores affected icon" descr="icon_store_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2268" y="1496872"/>
            <a:ext cx="310896" cy="310896"/>
          </a:xfrm>
          <a:prstGeom prst="rect">
            <a:avLst/>
          </a:prstGeom>
        </p:spPr>
      </p:pic>
      <p:sp>
        <p:nvSpPr>
          <p:cNvPr id="11" name="Review summary label"/>
          <p:cNvSpPr txBox="1"/>
          <p:nvPr/>
        </p:nvSpPr>
        <p:spPr>
          <a:xfrm>
            <a:off x="5078028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affected</a:t>
            </a:r>
          </a:p>
        </p:txBody>
      </p:sp>
      <p:sp>
        <p:nvSpPr>
          <p:cNvPr id="12" name="Review summary critical observations"/>
          <p:cNvSpPr txBox="1"/>
          <p:nvPr/>
        </p:nvSpPr>
        <p:spPr>
          <a:xfrm>
            <a:off x="8129016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18</a:t>
            </a:r>
          </a:p>
        </p:txBody>
      </p:sp>
      <p:pic>
        <p:nvPicPr>
          <p:cNvPr id="13" name="Review summary critical observations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5238" y="1496872"/>
            <a:ext cx="310896" cy="310896"/>
          </a:xfrm>
          <a:prstGeom prst="rect">
            <a:avLst/>
          </a:prstGeom>
        </p:spPr>
      </p:pic>
      <p:sp>
        <p:nvSpPr>
          <p:cNvPr id="14" name="Review summary label"/>
          <p:cNvSpPr txBox="1"/>
          <p:nvPr/>
        </p:nvSpPr>
        <p:spPr>
          <a:xfrm>
            <a:off x="8720998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</a:t>
            </a:r>
          </a:p>
        </p:txBody>
      </p:sp>
      <p:sp>
        <p:nvSpPr>
          <p:cNvPr id="15" name="Review column STORE / LOCATION"/>
          <p:cNvSpPr txBox="1"/>
          <p:nvPr/>
        </p:nvSpPr>
        <p:spPr>
          <a:xfrm>
            <a:off x="813816" y="2039112"/>
            <a:ext cx="30175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STORE / LOCATION</a:t>
            </a:r>
          </a:p>
        </p:txBody>
      </p:sp>
      <p:sp>
        <p:nvSpPr>
          <p:cNvPr id="16" name="Review column TYPE"/>
          <p:cNvSpPr txBox="1"/>
          <p:nvPr/>
        </p:nvSpPr>
        <p:spPr>
          <a:xfrm>
            <a:off x="4059936" y="2039112"/>
            <a:ext cx="13258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TYPE</a:t>
            </a:r>
          </a:p>
        </p:txBody>
      </p:sp>
      <p:sp>
        <p:nvSpPr>
          <p:cNvPr id="17" name="Review column EVIDENCE"/>
          <p:cNvSpPr txBox="1"/>
          <p:nvPr/>
        </p:nvSpPr>
        <p:spPr>
          <a:xfrm>
            <a:off x="5577840" y="2039112"/>
            <a:ext cx="23957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EVIDENCE</a:t>
            </a:r>
          </a:p>
        </p:txBody>
      </p:sp>
      <p:sp>
        <p:nvSpPr>
          <p:cNvPr id="18" name="Review column REVIEW ACTION"/>
          <p:cNvSpPr txBox="1"/>
          <p:nvPr/>
        </p:nvSpPr>
        <p:spPr>
          <a:xfrm>
            <a:off x="8147304" y="2039112"/>
            <a:ext cx="32004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REVIEW ACTION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2368296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4360" y="2404872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view 4 store"/>
          <p:cNvSpPr txBox="1"/>
          <p:nvPr/>
        </p:nvSpPr>
        <p:spPr>
          <a:xfrm>
            <a:off x="813816" y="2514600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1, Rustaveli Avenue 15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13632" y="2523744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Review 4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2560320"/>
            <a:ext cx="256032" cy="256032"/>
          </a:xfrm>
          <a:prstGeom prst="rect">
            <a:avLst/>
          </a:prstGeom>
        </p:spPr>
      </p:pic>
      <p:sp>
        <p:nvSpPr>
          <p:cNvPr id="24" name="Review 4 type"/>
          <p:cNvSpPr txBox="1"/>
          <p:nvPr/>
        </p:nvSpPr>
        <p:spPr>
          <a:xfrm>
            <a:off x="4251960" y="2587752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25" name="Review 4 evidence"/>
          <p:cNvSpPr txBox="1"/>
          <p:nvPr/>
        </p:nvSpPr>
        <p:spPr>
          <a:xfrm>
            <a:off x="5577840" y="2514600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CVR 2.5% vs SBU 26.4%; denominator 4,000</a:t>
            </a:r>
          </a:p>
        </p:txBody>
      </p:sp>
      <p:sp>
        <p:nvSpPr>
          <p:cNvPr id="26" name="Review 4 action"/>
          <p:cNvSpPr txBox="1"/>
          <p:nvPr/>
        </p:nvSpPr>
        <p:spPr>
          <a:xfrm>
            <a:off x="8147304" y="2514600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assortment, pricing and the conversion journey; verify the sample before escalation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3346704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94360" y="3383280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view 5 store"/>
          <p:cNvSpPr txBox="1"/>
          <p:nvPr/>
        </p:nvSpPr>
        <p:spPr>
          <a:xfrm>
            <a:off x="813816" y="3493008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1, Rustaveli Avenue 15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913632" y="3502152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Review 5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3538728"/>
            <a:ext cx="256032" cy="256032"/>
          </a:xfrm>
          <a:prstGeom prst="rect">
            <a:avLst/>
          </a:prstGeom>
        </p:spPr>
      </p:pic>
      <p:sp>
        <p:nvSpPr>
          <p:cNvPr id="32" name="Review 5 type"/>
          <p:cNvSpPr txBox="1"/>
          <p:nvPr/>
        </p:nvSpPr>
        <p:spPr>
          <a:xfrm>
            <a:off x="4251960" y="3566160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33" name="Review 5 evidence"/>
          <p:cNvSpPr txBox="1"/>
          <p:nvPr/>
        </p:nvSpPr>
        <p:spPr>
          <a:xfrm>
            <a:off x="5577840" y="3493008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Cancels 22.0% vs SBU 2.5%; denominator 1,000</a:t>
            </a:r>
          </a:p>
        </p:txBody>
      </p:sp>
      <p:sp>
        <p:nvSpPr>
          <p:cNvPr id="34" name="Review 5 action"/>
          <p:cNvSpPr txBox="1"/>
          <p:nvPr/>
        </p:nvSpPr>
        <p:spPr>
          <a:xfrm>
            <a:off x="8147304" y="3493008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partner-cancelled orders and resolve the main failure reasons; verify the sample before escalation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4325112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94360" y="4361688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view 6 store"/>
          <p:cNvSpPr txBox="1"/>
          <p:nvPr/>
        </p:nvSpPr>
        <p:spPr>
          <a:xfrm>
            <a:off x="813816" y="4471416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1, Rustaveli Avenue 15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913632" y="4480560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Review 6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4517136"/>
            <a:ext cx="256032" cy="256032"/>
          </a:xfrm>
          <a:prstGeom prst="rect">
            <a:avLst/>
          </a:prstGeom>
        </p:spPr>
      </p:pic>
      <p:sp>
        <p:nvSpPr>
          <p:cNvPr id="40" name="Review 6 type"/>
          <p:cNvSpPr txBox="1"/>
          <p:nvPr/>
        </p:nvSpPr>
        <p:spPr>
          <a:xfrm>
            <a:off x="4251960" y="4544568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41" name="Review 6 evidence"/>
          <p:cNvSpPr txBox="1"/>
          <p:nvPr/>
        </p:nvSpPr>
        <p:spPr>
          <a:xfrm>
            <a:off x="5577840" y="4471416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PNA 45.0% vs SBU 6.1%; denominator 1,000</a:t>
            </a:r>
          </a:p>
        </p:txBody>
      </p:sp>
      <p:sp>
        <p:nvSpPr>
          <p:cNvPr id="42" name="Review 6 action"/>
          <p:cNvSpPr txBox="1"/>
          <p:nvPr/>
        </p:nvSpPr>
        <p:spPr>
          <a:xfrm>
            <a:off x="8147304" y="4471416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stock accuracy and availability of affected products; verify the sample before escalation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4360" y="5303520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94360" y="5340096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view 7 store"/>
          <p:cNvSpPr txBox="1"/>
          <p:nvPr/>
        </p:nvSpPr>
        <p:spPr>
          <a:xfrm>
            <a:off x="813816" y="5449824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2, Rustaveli Avenue 15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913632" y="5458968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Review 7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5495544"/>
            <a:ext cx="256032" cy="256032"/>
          </a:xfrm>
          <a:prstGeom prst="rect">
            <a:avLst/>
          </a:prstGeom>
        </p:spPr>
      </p:pic>
      <p:sp>
        <p:nvSpPr>
          <p:cNvPr id="48" name="Review 7 type"/>
          <p:cNvSpPr txBox="1"/>
          <p:nvPr/>
        </p:nvSpPr>
        <p:spPr>
          <a:xfrm>
            <a:off x="4251960" y="5522976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49" name="Review 7 evidence"/>
          <p:cNvSpPr txBox="1"/>
          <p:nvPr/>
        </p:nvSpPr>
        <p:spPr>
          <a:xfrm>
            <a:off x="5577840" y="5449824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CVR 2.5% vs SBU 26.4%; denominator 4,000</a:t>
            </a:r>
          </a:p>
        </p:txBody>
      </p:sp>
      <p:sp>
        <p:nvSpPr>
          <p:cNvPr id="50" name="Review 7 action"/>
          <p:cNvSpPr txBox="1"/>
          <p:nvPr/>
        </p:nvSpPr>
        <p:spPr>
          <a:xfrm>
            <a:off x="8147304" y="5449824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assortment, pricing and the conversion journey; verify the sample before escalation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 · 3/5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0991088" cy="49377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view summary items to review"/>
          <p:cNvSpPr txBox="1"/>
          <p:nvPr/>
        </p:nvSpPr>
        <p:spPr>
          <a:xfrm>
            <a:off x="795528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20</a:t>
            </a:r>
          </a:p>
        </p:txBody>
      </p:sp>
      <p:pic>
        <p:nvPicPr>
          <p:cNvPr id="7" name="Review summary items to review icon" descr="icon_data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750" y="1496872"/>
            <a:ext cx="310896" cy="310896"/>
          </a:xfrm>
          <a:prstGeom prst="rect">
            <a:avLst/>
          </a:prstGeom>
        </p:spPr>
      </p:pic>
      <p:sp>
        <p:nvSpPr>
          <p:cNvPr id="8" name="Review summary label"/>
          <p:cNvSpPr txBox="1"/>
          <p:nvPr/>
        </p:nvSpPr>
        <p:spPr>
          <a:xfrm>
            <a:off x="1387510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items to review</a:t>
            </a:r>
          </a:p>
        </p:txBody>
      </p:sp>
      <p:sp>
        <p:nvSpPr>
          <p:cNvPr id="9" name="Review summary stores affected"/>
          <p:cNvSpPr txBox="1"/>
          <p:nvPr/>
        </p:nvSpPr>
        <p:spPr>
          <a:xfrm>
            <a:off x="4462272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8</a:t>
            </a:r>
          </a:p>
        </p:txBody>
      </p:sp>
      <p:pic>
        <p:nvPicPr>
          <p:cNvPr id="10" name="Review summary stores affected icon" descr="icon_store_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2268" y="1496872"/>
            <a:ext cx="310896" cy="310896"/>
          </a:xfrm>
          <a:prstGeom prst="rect">
            <a:avLst/>
          </a:prstGeom>
        </p:spPr>
      </p:pic>
      <p:sp>
        <p:nvSpPr>
          <p:cNvPr id="11" name="Review summary label"/>
          <p:cNvSpPr txBox="1"/>
          <p:nvPr/>
        </p:nvSpPr>
        <p:spPr>
          <a:xfrm>
            <a:off x="5078028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affected</a:t>
            </a:r>
          </a:p>
        </p:txBody>
      </p:sp>
      <p:sp>
        <p:nvSpPr>
          <p:cNvPr id="12" name="Review summary critical observations"/>
          <p:cNvSpPr txBox="1"/>
          <p:nvPr/>
        </p:nvSpPr>
        <p:spPr>
          <a:xfrm>
            <a:off x="8129016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18</a:t>
            </a:r>
          </a:p>
        </p:txBody>
      </p:sp>
      <p:pic>
        <p:nvPicPr>
          <p:cNvPr id="13" name="Review summary critical observations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5238" y="1496872"/>
            <a:ext cx="310896" cy="310896"/>
          </a:xfrm>
          <a:prstGeom prst="rect">
            <a:avLst/>
          </a:prstGeom>
        </p:spPr>
      </p:pic>
      <p:sp>
        <p:nvSpPr>
          <p:cNvPr id="14" name="Review summary label"/>
          <p:cNvSpPr txBox="1"/>
          <p:nvPr/>
        </p:nvSpPr>
        <p:spPr>
          <a:xfrm>
            <a:off x="8720998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</a:t>
            </a:r>
          </a:p>
        </p:txBody>
      </p:sp>
      <p:sp>
        <p:nvSpPr>
          <p:cNvPr id="15" name="Review column STORE / LOCATION"/>
          <p:cNvSpPr txBox="1"/>
          <p:nvPr/>
        </p:nvSpPr>
        <p:spPr>
          <a:xfrm>
            <a:off x="813816" y="2039112"/>
            <a:ext cx="30175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STORE / LOCATION</a:t>
            </a:r>
          </a:p>
        </p:txBody>
      </p:sp>
      <p:sp>
        <p:nvSpPr>
          <p:cNvPr id="16" name="Review column TYPE"/>
          <p:cNvSpPr txBox="1"/>
          <p:nvPr/>
        </p:nvSpPr>
        <p:spPr>
          <a:xfrm>
            <a:off x="4059936" y="2039112"/>
            <a:ext cx="13258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TYPE</a:t>
            </a:r>
          </a:p>
        </p:txBody>
      </p:sp>
      <p:sp>
        <p:nvSpPr>
          <p:cNvPr id="17" name="Review column EVIDENCE"/>
          <p:cNvSpPr txBox="1"/>
          <p:nvPr/>
        </p:nvSpPr>
        <p:spPr>
          <a:xfrm>
            <a:off x="5577840" y="2039112"/>
            <a:ext cx="23957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EVIDENCE</a:t>
            </a:r>
          </a:p>
        </p:txBody>
      </p:sp>
      <p:sp>
        <p:nvSpPr>
          <p:cNvPr id="18" name="Review column REVIEW ACTION"/>
          <p:cNvSpPr txBox="1"/>
          <p:nvPr/>
        </p:nvSpPr>
        <p:spPr>
          <a:xfrm>
            <a:off x="8147304" y="2039112"/>
            <a:ext cx="32004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REVIEW ACTION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2368296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4360" y="2404872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view 8 store"/>
          <p:cNvSpPr txBox="1"/>
          <p:nvPr/>
        </p:nvSpPr>
        <p:spPr>
          <a:xfrm>
            <a:off x="813816" y="2514600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2, Rustaveli Avenue 15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13632" y="2523744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Review 8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2560320"/>
            <a:ext cx="256032" cy="256032"/>
          </a:xfrm>
          <a:prstGeom prst="rect">
            <a:avLst/>
          </a:prstGeom>
        </p:spPr>
      </p:pic>
      <p:sp>
        <p:nvSpPr>
          <p:cNvPr id="24" name="Review 8 type"/>
          <p:cNvSpPr txBox="1"/>
          <p:nvPr/>
        </p:nvSpPr>
        <p:spPr>
          <a:xfrm>
            <a:off x="4251960" y="2587752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25" name="Review 8 evidence"/>
          <p:cNvSpPr txBox="1"/>
          <p:nvPr/>
        </p:nvSpPr>
        <p:spPr>
          <a:xfrm>
            <a:off x="5577840" y="2514600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Cancels 22.0% vs SBU 2.5%; denominator 1,000</a:t>
            </a:r>
          </a:p>
        </p:txBody>
      </p:sp>
      <p:sp>
        <p:nvSpPr>
          <p:cNvPr id="26" name="Review 8 action"/>
          <p:cNvSpPr txBox="1"/>
          <p:nvPr/>
        </p:nvSpPr>
        <p:spPr>
          <a:xfrm>
            <a:off x="8147304" y="2514600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partner-cancelled orders and resolve the main failure reasons; verify the sample before escalation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3346704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94360" y="3383280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view 9 store"/>
          <p:cNvSpPr txBox="1"/>
          <p:nvPr/>
        </p:nvSpPr>
        <p:spPr>
          <a:xfrm>
            <a:off x="813816" y="3493008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2, Rustaveli Avenue 15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913632" y="3502152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Review 9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3538728"/>
            <a:ext cx="256032" cy="256032"/>
          </a:xfrm>
          <a:prstGeom prst="rect">
            <a:avLst/>
          </a:prstGeom>
        </p:spPr>
      </p:pic>
      <p:sp>
        <p:nvSpPr>
          <p:cNvPr id="32" name="Review 9 type"/>
          <p:cNvSpPr txBox="1"/>
          <p:nvPr/>
        </p:nvSpPr>
        <p:spPr>
          <a:xfrm>
            <a:off x="4251960" y="3566160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33" name="Review 9 evidence"/>
          <p:cNvSpPr txBox="1"/>
          <p:nvPr/>
        </p:nvSpPr>
        <p:spPr>
          <a:xfrm>
            <a:off x="5577840" y="3493008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PNA 45.0% vs SBU 6.1%; denominator 1,000</a:t>
            </a:r>
          </a:p>
        </p:txBody>
      </p:sp>
      <p:sp>
        <p:nvSpPr>
          <p:cNvPr id="34" name="Review 9 action"/>
          <p:cNvSpPr txBox="1"/>
          <p:nvPr/>
        </p:nvSpPr>
        <p:spPr>
          <a:xfrm>
            <a:off x="8147304" y="3493008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stock accuracy and availability of affected products; verify the sample before escalation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4325112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94360" y="4361688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view 10 store"/>
          <p:cNvSpPr txBox="1"/>
          <p:nvPr/>
        </p:nvSpPr>
        <p:spPr>
          <a:xfrm>
            <a:off x="813816" y="4471416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3, Rustaveli Avenue 15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913632" y="4480560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Review 10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4517136"/>
            <a:ext cx="256032" cy="256032"/>
          </a:xfrm>
          <a:prstGeom prst="rect">
            <a:avLst/>
          </a:prstGeom>
        </p:spPr>
      </p:pic>
      <p:sp>
        <p:nvSpPr>
          <p:cNvPr id="40" name="Review 10 type"/>
          <p:cNvSpPr txBox="1"/>
          <p:nvPr/>
        </p:nvSpPr>
        <p:spPr>
          <a:xfrm>
            <a:off x="4251960" y="4544568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41" name="Review 10 evidence"/>
          <p:cNvSpPr txBox="1"/>
          <p:nvPr/>
        </p:nvSpPr>
        <p:spPr>
          <a:xfrm>
            <a:off x="5577840" y="4471416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CVR 2.5% vs SBU 26.4%; denominator 4,000</a:t>
            </a:r>
          </a:p>
        </p:txBody>
      </p:sp>
      <p:sp>
        <p:nvSpPr>
          <p:cNvPr id="42" name="Review 10 action"/>
          <p:cNvSpPr txBox="1"/>
          <p:nvPr/>
        </p:nvSpPr>
        <p:spPr>
          <a:xfrm>
            <a:off x="8147304" y="4471416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assortment, pricing and the conversion journey; verify the sample before escalation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4360" y="5303520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94360" y="5340096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view 11 store"/>
          <p:cNvSpPr txBox="1"/>
          <p:nvPr/>
        </p:nvSpPr>
        <p:spPr>
          <a:xfrm>
            <a:off x="813816" y="5449824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3, Rustaveli Avenue 15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913632" y="5458968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Review 11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5495544"/>
            <a:ext cx="256032" cy="256032"/>
          </a:xfrm>
          <a:prstGeom prst="rect">
            <a:avLst/>
          </a:prstGeom>
        </p:spPr>
      </p:pic>
      <p:sp>
        <p:nvSpPr>
          <p:cNvPr id="48" name="Review 11 type"/>
          <p:cNvSpPr txBox="1"/>
          <p:nvPr/>
        </p:nvSpPr>
        <p:spPr>
          <a:xfrm>
            <a:off x="4251960" y="5522976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49" name="Review 11 evidence"/>
          <p:cNvSpPr txBox="1"/>
          <p:nvPr/>
        </p:nvSpPr>
        <p:spPr>
          <a:xfrm>
            <a:off x="5577840" y="5449824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Cancels 22.0% vs SBU 2.5%; denominator 1,000</a:t>
            </a:r>
          </a:p>
        </p:txBody>
      </p:sp>
      <p:sp>
        <p:nvSpPr>
          <p:cNvPr id="50" name="Review 11 action"/>
          <p:cNvSpPr txBox="1"/>
          <p:nvPr/>
        </p:nvSpPr>
        <p:spPr>
          <a:xfrm>
            <a:off x="8147304" y="5449824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partner-cancelled orders and resolve the main failure reasons; verify the sample before escalation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 · 4/5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0991088" cy="49377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view summary items to review"/>
          <p:cNvSpPr txBox="1"/>
          <p:nvPr/>
        </p:nvSpPr>
        <p:spPr>
          <a:xfrm>
            <a:off x="795528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20</a:t>
            </a:r>
          </a:p>
        </p:txBody>
      </p:sp>
      <p:pic>
        <p:nvPicPr>
          <p:cNvPr id="7" name="Review summary items to review icon" descr="icon_data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750" y="1496872"/>
            <a:ext cx="310896" cy="310896"/>
          </a:xfrm>
          <a:prstGeom prst="rect">
            <a:avLst/>
          </a:prstGeom>
        </p:spPr>
      </p:pic>
      <p:sp>
        <p:nvSpPr>
          <p:cNvPr id="8" name="Review summary label"/>
          <p:cNvSpPr txBox="1"/>
          <p:nvPr/>
        </p:nvSpPr>
        <p:spPr>
          <a:xfrm>
            <a:off x="1387510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items to review</a:t>
            </a:r>
          </a:p>
        </p:txBody>
      </p:sp>
      <p:sp>
        <p:nvSpPr>
          <p:cNvPr id="9" name="Review summary stores affected"/>
          <p:cNvSpPr txBox="1"/>
          <p:nvPr/>
        </p:nvSpPr>
        <p:spPr>
          <a:xfrm>
            <a:off x="4462272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8</a:t>
            </a:r>
          </a:p>
        </p:txBody>
      </p:sp>
      <p:pic>
        <p:nvPicPr>
          <p:cNvPr id="10" name="Review summary stores affected icon" descr="icon_store_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2268" y="1496872"/>
            <a:ext cx="310896" cy="310896"/>
          </a:xfrm>
          <a:prstGeom prst="rect">
            <a:avLst/>
          </a:prstGeom>
        </p:spPr>
      </p:pic>
      <p:sp>
        <p:nvSpPr>
          <p:cNvPr id="11" name="Review summary label"/>
          <p:cNvSpPr txBox="1"/>
          <p:nvPr/>
        </p:nvSpPr>
        <p:spPr>
          <a:xfrm>
            <a:off x="5078028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affected</a:t>
            </a:r>
          </a:p>
        </p:txBody>
      </p:sp>
      <p:sp>
        <p:nvSpPr>
          <p:cNvPr id="12" name="Review summary critical observations"/>
          <p:cNvSpPr txBox="1"/>
          <p:nvPr/>
        </p:nvSpPr>
        <p:spPr>
          <a:xfrm>
            <a:off x="8129016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18</a:t>
            </a:r>
          </a:p>
        </p:txBody>
      </p:sp>
      <p:pic>
        <p:nvPicPr>
          <p:cNvPr id="13" name="Review summary critical observations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5238" y="1496872"/>
            <a:ext cx="310896" cy="310896"/>
          </a:xfrm>
          <a:prstGeom prst="rect">
            <a:avLst/>
          </a:prstGeom>
        </p:spPr>
      </p:pic>
      <p:sp>
        <p:nvSpPr>
          <p:cNvPr id="14" name="Review summary label"/>
          <p:cNvSpPr txBox="1"/>
          <p:nvPr/>
        </p:nvSpPr>
        <p:spPr>
          <a:xfrm>
            <a:off x="8720998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</a:t>
            </a:r>
          </a:p>
        </p:txBody>
      </p:sp>
      <p:sp>
        <p:nvSpPr>
          <p:cNvPr id="15" name="Review column STORE / LOCATION"/>
          <p:cNvSpPr txBox="1"/>
          <p:nvPr/>
        </p:nvSpPr>
        <p:spPr>
          <a:xfrm>
            <a:off x="813816" y="2039112"/>
            <a:ext cx="30175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STORE / LOCATION</a:t>
            </a:r>
          </a:p>
        </p:txBody>
      </p:sp>
      <p:sp>
        <p:nvSpPr>
          <p:cNvPr id="16" name="Review column TYPE"/>
          <p:cNvSpPr txBox="1"/>
          <p:nvPr/>
        </p:nvSpPr>
        <p:spPr>
          <a:xfrm>
            <a:off x="4059936" y="2039112"/>
            <a:ext cx="13258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TYPE</a:t>
            </a:r>
          </a:p>
        </p:txBody>
      </p:sp>
      <p:sp>
        <p:nvSpPr>
          <p:cNvPr id="17" name="Review column EVIDENCE"/>
          <p:cNvSpPr txBox="1"/>
          <p:nvPr/>
        </p:nvSpPr>
        <p:spPr>
          <a:xfrm>
            <a:off x="5577840" y="2039112"/>
            <a:ext cx="23957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EVIDENCE</a:t>
            </a:r>
          </a:p>
        </p:txBody>
      </p:sp>
      <p:sp>
        <p:nvSpPr>
          <p:cNvPr id="18" name="Review column REVIEW ACTION"/>
          <p:cNvSpPr txBox="1"/>
          <p:nvPr/>
        </p:nvSpPr>
        <p:spPr>
          <a:xfrm>
            <a:off x="8147304" y="2039112"/>
            <a:ext cx="32004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REVIEW ACTION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2368296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4360" y="2404872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view 12 store"/>
          <p:cNvSpPr txBox="1"/>
          <p:nvPr/>
        </p:nvSpPr>
        <p:spPr>
          <a:xfrm>
            <a:off x="813816" y="2514600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3, Rustaveli Avenue 15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13632" y="2523744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Review 12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2560320"/>
            <a:ext cx="256032" cy="256032"/>
          </a:xfrm>
          <a:prstGeom prst="rect">
            <a:avLst/>
          </a:prstGeom>
        </p:spPr>
      </p:pic>
      <p:sp>
        <p:nvSpPr>
          <p:cNvPr id="24" name="Review 12 type"/>
          <p:cNvSpPr txBox="1"/>
          <p:nvPr/>
        </p:nvSpPr>
        <p:spPr>
          <a:xfrm>
            <a:off x="4251960" y="2587752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25" name="Review 12 evidence"/>
          <p:cNvSpPr txBox="1"/>
          <p:nvPr/>
        </p:nvSpPr>
        <p:spPr>
          <a:xfrm>
            <a:off x="5577840" y="2514600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PNA 45.0% vs SBU 6.1%; denominator 1,000</a:t>
            </a:r>
          </a:p>
        </p:txBody>
      </p:sp>
      <p:sp>
        <p:nvSpPr>
          <p:cNvPr id="26" name="Review 12 action"/>
          <p:cNvSpPr txBox="1"/>
          <p:nvPr/>
        </p:nvSpPr>
        <p:spPr>
          <a:xfrm>
            <a:off x="8147304" y="2514600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stock accuracy and availability of affected products; verify the sample before escalation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3346704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94360" y="3383280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view 13 store"/>
          <p:cNvSpPr txBox="1"/>
          <p:nvPr/>
        </p:nvSpPr>
        <p:spPr>
          <a:xfrm>
            <a:off x="813816" y="3493008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4, Rustaveli Avenue 15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913632" y="3502152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Review 13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3538728"/>
            <a:ext cx="256032" cy="256032"/>
          </a:xfrm>
          <a:prstGeom prst="rect">
            <a:avLst/>
          </a:prstGeom>
        </p:spPr>
      </p:pic>
      <p:sp>
        <p:nvSpPr>
          <p:cNvPr id="32" name="Review 13 type"/>
          <p:cNvSpPr txBox="1"/>
          <p:nvPr/>
        </p:nvSpPr>
        <p:spPr>
          <a:xfrm>
            <a:off x="4251960" y="3566160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33" name="Review 13 evidence"/>
          <p:cNvSpPr txBox="1"/>
          <p:nvPr/>
        </p:nvSpPr>
        <p:spPr>
          <a:xfrm>
            <a:off x="5577840" y="3493008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CVR 2.5% vs SBU 26.4%; denominator 4,000</a:t>
            </a:r>
          </a:p>
        </p:txBody>
      </p:sp>
      <p:sp>
        <p:nvSpPr>
          <p:cNvPr id="34" name="Review 13 action"/>
          <p:cNvSpPr txBox="1"/>
          <p:nvPr/>
        </p:nvSpPr>
        <p:spPr>
          <a:xfrm>
            <a:off x="8147304" y="3493008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assortment, pricing and the conversion journey; verify the sample before escalation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4325112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94360" y="4361688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view 14 store"/>
          <p:cNvSpPr txBox="1"/>
          <p:nvPr/>
        </p:nvSpPr>
        <p:spPr>
          <a:xfrm>
            <a:off x="813816" y="4471416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4, Rustaveli Avenue 15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913632" y="4480560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Review 14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4517136"/>
            <a:ext cx="256032" cy="256032"/>
          </a:xfrm>
          <a:prstGeom prst="rect">
            <a:avLst/>
          </a:prstGeom>
        </p:spPr>
      </p:pic>
      <p:sp>
        <p:nvSpPr>
          <p:cNvPr id="40" name="Review 14 type"/>
          <p:cNvSpPr txBox="1"/>
          <p:nvPr/>
        </p:nvSpPr>
        <p:spPr>
          <a:xfrm>
            <a:off x="4251960" y="4544568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41" name="Review 14 evidence"/>
          <p:cNvSpPr txBox="1"/>
          <p:nvPr/>
        </p:nvSpPr>
        <p:spPr>
          <a:xfrm>
            <a:off x="5577840" y="4471416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Cancels 22.0% vs SBU 2.5%; denominator 1,000</a:t>
            </a:r>
          </a:p>
        </p:txBody>
      </p:sp>
      <p:sp>
        <p:nvSpPr>
          <p:cNvPr id="42" name="Review 14 action"/>
          <p:cNvSpPr txBox="1"/>
          <p:nvPr/>
        </p:nvSpPr>
        <p:spPr>
          <a:xfrm>
            <a:off x="8147304" y="4471416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partner-cancelled orders and resolve the main failure reasons; verify the sample before escalation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4360" y="5303520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94360" y="5340096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view 15 store"/>
          <p:cNvSpPr txBox="1"/>
          <p:nvPr/>
        </p:nvSpPr>
        <p:spPr>
          <a:xfrm>
            <a:off x="813816" y="5449824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4, Rustaveli Avenue 15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913632" y="5458968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Review 15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5495544"/>
            <a:ext cx="256032" cy="256032"/>
          </a:xfrm>
          <a:prstGeom prst="rect">
            <a:avLst/>
          </a:prstGeom>
        </p:spPr>
      </p:pic>
      <p:sp>
        <p:nvSpPr>
          <p:cNvPr id="48" name="Review 15 type"/>
          <p:cNvSpPr txBox="1"/>
          <p:nvPr/>
        </p:nvSpPr>
        <p:spPr>
          <a:xfrm>
            <a:off x="4251960" y="5522976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49" name="Review 15 evidence"/>
          <p:cNvSpPr txBox="1"/>
          <p:nvPr/>
        </p:nvSpPr>
        <p:spPr>
          <a:xfrm>
            <a:off x="5577840" y="5449824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PNA 45.0% vs SBU 6.1%; denominator 1,000</a:t>
            </a:r>
          </a:p>
        </p:txBody>
      </p:sp>
      <p:sp>
        <p:nvSpPr>
          <p:cNvPr id="50" name="Review 15 action"/>
          <p:cNvSpPr txBox="1"/>
          <p:nvPr/>
        </p:nvSpPr>
        <p:spPr>
          <a:xfrm>
            <a:off x="8147304" y="5449824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stock accuracy and availability of affected products; verify the sample before escalation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 · 5/5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0991088" cy="49377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view summary items to review"/>
          <p:cNvSpPr txBox="1"/>
          <p:nvPr/>
        </p:nvSpPr>
        <p:spPr>
          <a:xfrm>
            <a:off x="795528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20</a:t>
            </a:r>
          </a:p>
        </p:txBody>
      </p:sp>
      <p:pic>
        <p:nvPicPr>
          <p:cNvPr id="7" name="Review summary items to review icon" descr="icon_data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750" y="1496872"/>
            <a:ext cx="310896" cy="310896"/>
          </a:xfrm>
          <a:prstGeom prst="rect">
            <a:avLst/>
          </a:prstGeom>
        </p:spPr>
      </p:pic>
      <p:sp>
        <p:nvSpPr>
          <p:cNvPr id="8" name="Review summary label"/>
          <p:cNvSpPr txBox="1"/>
          <p:nvPr/>
        </p:nvSpPr>
        <p:spPr>
          <a:xfrm>
            <a:off x="1387510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items to review</a:t>
            </a:r>
          </a:p>
        </p:txBody>
      </p:sp>
      <p:sp>
        <p:nvSpPr>
          <p:cNvPr id="9" name="Review summary stores affected"/>
          <p:cNvSpPr txBox="1"/>
          <p:nvPr/>
        </p:nvSpPr>
        <p:spPr>
          <a:xfrm>
            <a:off x="4462272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8</a:t>
            </a:r>
          </a:p>
        </p:txBody>
      </p:sp>
      <p:pic>
        <p:nvPicPr>
          <p:cNvPr id="10" name="Review summary stores affected icon" descr="icon_store_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2268" y="1496872"/>
            <a:ext cx="310896" cy="310896"/>
          </a:xfrm>
          <a:prstGeom prst="rect">
            <a:avLst/>
          </a:prstGeom>
        </p:spPr>
      </p:pic>
      <p:sp>
        <p:nvSpPr>
          <p:cNvPr id="11" name="Review summary label"/>
          <p:cNvSpPr txBox="1"/>
          <p:nvPr/>
        </p:nvSpPr>
        <p:spPr>
          <a:xfrm>
            <a:off x="5078028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affected</a:t>
            </a:r>
          </a:p>
        </p:txBody>
      </p:sp>
      <p:sp>
        <p:nvSpPr>
          <p:cNvPr id="12" name="Review summary critical observations"/>
          <p:cNvSpPr txBox="1"/>
          <p:nvPr/>
        </p:nvSpPr>
        <p:spPr>
          <a:xfrm>
            <a:off x="8129016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18</a:t>
            </a:r>
          </a:p>
        </p:txBody>
      </p:sp>
      <p:pic>
        <p:nvPicPr>
          <p:cNvPr id="13" name="Review summary critical observations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5238" y="1496872"/>
            <a:ext cx="310896" cy="310896"/>
          </a:xfrm>
          <a:prstGeom prst="rect">
            <a:avLst/>
          </a:prstGeom>
        </p:spPr>
      </p:pic>
      <p:sp>
        <p:nvSpPr>
          <p:cNvPr id="14" name="Review summary label"/>
          <p:cNvSpPr txBox="1"/>
          <p:nvPr/>
        </p:nvSpPr>
        <p:spPr>
          <a:xfrm>
            <a:off x="8720998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</a:t>
            </a:r>
          </a:p>
        </p:txBody>
      </p:sp>
      <p:sp>
        <p:nvSpPr>
          <p:cNvPr id="15" name="Review column STORE / LOCATION"/>
          <p:cNvSpPr txBox="1"/>
          <p:nvPr/>
        </p:nvSpPr>
        <p:spPr>
          <a:xfrm>
            <a:off x="813816" y="2039112"/>
            <a:ext cx="30175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STORE / LOCATION</a:t>
            </a:r>
          </a:p>
        </p:txBody>
      </p:sp>
      <p:sp>
        <p:nvSpPr>
          <p:cNvPr id="16" name="Review column TYPE"/>
          <p:cNvSpPr txBox="1"/>
          <p:nvPr/>
        </p:nvSpPr>
        <p:spPr>
          <a:xfrm>
            <a:off x="4059936" y="2039112"/>
            <a:ext cx="13258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TYPE</a:t>
            </a:r>
          </a:p>
        </p:txBody>
      </p:sp>
      <p:sp>
        <p:nvSpPr>
          <p:cNvPr id="17" name="Review column EVIDENCE"/>
          <p:cNvSpPr txBox="1"/>
          <p:nvPr/>
        </p:nvSpPr>
        <p:spPr>
          <a:xfrm>
            <a:off x="5577840" y="2039112"/>
            <a:ext cx="23957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EVIDENCE</a:t>
            </a:r>
          </a:p>
        </p:txBody>
      </p:sp>
      <p:sp>
        <p:nvSpPr>
          <p:cNvPr id="18" name="Review column REVIEW ACTION"/>
          <p:cNvSpPr txBox="1"/>
          <p:nvPr/>
        </p:nvSpPr>
        <p:spPr>
          <a:xfrm>
            <a:off x="8147304" y="2039112"/>
            <a:ext cx="32004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REVIEW ACTION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2368296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4360" y="2404872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view 16 store"/>
          <p:cNvSpPr txBox="1"/>
          <p:nvPr/>
        </p:nvSpPr>
        <p:spPr>
          <a:xfrm>
            <a:off x="813816" y="2514600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5, Rustaveli Avenue 15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13632" y="2523744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Review 16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2560320"/>
            <a:ext cx="256032" cy="256032"/>
          </a:xfrm>
          <a:prstGeom prst="rect">
            <a:avLst/>
          </a:prstGeom>
        </p:spPr>
      </p:pic>
      <p:sp>
        <p:nvSpPr>
          <p:cNvPr id="24" name="Review 16 type"/>
          <p:cNvSpPr txBox="1"/>
          <p:nvPr/>
        </p:nvSpPr>
        <p:spPr>
          <a:xfrm>
            <a:off x="4251960" y="2587752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25" name="Review 16 evidence"/>
          <p:cNvSpPr txBox="1"/>
          <p:nvPr/>
        </p:nvSpPr>
        <p:spPr>
          <a:xfrm>
            <a:off x="5577840" y="2514600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CVR 2.5% vs SBU 26.4%; denominator 4,000</a:t>
            </a:r>
          </a:p>
        </p:txBody>
      </p:sp>
      <p:sp>
        <p:nvSpPr>
          <p:cNvPr id="26" name="Review 16 action"/>
          <p:cNvSpPr txBox="1"/>
          <p:nvPr/>
        </p:nvSpPr>
        <p:spPr>
          <a:xfrm>
            <a:off x="8147304" y="2514600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assortment, pricing and the conversion journey; verify the sample before escalation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3346704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94360" y="3383280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view 17 store"/>
          <p:cNvSpPr txBox="1"/>
          <p:nvPr/>
        </p:nvSpPr>
        <p:spPr>
          <a:xfrm>
            <a:off x="813816" y="3493008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5, Rustaveli Avenue 15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913632" y="3502152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Review 17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3538728"/>
            <a:ext cx="256032" cy="256032"/>
          </a:xfrm>
          <a:prstGeom prst="rect">
            <a:avLst/>
          </a:prstGeom>
        </p:spPr>
      </p:pic>
      <p:sp>
        <p:nvSpPr>
          <p:cNvPr id="32" name="Review 17 type"/>
          <p:cNvSpPr txBox="1"/>
          <p:nvPr/>
        </p:nvSpPr>
        <p:spPr>
          <a:xfrm>
            <a:off x="4251960" y="3566160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33" name="Review 17 evidence"/>
          <p:cNvSpPr txBox="1"/>
          <p:nvPr/>
        </p:nvSpPr>
        <p:spPr>
          <a:xfrm>
            <a:off x="5577840" y="3493008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Cancels 22.0% vs SBU 2.5%; denominator 1,000</a:t>
            </a:r>
          </a:p>
        </p:txBody>
      </p:sp>
      <p:sp>
        <p:nvSpPr>
          <p:cNvPr id="34" name="Review 17 action"/>
          <p:cNvSpPr txBox="1"/>
          <p:nvPr/>
        </p:nvSpPr>
        <p:spPr>
          <a:xfrm>
            <a:off x="8147304" y="3493008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partner-cancelled orders and resolve the main failure reasons; verify the sample before escalation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4325112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94360" y="4361688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view 18 store"/>
          <p:cNvSpPr txBox="1"/>
          <p:nvPr/>
        </p:nvSpPr>
        <p:spPr>
          <a:xfrm>
            <a:off x="813816" y="4471416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5, Rustaveli Avenue 15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913632" y="4480560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Review 18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4517136"/>
            <a:ext cx="256032" cy="256032"/>
          </a:xfrm>
          <a:prstGeom prst="rect">
            <a:avLst/>
          </a:prstGeom>
        </p:spPr>
      </p:pic>
      <p:sp>
        <p:nvSpPr>
          <p:cNvPr id="40" name="Review 18 type"/>
          <p:cNvSpPr txBox="1"/>
          <p:nvPr/>
        </p:nvSpPr>
        <p:spPr>
          <a:xfrm>
            <a:off x="4251960" y="4544568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41" name="Review 18 evidence"/>
          <p:cNvSpPr txBox="1"/>
          <p:nvPr/>
        </p:nvSpPr>
        <p:spPr>
          <a:xfrm>
            <a:off x="5577840" y="4471416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PNA 45.0% vs SBU 6.1%; denominator 1,000</a:t>
            </a:r>
          </a:p>
        </p:txBody>
      </p:sp>
      <p:sp>
        <p:nvSpPr>
          <p:cNvPr id="42" name="Review 18 action"/>
          <p:cNvSpPr txBox="1"/>
          <p:nvPr/>
        </p:nvSpPr>
        <p:spPr>
          <a:xfrm>
            <a:off x="8147304" y="4471416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stock accuracy and availability of affected products; verify the sample before escalation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4360" y="5303520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94360" y="5340096"/>
            <a:ext cx="41148" cy="822960"/>
          </a:xfrm>
          <a:prstGeom prst="roundRect">
            <a:avLst>
              <a:gd name="adj" fmla="val 8000"/>
            </a:avLst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view 19 store"/>
          <p:cNvSpPr txBox="1"/>
          <p:nvPr/>
        </p:nvSpPr>
        <p:spPr>
          <a:xfrm>
            <a:off x="813816" y="5449824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L, Rustaveli Avenue 15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913632" y="5458968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Review 19 icon" descr="icon_availability_revie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1063" y="5495544"/>
            <a:ext cx="256032" cy="256032"/>
          </a:xfrm>
          <a:prstGeom prst="rect">
            <a:avLst/>
          </a:prstGeom>
        </p:spPr>
      </p:pic>
      <p:sp>
        <p:nvSpPr>
          <p:cNvPr id="48" name="Review 19 type"/>
          <p:cNvSpPr txBox="1"/>
          <p:nvPr/>
        </p:nvSpPr>
        <p:spPr>
          <a:xfrm>
            <a:off x="4251960" y="5522976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Availability review</a:t>
            </a:r>
          </a:p>
        </p:txBody>
      </p:sp>
      <p:sp>
        <p:nvSpPr>
          <p:cNvPr id="49" name="Review 19 evidence"/>
          <p:cNvSpPr txBox="1"/>
          <p:nvPr/>
        </p:nvSpPr>
        <p:spPr>
          <a:xfrm>
            <a:off x="5577840" y="5449824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Uptime 88.0% vs target 95.0%</a:t>
            </a:r>
          </a:p>
        </p:txBody>
      </p:sp>
      <p:sp>
        <p:nvSpPr>
          <p:cNvPr id="50" name="Review 19 action"/>
          <p:cNvSpPr txBox="1"/>
          <p:nvPr/>
        </p:nvSpPr>
        <p:spPr>
          <a:xfrm>
            <a:off x="8147304" y="5449824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Restore availability during scheduled opening hours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 · 1/3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Agree actions, owners and dates during the business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lan action 1 priority icon" descr="icon_priority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591056"/>
            <a:ext cx="256032" cy="256032"/>
          </a:xfrm>
          <a:prstGeom prst="rect">
            <a:avLst/>
          </a:prstGeom>
        </p:spPr>
      </p:pic>
      <p:sp>
        <p:nvSpPr>
          <p:cNvPr id="7" name="Plan action 1 rank"/>
          <p:cNvSpPr txBox="1"/>
          <p:nvPr/>
        </p:nvSpPr>
        <p:spPr>
          <a:xfrm>
            <a:off x="1097280" y="1618488"/>
            <a:ext cx="27614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PRIORITY ACTION 1</a:t>
            </a:r>
          </a:p>
        </p:txBody>
      </p:sp>
      <p:sp>
        <p:nvSpPr>
          <p:cNvPr id="8" name="Plan action 1 priority"/>
          <p:cNvSpPr txBox="1"/>
          <p:nvPr/>
        </p:nvSpPr>
        <p:spPr>
          <a:xfrm>
            <a:off x="4297680" y="159105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</a:t>
            </a:r>
          </a:p>
        </p:txBody>
      </p:sp>
      <p:sp>
        <p:nvSpPr>
          <p:cNvPr id="9" name="Plan action 1 store"/>
          <p:cNvSpPr txBox="1"/>
          <p:nvPr/>
        </p:nvSpPr>
        <p:spPr>
          <a:xfrm>
            <a:off x="777240" y="1947672"/>
            <a:ext cx="500176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10" name="Plan action 1 primary label"/>
          <p:cNvSpPr txBox="1"/>
          <p:nvPr/>
        </p:nvSpPr>
        <p:spPr>
          <a:xfrm>
            <a:off x="777240" y="265176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11" name="Plan action 1 primary"/>
          <p:cNvSpPr txBox="1"/>
          <p:nvPr/>
        </p:nvSpPr>
        <p:spPr>
          <a:xfrm>
            <a:off x="2423160" y="2624328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12" name="Plan action 1 recommendation label"/>
          <p:cNvSpPr txBox="1"/>
          <p:nvPr/>
        </p:nvSpPr>
        <p:spPr>
          <a:xfrm>
            <a:off x="777240" y="2990088"/>
            <a:ext cx="5001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Recommended Action (System)</a:t>
            </a:r>
          </a:p>
        </p:txBody>
      </p:sp>
      <p:sp>
        <p:nvSpPr>
          <p:cNvPr id="13" name="Plan action 1 recommendation"/>
          <p:cNvSpPr txBox="1"/>
          <p:nvPr/>
        </p:nvSpPr>
        <p:spPr>
          <a:xfrm>
            <a:off x="777240" y="3282696"/>
            <a:ext cx="5001768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51960"/>
            <a:ext cx="5093208" cy="603504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lan action 1 agreed icon" descr="icon_agreed_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4297680"/>
            <a:ext cx="237744" cy="237744"/>
          </a:xfrm>
          <a:prstGeom prst="rect">
            <a:avLst/>
          </a:prstGeom>
        </p:spPr>
      </p:pic>
      <p:sp>
        <p:nvSpPr>
          <p:cNvPr id="16" name="Plan action 1 agreed label"/>
          <p:cNvSpPr txBox="1"/>
          <p:nvPr/>
        </p:nvSpPr>
        <p:spPr>
          <a:xfrm>
            <a:off x="1115568" y="4325112"/>
            <a:ext cx="459028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Agreed Action (Meeting)</a:t>
            </a:r>
          </a:p>
        </p:txBody>
      </p:sp>
      <p:sp>
        <p:nvSpPr>
          <p:cNvPr id="17" name="Plan action 1 agreed"/>
          <p:cNvSpPr txBox="1"/>
          <p:nvPr/>
        </p:nvSpPr>
        <p:spPr>
          <a:xfrm>
            <a:off x="850392" y="4590288"/>
            <a:ext cx="485546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8" name="Plan action 1 Owner label"/>
          <p:cNvSpPr txBox="1"/>
          <p:nvPr/>
        </p:nvSpPr>
        <p:spPr>
          <a:xfrm>
            <a:off x="777240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19" name="Plan action 1 Owner"/>
          <p:cNvSpPr txBox="1"/>
          <p:nvPr/>
        </p:nvSpPr>
        <p:spPr>
          <a:xfrm>
            <a:off x="1472184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0" name="Plan action 1 Contact label"/>
          <p:cNvSpPr txBox="1"/>
          <p:nvPr/>
        </p:nvSpPr>
        <p:spPr>
          <a:xfrm>
            <a:off x="3461004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21" name="Plan action 1 Contact"/>
          <p:cNvSpPr txBox="1"/>
          <p:nvPr/>
        </p:nvSpPr>
        <p:spPr>
          <a:xfrm>
            <a:off x="4155948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2" name="Plan action 1 ETA label"/>
          <p:cNvSpPr txBox="1"/>
          <p:nvPr/>
        </p:nvSpPr>
        <p:spPr>
          <a:xfrm>
            <a:off x="777240" y="5468112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23" name="Plan action 1 ETA"/>
          <p:cNvSpPr txBox="1"/>
          <p:nvPr/>
        </p:nvSpPr>
        <p:spPr>
          <a:xfrm>
            <a:off x="1472184" y="5468112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4" name="Plan action 1 Follow-up KPI label"/>
          <p:cNvSpPr txBox="1"/>
          <p:nvPr/>
        </p:nvSpPr>
        <p:spPr>
          <a:xfrm>
            <a:off x="3461004" y="546811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25" name="Plan action 1 Follow-up KPI"/>
          <p:cNvSpPr txBox="1"/>
          <p:nvPr/>
        </p:nvSpPr>
        <p:spPr>
          <a:xfrm>
            <a:off x="4677156" y="5468112"/>
            <a:ext cx="11750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lan action 2 priority icon" descr="icon_priority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1591056"/>
            <a:ext cx="256032" cy="256032"/>
          </a:xfrm>
          <a:prstGeom prst="rect">
            <a:avLst/>
          </a:prstGeom>
        </p:spPr>
      </p:pic>
      <p:sp>
        <p:nvSpPr>
          <p:cNvPr id="28" name="Plan action 2 rank"/>
          <p:cNvSpPr txBox="1"/>
          <p:nvPr/>
        </p:nvSpPr>
        <p:spPr>
          <a:xfrm>
            <a:off x="6720840" y="1618488"/>
            <a:ext cx="27614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PRIORITY ACTION 2</a:t>
            </a:r>
          </a:p>
        </p:txBody>
      </p:sp>
      <p:sp>
        <p:nvSpPr>
          <p:cNvPr id="29" name="Plan action 2 priority"/>
          <p:cNvSpPr txBox="1"/>
          <p:nvPr/>
        </p:nvSpPr>
        <p:spPr>
          <a:xfrm>
            <a:off x="9921240" y="159105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</a:t>
            </a:r>
          </a:p>
        </p:txBody>
      </p:sp>
      <p:sp>
        <p:nvSpPr>
          <p:cNvPr id="30" name="Plan action 2 store"/>
          <p:cNvSpPr txBox="1"/>
          <p:nvPr/>
        </p:nvSpPr>
        <p:spPr>
          <a:xfrm>
            <a:off x="6400800" y="1947672"/>
            <a:ext cx="500176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Pet supplies branch 1, Rustaveli Avenue 15</a:t>
            </a:r>
          </a:p>
        </p:txBody>
      </p:sp>
      <p:sp>
        <p:nvSpPr>
          <p:cNvPr id="31" name="Plan action 2 primary label"/>
          <p:cNvSpPr txBox="1"/>
          <p:nvPr/>
        </p:nvSpPr>
        <p:spPr>
          <a:xfrm>
            <a:off x="6400800" y="265176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32" name="Plan action 2 primary"/>
          <p:cNvSpPr txBox="1"/>
          <p:nvPr/>
        </p:nvSpPr>
        <p:spPr>
          <a:xfrm>
            <a:off x="8046720" y="2624328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33" name="Plan action 2 recommendation label"/>
          <p:cNvSpPr txBox="1"/>
          <p:nvPr/>
        </p:nvSpPr>
        <p:spPr>
          <a:xfrm>
            <a:off x="6400800" y="2990088"/>
            <a:ext cx="5001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Recommended Action (System)</a:t>
            </a:r>
          </a:p>
        </p:txBody>
      </p:sp>
      <p:sp>
        <p:nvSpPr>
          <p:cNvPr id="34" name="Plan action 2 recommendation"/>
          <p:cNvSpPr txBox="1"/>
          <p:nvPr/>
        </p:nvSpPr>
        <p:spPr>
          <a:xfrm>
            <a:off x="6400800" y="3282696"/>
            <a:ext cx="5001768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55080" y="4251960"/>
            <a:ext cx="5093208" cy="603504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lan action 2 agreed icon" descr="icon_agreed_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4297680"/>
            <a:ext cx="237744" cy="237744"/>
          </a:xfrm>
          <a:prstGeom prst="rect">
            <a:avLst/>
          </a:prstGeom>
        </p:spPr>
      </p:pic>
      <p:sp>
        <p:nvSpPr>
          <p:cNvPr id="37" name="Plan action 2 agreed label"/>
          <p:cNvSpPr txBox="1"/>
          <p:nvPr/>
        </p:nvSpPr>
        <p:spPr>
          <a:xfrm>
            <a:off x="6739128" y="4325112"/>
            <a:ext cx="459028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Agreed Action (Meeting)</a:t>
            </a:r>
          </a:p>
        </p:txBody>
      </p:sp>
      <p:sp>
        <p:nvSpPr>
          <p:cNvPr id="38" name="Plan action 2 agreed"/>
          <p:cNvSpPr txBox="1"/>
          <p:nvPr/>
        </p:nvSpPr>
        <p:spPr>
          <a:xfrm>
            <a:off x="6473952" y="4590288"/>
            <a:ext cx="485546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9" name="Plan action 2 Owner label"/>
          <p:cNvSpPr txBox="1"/>
          <p:nvPr/>
        </p:nvSpPr>
        <p:spPr>
          <a:xfrm>
            <a:off x="6400800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40" name="Plan action 2 Owner"/>
          <p:cNvSpPr txBox="1"/>
          <p:nvPr/>
        </p:nvSpPr>
        <p:spPr>
          <a:xfrm>
            <a:off x="7095744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41" name="Plan action 2 Contact label"/>
          <p:cNvSpPr txBox="1"/>
          <p:nvPr/>
        </p:nvSpPr>
        <p:spPr>
          <a:xfrm>
            <a:off x="9084564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42" name="Plan action 2 Contact"/>
          <p:cNvSpPr txBox="1"/>
          <p:nvPr/>
        </p:nvSpPr>
        <p:spPr>
          <a:xfrm>
            <a:off x="9779508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43" name="Plan action 2 ETA label"/>
          <p:cNvSpPr txBox="1"/>
          <p:nvPr/>
        </p:nvSpPr>
        <p:spPr>
          <a:xfrm>
            <a:off x="6400800" y="5468112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44" name="Plan action 2 ETA"/>
          <p:cNvSpPr txBox="1"/>
          <p:nvPr/>
        </p:nvSpPr>
        <p:spPr>
          <a:xfrm>
            <a:off x="7095744" y="5468112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45" name="Plan action 2 Follow-up KPI label"/>
          <p:cNvSpPr txBox="1"/>
          <p:nvPr/>
        </p:nvSpPr>
        <p:spPr>
          <a:xfrm>
            <a:off x="9084564" y="546811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46" name="Plan action 2 Follow-up KPI"/>
          <p:cNvSpPr txBox="1"/>
          <p:nvPr/>
        </p:nvSpPr>
        <p:spPr>
          <a:xfrm>
            <a:off x="10300716" y="5468112"/>
            <a:ext cx="11750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4360" y="6144768"/>
            <a:ext cx="10991088" cy="393192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Next check-in icon" descr="icon_next_check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6217920"/>
            <a:ext cx="256032" cy="256032"/>
          </a:xfrm>
          <a:prstGeom prst="rect">
            <a:avLst/>
          </a:prstGeom>
        </p:spPr>
      </p:pic>
      <p:sp>
        <p:nvSpPr>
          <p:cNvPr id="49" name="Next check-in label"/>
          <p:cNvSpPr txBox="1"/>
          <p:nvPr/>
        </p:nvSpPr>
        <p:spPr>
          <a:xfrm>
            <a:off x="1097280" y="6245352"/>
            <a:ext cx="11247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Next check-in:</a:t>
            </a:r>
          </a:p>
        </p:txBody>
      </p:sp>
      <p:sp>
        <p:nvSpPr>
          <p:cNvPr id="50" name="Next check-in"/>
          <p:cNvSpPr txBox="1"/>
          <p:nvPr/>
        </p:nvSpPr>
        <p:spPr>
          <a:xfrm>
            <a:off x="2267712" y="6236208"/>
            <a:ext cx="8961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 · 2/3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Agree actions, owners and dates during the business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lan action 3 priority icon" descr="icon_priority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591056"/>
            <a:ext cx="256032" cy="256032"/>
          </a:xfrm>
          <a:prstGeom prst="rect">
            <a:avLst/>
          </a:prstGeom>
        </p:spPr>
      </p:pic>
      <p:sp>
        <p:nvSpPr>
          <p:cNvPr id="7" name="Plan action 3 rank"/>
          <p:cNvSpPr txBox="1"/>
          <p:nvPr/>
        </p:nvSpPr>
        <p:spPr>
          <a:xfrm>
            <a:off x="1097280" y="1618488"/>
            <a:ext cx="27614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PRIORITY ACTION 3</a:t>
            </a:r>
          </a:p>
        </p:txBody>
      </p:sp>
      <p:sp>
        <p:nvSpPr>
          <p:cNvPr id="8" name="Plan action 3 priority"/>
          <p:cNvSpPr txBox="1"/>
          <p:nvPr/>
        </p:nvSpPr>
        <p:spPr>
          <a:xfrm>
            <a:off x="4297680" y="159105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</a:t>
            </a:r>
          </a:p>
        </p:txBody>
      </p:sp>
      <p:sp>
        <p:nvSpPr>
          <p:cNvPr id="9" name="Plan action 3 store"/>
          <p:cNvSpPr txBox="1"/>
          <p:nvPr/>
        </p:nvSpPr>
        <p:spPr>
          <a:xfrm>
            <a:off x="777240" y="1947672"/>
            <a:ext cx="500176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Pet supplies branch 2, Rustaveli Avenue 15</a:t>
            </a:r>
          </a:p>
        </p:txBody>
      </p:sp>
      <p:sp>
        <p:nvSpPr>
          <p:cNvPr id="10" name="Plan action 3 primary label"/>
          <p:cNvSpPr txBox="1"/>
          <p:nvPr/>
        </p:nvSpPr>
        <p:spPr>
          <a:xfrm>
            <a:off x="777240" y="265176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11" name="Plan action 3 primary"/>
          <p:cNvSpPr txBox="1"/>
          <p:nvPr/>
        </p:nvSpPr>
        <p:spPr>
          <a:xfrm>
            <a:off x="2423160" y="2624328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12" name="Plan action 3 recommendation label"/>
          <p:cNvSpPr txBox="1"/>
          <p:nvPr/>
        </p:nvSpPr>
        <p:spPr>
          <a:xfrm>
            <a:off x="777240" y="2990088"/>
            <a:ext cx="5001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Recommended Action (System)</a:t>
            </a:r>
          </a:p>
        </p:txBody>
      </p:sp>
      <p:sp>
        <p:nvSpPr>
          <p:cNvPr id="13" name="Plan action 3 recommendation"/>
          <p:cNvSpPr txBox="1"/>
          <p:nvPr/>
        </p:nvSpPr>
        <p:spPr>
          <a:xfrm>
            <a:off x="777240" y="3282696"/>
            <a:ext cx="5001768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51960"/>
            <a:ext cx="5093208" cy="603504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lan action 3 agreed icon" descr="icon_agreed_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4297680"/>
            <a:ext cx="237744" cy="237744"/>
          </a:xfrm>
          <a:prstGeom prst="rect">
            <a:avLst/>
          </a:prstGeom>
        </p:spPr>
      </p:pic>
      <p:sp>
        <p:nvSpPr>
          <p:cNvPr id="16" name="Plan action 3 agreed label"/>
          <p:cNvSpPr txBox="1"/>
          <p:nvPr/>
        </p:nvSpPr>
        <p:spPr>
          <a:xfrm>
            <a:off x="1115568" y="4325112"/>
            <a:ext cx="459028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Agreed Action (Meeting)</a:t>
            </a:r>
          </a:p>
        </p:txBody>
      </p:sp>
      <p:sp>
        <p:nvSpPr>
          <p:cNvPr id="17" name="Plan action 3 agreed"/>
          <p:cNvSpPr txBox="1"/>
          <p:nvPr/>
        </p:nvSpPr>
        <p:spPr>
          <a:xfrm>
            <a:off x="850392" y="4590288"/>
            <a:ext cx="485546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8" name="Plan action 3 Owner label"/>
          <p:cNvSpPr txBox="1"/>
          <p:nvPr/>
        </p:nvSpPr>
        <p:spPr>
          <a:xfrm>
            <a:off x="777240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19" name="Plan action 3 Owner"/>
          <p:cNvSpPr txBox="1"/>
          <p:nvPr/>
        </p:nvSpPr>
        <p:spPr>
          <a:xfrm>
            <a:off x="1472184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0" name="Plan action 3 Contact label"/>
          <p:cNvSpPr txBox="1"/>
          <p:nvPr/>
        </p:nvSpPr>
        <p:spPr>
          <a:xfrm>
            <a:off x="3461004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21" name="Plan action 3 Contact"/>
          <p:cNvSpPr txBox="1"/>
          <p:nvPr/>
        </p:nvSpPr>
        <p:spPr>
          <a:xfrm>
            <a:off x="4155948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2" name="Plan action 3 ETA label"/>
          <p:cNvSpPr txBox="1"/>
          <p:nvPr/>
        </p:nvSpPr>
        <p:spPr>
          <a:xfrm>
            <a:off x="777240" y="5468112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23" name="Plan action 3 ETA"/>
          <p:cNvSpPr txBox="1"/>
          <p:nvPr/>
        </p:nvSpPr>
        <p:spPr>
          <a:xfrm>
            <a:off x="1472184" y="5468112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4" name="Plan action 3 Follow-up KPI label"/>
          <p:cNvSpPr txBox="1"/>
          <p:nvPr/>
        </p:nvSpPr>
        <p:spPr>
          <a:xfrm>
            <a:off x="3461004" y="546811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25" name="Plan action 3 Follow-up KPI"/>
          <p:cNvSpPr txBox="1"/>
          <p:nvPr/>
        </p:nvSpPr>
        <p:spPr>
          <a:xfrm>
            <a:off x="4677156" y="5468112"/>
            <a:ext cx="11750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lan action 4 priority icon" descr="icon_priority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1591056"/>
            <a:ext cx="256032" cy="256032"/>
          </a:xfrm>
          <a:prstGeom prst="rect">
            <a:avLst/>
          </a:prstGeom>
        </p:spPr>
      </p:pic>
      <p:sp>
        <p:nvSpPr>
          <p:cNvPr id="28" name="Plan action 4 rank"/>
          <p:cNvSpPr txBox="1"/>
          <p:nvPr/>
        </p:nvSpPr>
        <p:spPr>
          <a:xfrm>
            <a:off x="6720840" y="1618488"/>
            <a:ext cx="27614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PRIORITY ACTION 4</a:t>
            </a:r>
          </a:p>
        </p:txBody>
      </p:sp>
      <p:sp>
        <p:nvSpPr>
          <p:cNvPr id="29" name="Plan action 4 priority"/>
          <p:cNvSpPr txBox="1"/>
          <p:nvPr/>
        </p:nvSpPr>
        <p:spPr>
          <a:xfrm>
            <a:off x="9921240" y="159105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</a:t>
            </a:r>
          </a:p>
        </p:txBody>
      </p:sp>
      <p:sp>
        <p:nvSpPr>
          <p:cNvPr id="30" name="Plan action 4 store"/>
          <p:cNvSpPr txBox="1"/>
          <p:nvPr/>
        </p:nvSpPr>
        <p:spPr>
          <a:xfrm>
            <a:off x="6400800" y="1947672"/>
            <a:ext cx="500176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Pet supplies branch 3, Rustaveli Avenue 15</a:t>
            </a:r>
          </a:p>
        </p:txBody>
      </p:sp>
      <p:sp>
        <p:nvSpPr>
          <p:cNvPr id="31" name="Plan action 4 primary label"/>
          <p:cNvSpPr txBox="1"/>
          <p:nvPr/>
        </p:nvSpPr>
        <p:spPr>
          <a:xfrm>
            <a:off x="6400800" y="265176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32" name="Plan action 4 primary"/>
          <p:cNvSpPr txBox="1"/>
          <p:nvPr/>
        </p:nvSpPr>
        <p:spPr>
          <a:xfrm>
            <a:off x="8046720" y="2624328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33" name="Plan action 4 recommendation label"/>
          <p:cNvSpPr txBox="1"/>
          <p:nvPr/>
        </p:nvSpPr>
        <p:spPr>
          <a:xfrm>
            <a:off x="6400800" y="2990088"/>
            <a:ext cx="5001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Recommended Action (System)</a:t>
            </a:r>
          </a:p>
        </p:txBody>
      </p:sp>
      <p:sp>
        <p:nvSpPr>
          <p:cNvPr id="34" name="Plan action 4 recommendation"/>
          <p:cNvSpPr txBox="1"/>
          <p:nvPr/>
        </p:nvSpPr>
        <p:spPr>
          <a:xfrm>
            <a:off x="6400800" y="3282696"/>
            <a:ext cx="5001768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55080" y="4251960"/>
            <a:ext cx="5093208" cy="603504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lan action 4 agreed icon" descr="icon_agreed_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4297680"/>
            <a:ext cx="237744" cy="237744"/>
          </a:xfrm>
          <a:prstGeom prst="rect">
            <a:avLst/>
          </a:prstGeom>
        </p:spPr>
      </p:pic>
      <p:sp>
        <p:nvSpPr>
          <p:cNvPr id="37" name="Plan action 4 agreed label"/>
          <p:cNvSpPr txBox="1"/>
          <p:nvPr/>
        </p:nvSpPr>
        <p:spPr>
          <a:xfrm>
            <a:off x="6739128" y="4325112"/>
            <a:ext cx="459028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Agreed Action (Meeting)</a:t>
            </a:r>
          </a:p>
        </p:txBody>
      </p:sp>
      <p:sp>
        <p:nvSpPr>
          <p:cNvPr id="38" name="Plan action 4 agreed"/>
          <p:cNvSpPr txBox="1"/>
          <p:nvPr/>
        </p:nvSpPr>
        <p:spPr>
          <a:xfrm>
            <a:off x="6473952" y="4590288"/>
            <a:ext cx="485546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9" name="Plan action 4 Owner label"/>
          <p:cNvSpPr txBox="1"/>
          <p:nvPr/>
        </p:nvSpPr>
        <p:spPr>
          <a:xfrm>
            <a:off x="6400800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40" name="Plan action 4 Owner"/>
          <p:cNvSpPr txBox="1"/>
          <p:nvPr/>
        </p:nvSpPr>
        <p:spPr>
          <a:xfrm>
            <a:off x="7095744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41" name="Plan action 4 Contact label"/>
          <p:cNvSpPr txBox="1"/>
          <p:nvPr/>
        </p:nvSpPr>
        <p:spPr>
          <a:xfrm>
            <a:off x="9084564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42" name="Plan action 4 Contact"/>
          <p:cNvSpPr txBox="1"/>
          <p:nvPr/>
        </p:nvSpPr>
        <p:spPr>
          <a:xfrm>
            <a:off x="9779508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43" name="Plan action 4 ETA label"/>
          <p:cNvSpPr txBox="1"/>
          <p:nvPr/>
        </p:nvSpPr>
        <p:spPr>
          <a:xfrm>
            <a:off x="6400800" y="5468112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44" name="Plan action 4 ETA"/>
          <p:cNvSpPr txBox="1"/>
          <p:nvPr/>
        </p:nvSpPr>
        <p:spPr>
          <a:xfrm>
            <a:off x="7095744" y="5468112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45" name="Plan action 4 Follow-up KPI label"/>
          <p:cNvSpPr txBox="1"/>
          <p:nvPr/>
        </p:nvSpPr>
        <p:spPr>
          <a:xfrm>
            <a:off x="9084564" y="546811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46" name="Plan action 4 Follow-up KPI"/>
          <p:cNvSpPr txBox="1"/>
          <p:nvPr/>
        </p:nvSpPr>
        <p:spPr>
          <a:xfrm>
            <a:off x="10300716" y="5468112"/>
            <a:ext cx="11750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4360" y="6144768"/>
            <a:ext cx="10991088" cy="393192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Next check-in icon" descr="icon_next_check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6217920"/>
            <a:ext cx="256032" cy="256032"/>
          </a:xfrm>
          <a:prstGeom prst="rect">
            <a:avLst/>
          </a:prstGeom>
        </p:spPr>
      </p:pic>
      <p:sp>
        <p:nvSpPr>
          <p:cNvPr id="49" name="Next check-in label"/>
          <p:cNvSpPr txBox="1"/>
          <p:nvPr/>
        </p:nvSpPr>
        <p:spPr>
          <a:xfrm>
            <a:off x="1097280" y="6245352"/>
            <a:ext cx="11247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Next check-in:</a:t>
            </a:r>
          </a:p>
        </p:txBody>
      </p:sp>
      <p:sp>
        <p:nvSpPr>
          <p:cNvPr id="50" name="Next check-in"/>
          <p:cNvSpPr txBox="1"/>
          <p:nvPr/>
        </p:nvSpPr>
        <p:spPr>
          <a:xfrm>
            <a:off x="2267712" y="6236208"/>
            <a:ext cx="8961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 · 3/3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Agree actions, owners and dates during the business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lan action 5 priority icon" descr="icon_priority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591056"/>
            <a:ext cx="256032" cy="256032"/>
          </a:xfrm>
          <a:prstGeom prst="rect">
            <a:avLst/>
          </a:prstGeom>
        </p:spPr>
      </p:pic>
      <p:sp>
        <p:nvSpPr>
          <p:cNvPr id="7" name="Plan action 5 rank"/>
          <p:cNvSpPr txBox="1"/>
          <p:nvPr/>
        </p:nvSpPr>
        <p:spPr>
          <a:xfrm>
            <a:off x="1097280" y="1618488"/>
            <a:ext cx="27614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PRIORITY ACTION 5</a:t>
            </a:r>
          </a:p>
        </p:txBody>
      </p:sp>
      <p:sp>
        <p:nvSpPr>
          <p:cNvPr id="8" name="Plan action 5 priority"/>
          <p:cNvSpPr txBox="1"/>
          <p:nvPr/>
        </p:nvSpPr>
        <p:spPr>
          <a:xfrm>
            <a:off x="4297680" y="159105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</a:t>
            </a:r>
          </a:p>
        </p:txBody>
      </p:sp>
      <p:sp>
        <p:nvSpPr>
          <p:cNvPr id="9" name="Plan action 5 store"/>
          <p:cNvSpPr txBox="1"/>
          <p:nvPr/>
        </p:nvSpPr>
        <p:spPr>
          <a:xfrm>
            <a:off x="777240" y="1947672"/>
            <a:ext cx="500176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Pet supplies branch 4, Rustaveli Avenue 15</a:t>
            </a:r>
          </a:p>
        </p:txBody>
      </p:sp>
      <p:sp>
        <p:nvSpPr>
          <p:cNvPr id="10" name="Plan action 5 primary label"/>
          <p:cNvSpPr txBox="1"/>
          <p:nvPr/>
        </p:nvSpPr>
        <p:spPr>
          <a:xfrm>
            <a:off x="777240" y="265176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11" name="Plan action 5 primary"/>
          <p:cNvSpPr txBox="1"/>
          <p:nvPr/>
        </p:nvSpPr>
        <p:spPr>
          <a:xfrm>
            <a:off x="2423160" y="2624328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12" name="Plan action 5 recommendation label"/>
          <p:cNvSpPr txBox="1"/>
          <p:nvPr/>
        </p:nvSpPr>
        <p:spPr>
          <a:xfrm>
            <a:off x="777240" y="2990088"/>
            <a:ext cx="5001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Recommended Action (System)</a:t>
            </a:r>
          </a:p>
        </p:txBody>
      </p:sp>
      <p:sp>
        <p:nvSpPr>
          <p:cNvPr id="13" name="Plan action 5 recommendation"/>
          <p:cNvSpPr txBox="1"/>
          <p:nvPr/>
        </p:nvSpPr>
        <p:spPr>
          <a:xfrm>
            <a:off x="777240" y="3282696"/>
            <a:ext cx="5001768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51960"/>
            <a:ext cx="5093208" cy="603504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lan action 5 agreed icon" descr="icon_agreed_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4297680"/>
            <a:ext cx="237744" cy="237744"/>
          </a:xfrm>
          <a:prstGeom prst="rect">
            <a:avLst/>
          </a:prstGeom>
        </p:spPr>
      </p:pic>
      <p:sp>
        <p:nvSpPr>
          <p:cNvPr id="16" name="Plan action 5 agreed label"/>
          <p:cNvSpPr txBox="1"/>
          <p:nvPr/>
        </p:nvSpPr>
        <p:spPr>
          <a:xfrm>
            <a:off x="1115568" y="4325112"/>
            <a:ext cx="459028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Agreed Action (Meeting)</a:t>
            </a:r>
          </a:p>
        </p:txBody>
      </p:sp>
      <p:sp>
        <p:nvSpPr>
          <p:cNvPr id="17" name="Plan action 5 agreed"/>
          <p:cNvSpPr txBox="1"/>
          <p:nvPr/>
        </p:nvSpPr>
        <p:spPr>
          <a:xfrm>
            <a:off x="850392" y="4590288"/>
            <a:ext cx="485546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8" name="Plan action 5 Owner label"/>
          <p:cNvSpPr txBox="1"/>
          <p:nvPr/>
        </p:nvSpPr>
        <p:spPr>
          <a:xfrm>
            <a:off x="777240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19" name="Plan action 5 Owner"/>
          <p:cNvSpPr txBox="1"/>
          <p:nvPr/>
        </p:nvSpPr>
        <p:spPr>
          <a:xfrm>
            <a:off x="1472184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0" name="Plan action 5 Contact label"/>
          <p:cNvSpPr txBox="1"/>
          <p:nvPr/>
        </p:nvSpPr>
        <p:spPr>
          <a:xfrm>
            <a:off x="3461004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21" name="Plan action 5 Contact"/>
          <p:cNvSpPr txBox="1"/>
          <p:nvPr/>
        </p:nvSpPr>
        <p:spPr>
          <a:xfrm>
            <a:off x="4155948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2" name="Plan action 5 ETA label"/>
          <p:cNvSpPr txBox="1"/>
          <p:nvPr/>
        </p:nvSpPr>
        <p:spPr>
          <a:xfrm>
            <a:off x="777240" y="5468112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23" name="Plan action 5 ETA"/>
          <p:cNvSpPr txBox="1"/>
          <p:nvPr/>
        </p:nvSpPr>
        <p:spPr>
          <a:xfrm>
            <a:off x="1472184" y="5468112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4" name="Plan action 5 Follow-up KPI label"/>
          <p:cNvSpPr txBox="1"/>
          <p:nvPr/>
        </p:nvSpPr>
        <p:spPr>
          <a:xfrm>
            <a:off x="3461004" y="546811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25" name="Plan action 5 Follow-up KPI"/>
          <p:cNvSpPr txBox="1"/>
          <p:nvPr/>
        </p:nvSpPr>
        <p:spPr>
          <a:xfrm>
            <a:off x="4677156" y="5468112"/>
            <a:ext cx="11750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lan action 6 priority icon" descr="icon_priority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1591056"/>
            <a:ext cx="256032" cy="256032"/>
          </a:xfrm>
          <a:prstGeom prst="rect">
            <a:avLst/>
          </a:prstGeom>
        </p:spPr>
      </p:pic>
      <p:sp>
        <p:nvSpPr>
          <p:cNvPr id="28" name="Plan action 6 rank"/>
          <p:cNvSpPr txBox="1"/>
          <p:nvPr/>
        </p:nvSpPr>
        <p:spPr>
          <a:xfrm>
            <a:off x="6720840" y="1618488"/>
            <a:ext cx="27614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PRIORITY ACTION 6</a:t>
            </a:r>
          </a:p>
        </p:txBody>
      </p:sp>
      <p:sp>
        <p:nvSpPr>
          <p:cNvPr id="29" name="Plan action 6 priority"/>
          <p:cNvSpPr txBox="1"/>
          <p:nvPr/>
        </p:nvSpPr>
        <p:spPr>
          <a:xfrm>
            <a:off x="9921240" y="159105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</a:t>
            </a:r>
          </a:p>
        </p:txBody>
      </p:sp>
      <p:sp>
        <p:nvSpPr>
          <p:cNvPr id="30" name="Plan action 6 store"/>
          <p:cNvSpPr txBox="1"/>
          <p:nvPr/>
        </p:nvSpPr>
        <p:spPr>
          <a:xfrm>
            <a:off x="6400800" y="1947672"/>
            <a:ext cx="500176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Pet supplies branch 5, Rustaveli Avenue 15</a:t>
            </a:r>
          </a:p>
        </p:txBody>
      </p:sp>
      <p:sp>
        <p:nvSpPr>
          <p:cNvPr id="31" name="Plan action 6 primary label"/>
          <p:cNvSpPr txBox="1"/>
          <p:nvPr/>
        </p:nvSpPr>
        <p:spPr>
          <a:xfrm>
            <a:off x="6400800" y="265176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32" name="Plan action 6 primary"/>
          <p:cNvSpPr txBox="1"/>
          <p:nvPr/>
        </p:nvSpPr>
        <p:spPr>
          <a:xfrm>
            <a:off x="8046720" y="2624328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33" name="Plan action 6 recommendation label"/>
          <p:cNvSpPr txBox="1"/>
          <p:nvPr/>
        </p:nvSpPr>
        <p:spPr>
          <a:xfrm>
            <a:off x="6400800" y="2990088"/>
            <a:ext cx="5001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Recommended Action (System)</a:t>
            </a:r>
          </a:p>
        </p:txBody>
      </p:sp>
      <p:sp>
        <p:nvSpPr>
          <p:cNvPr id="34" name="Plan action 6 recommendation"/>
          <p:cNvSpPr txBox="1"/>
          <p:nvPr/>
        </p:nvSpPr>
        <p:spPr>
          <a:xfrm>
            <a:off x="6400800" y="3282696"/>
            <a:ext cx="5001768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55080" y="4251960"/>
            <a:ext cx="5093208" cy="603504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lan action 6 agreed icon" descr="icon_agreed_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4297680"/>
            <a:ext cx="237744" cy="237744"/>
          </a:xfrm>
          <a:prstGeom prst="rect">
            <a:avLst/>
          </a:prstGeom>
        </p:spPr>
      </p:pic>
      <p:sp>
        <p:nvSpPr>
          <p:cNvPr id="37" name="Plan action 6 agreed label"/>
          <p:cNvSpPr txBox="1"/>
          <p:nvPr/>
        </p:nvSpPr>
        <p:spPr>
          <a:xfrm>
            <a:off x="6739128" y="4325112"/>
            <a:ext cx="459028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Agreed Action (Meeting)</a:t>
            </a:r>
          </a:p>
        </p:txBody>
      </p:sp>
      <p:sp>
        <p:nvSpPr>
          <p:cNvPr id="38" name="Plan action 6 agreed"/>
          <p:cNvSpPr txBox="1"/>
          <p:nvPr/>
        </p:nvSpPr>
        <p:spPr>
          <a:xfrm>
            <a:off x="6473952" y="4590288"/>
            <a:ext cx="485546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9" name="Plan action 6 Owner label"/>
          <p:cNvSpPr txBox="1"/>
          <p:nvPr/>
        </p:nvSpPr>
        <p:spPr>
          <a:xfrm>
            <a:off x="6400800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40" name="Plan action 6 Owner"/>
          <p:cNvSpPr txBox="1"/>
          <p:nvPr/>
        </p:nvSpPr>
        <p:spPr>
          <a:xfrm>
            <a:off x="7095744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41" name="Plan action 6 Contact label"/>
          <p:cNvSpPr txBox="1"/>
          <p:nvPr/>
        </p:nvSpPr>
        <p:spPr>
          <a:xfrm>
            <a:off x="9084564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42" name="Plan action 6 Contact"/>
          <p:cNvSpPr txBox="1"/>
          <p:nvPr/>
        </p:nvSpPr>
        <p:spPr>
          <a:xfrm>
            <a:off x="9779508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43" name="Plan action 6 ETA label"/>
          <p:cNvSpPr txBox="1"/>
          <p:nvPr/>
        </p:nvSpPr>
        <p:spPr>
          <a:xfrm>
            <a:off x="6400800" y="5468112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44" name="Plan action 6 ETA"/>
          <p:cNvSpPr txBox="1"/>
          <p:nvPr/>
        </p:nvSpPr>
        <p:spPr>
          <a:xfrm>
            <a:off x="7095744" y="5468112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45" name="Plan action 6 Follow-up KPI label"/>
          <p:cNvSpPr txBox="1"/>
          <p:nvPr/>
        </p:nvSpPr>
        <p:spPr>
          <a:xfrm>
            <a:off x="9084564" y="546811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46" name="Plan action 6 Follow-up KPI"/>
          <p:cNvSpPr txBox="1"/>
          <p:nvPr/>
        </p:nvSpPr>
        <p:spPr>
          <a:xfrm>
            <a:off x="10300716" y="5468112"/>
            <a:ext cx="11750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4360" y="6144768"/>
            <a:ext cx="10991088" cy="393192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Next check-in icon" descr="icon_next_check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6217920"/>
            <a:ext cx="256032" cy="256032"/>
          </a:xfrm>
          <a:prstGeom prst="rect">
            <a:avLst/>
          </a:prstGeom>
        </p:spPr>
      </p:pic>
      <p:sp>
        <p:nvSpPr>
          <p:cNvPr id="49" name="Next check-in label"/>
          <p:cNvSpPr txBox="1"/>
          <p:nvPr/>
        </p:nvSpPr>
        <p:spPr>
          <a:xfrm>
            <a:off x="1097280" y="6245352"/>
            <a:ext cx="11247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Next check-in:</a:t>
            </a:r>
          </a:p>
        </p:txBody>
      </p:sp>
      <p:sp>
        <p:nvSpPr>
          <p:cNvPr id="50" name="Next check-in"/>
          <p:cNvSpPr txBox="1"/>
          <p:nvPr/>
        </p:nvSpPr>
        <p:spPr>
          <a:xfrm>
            <a:off x="2267712" y="6236208"/>
            <a:ext cx="8961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Additional agreed 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dditional action 1"/>
          <p:cNvSpPr txBox="1"/>
          <p:nvPr/>
        </p:nvSpPr>
        <p:spPr>
          <a:xfrm>
            <a:off x="777240" y="1627632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ACTION 1</a:t>
            </a:r>
          </a:p>
        </p:txBody>
      </p:sp>
      <p:sp>
        <p:nvSpPr>
          <p:cNvPr id="7" name="Additional action 1Action / Topic label"/>
          <p:cNvSpPr txBox="1"/>
          <p:nvPr/>
        </p:nvSpPr>
        <p:spPr>
          <a:xfrm>
            <a:off x="777240" y="210312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Action / Topic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5093208" cy="64008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dditional action 1Action / Topic"/>
          <p:cNvSpPr txBox="1"/>
          <p:nvPr/>
        </p:nvSpPr>
        <p:spPr>
          <a:xfrm>
            <a:off x="850392" y="254203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pic>
        <p:nvPicPr>
          <p:cNvPr id="10" name="Additional action 1 agreed icon" descr="icon_agreed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127248"/>
            <a:ext cx="246888" cy="246888"/>
          </a:xfrm>
          <a:prstGeom prst="rect">
            <a:avLst/>
          </a:prstGeom>
        </p:spPr>
      </p:pic>
      <p:sp>
        <p:nvSpPr>
          <p:cNvPr id="11" name="Additional action 1Agreed Action label"/>
          <p:cNvSpPr txBox="1"/>
          <p:nvPr/>
        </p:nvSpPr>
        <p:spPr>
          <a:xfrm>
            <a:off x="1088136" y="3154680"/>
            <a:ext cx="46908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Agreed 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74720"/>
            <a:ext cx="5093208" cy="91440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dditional action 1Agreed Action"/>
          <p:cNvSpPr txBox="1"/>
          <p:nvPr/>
        </p:nvSpPr>
        <p:spPr>
          <a:xfrm>
            <a:off x="850392" y="359359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4" name="Additional action 1Owner label"/>
          <p:cNvSpPr txBox="1"/>
          <p:nvPr/>
        </p:nvSpPr>
        <p:spPr>
          <a:xfrm>
            <a:off x="777240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15" name="Additional action 1Owner"/>
          <p:cNvSpPr txBox="1"/>
          <p:nvPr/>
        </p:nvSpPr>
        <p:spPr>
          <a:xfrm>
            <a:off x="777240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6" name="Additional action 1Contact label"/>
          <p:cNvSpPr txBox="1"/>
          <p:nvPr/>
        </p:nvSpPr>
        <p:spPr>
          <a:xfrm>
            <a:off x="3461004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17" name="Additional action 1Contact"/>
          <p:cNvSpPr txBox="1"/>
          <p:nvPr/>
        </p:nvSpPr>
        <p:spPr>
          <a:xfrm>
            <a:off x="3461004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8" name="Additional action 1ETA label"/>
          <p:cNvSpPr txBox="1"/>
          <p:nvPr/>
        </p:nvSpPr>
        <p:spPr>
          <a:xfrm>
            <a:off x="777240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19" name="Additional action 1ETA"/>
          <p:cNvSpPr txBox="1"/>
          <p:nvPr/>
        </p:nvSpPr>
        <p:spPr>
          <a:xfrm>
            <a:off x="777240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0" name="Additional action 1Follow-up KPI label"/>
          <p:cNvSpPr txBox="1"/>
          <p:nvPr/>
        </p:nvSpPr>
        <p:spPr>
          <a:xfrm>
            <a:off x="3461004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21" name="Additional action 1Follow-up KPI"/>
          <p:cNvSpPr txBox="1"/>
          <p:nvPr/>
        </p:nvSpPr>
        <p:spPr>
          <a:xfrm>
            <a:off x="3461004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Additional action 2"/>
          <p:cNvSpPr txBox="1"/>
          <p:nvPr/>
        </p:nvSpPr>
        <p:spPr>
          <a:xfrm>
            <a:off x="6400800" y="1627632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ACTION 2</a:t>
            </a:r>
          </a:p>
        </p:txBody>
      </p:sp>
      <p:sp>
        <p:nvSpPr>
          <p:cNvPr id="24" name="Additional action 2Action / Topic label"/>
          <p:cNvSpPr txBox="1"/>
          <p:nvPr/>
        </p:nvSpPr>
        <p:spPr>
          <a:xfrm>
            <a:off x="6400800" y="210312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Action / Topic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2423160"/>
            <a:ext cx="5093208" cy="64008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Additional action 2Action / Topic"/>
          <p:cNvSpPr txBox="1"/>
          <p:nvPr/>
        </p:nvSpPr>
        <p:spPr>
          <a:xfrm>
            <a:off x="6473952" y="254203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pic>
        <p:nvPicPr>
          <p:cNvPr id="27" name="Additional action 2 agreed icon" descr="icon_agreed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127248"/>
            <a:ext cx="246888" cy="246888"/>
          </a:xfrm>
          <a:prstGeom prst="rect">
            <a:avLst/>
          </a:prstGeom>
        </p:spPr>
      </p:pic>
      <p:sp>
        <p:nvSpPr>
          <p:cNvPr id="28" name="Additional action 2Agreed Action label"/>
          <p:cNvSpPr txBox="1"/>
          <p:nvPr/>
        </p:nvSpPr>
        <p:spPr>
          <a:xfrm>
            <a:off x="6711696" y="3154680"/>
            <a:ext cx="46908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Agreed Action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3474720"/>
            <a:ext cx="5093208" cy="91440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Additional action 2Agreed Action"/>
          <p:cNvSpPr txBox="1"/>
          <p:nvPr/>
        </p:nvSpPr>
        <p:spPr>
          <a:xfrm>
            <a:off x="6473952" y="359359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1" name="Additional action 2Owner label"/>
          <p:cNvSpPr txBox="1"/>
          <p:nvPr/>
        </p:nvSpPr>
        <p:spPr>
          <a:xfrm>
            <a:off x="6400800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32" name="Additional action 2Owner"/>
          <p:cNvSpPr txBox="1"/>
          <p:nvPr/>
        </p:nvSpPr>
        <p:spPr>
          <a:xfrm>
            <a:off x="6400800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3" name="Additional action 2Contact label"/>
          <p:cNvSpPr txBox="1"/>
          <p:nvPr/>
        </p:nvSpPr>
        <p:spPr>
          <a:xfrm>
            <a:off x="9084564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34" name="Additional action 2Contact"/>
          <p:cNvSpPr txBox="1"/>
          <p:nvPr/>
        </p:nvSpPr>
        <p:spPr>
          <a:xfrm>
            <a:off x="9084564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5" name="Additional action 2ETA label"/>
          <p:cNvSpPr txBox="1"/>
          <p:nvPr/>
        </p:nvSpPr>
        <p:spPr>
          <a:xfrm>
            <a:off x="6400800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36" name="Additional action 2ETA"/>
          <p:cNvSpPr txBox="1"/>
          <p:nvPr/>
        </p:nvSpPr>
        <p:spPr>
          <a:xfrm>
            <a:off x="6400800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7" name="Additional action 2Follow-up KPI label"/>
          <p:cNvSpPr txBox="1"/>
          <p:nvPr/>
        </p:nvSpPr>
        <p:spPr>
          <a:xfrm>
            <a:off x="9084564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38" name="Additional action 2Follow-up KPI"/>
          <p:cNvSpPr txBox="1"/>
          <p:nvPr/>
        </p:nvSpPr>
        <p:spPr>
          <a:xfrm>
            <a:off x="9084564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" y="6144768"/>
            <a:ext cx="10991088" cy="393192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Next check-in icon" descr="icon_next_check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6217920"/>
            <a:ext cx="256032" cy="256032"/>
          </a:xfrm>
          <a:prstGeom prst="rect">
            <a:avLst/>
          </a:prstGeom>
        </p:spPr>
      </p:pic>
      <p:sp>
        <p:nvSpPr>
          <p:cNvPr id="41" name="Next check-in label"/>
          <p:cNvSpPr txBox="1"/>
          <p:nvPr/>
        </p:nvSpPr>
        <p:spPr>
          <a:xfrm>
            <a:off x="1097280" y="6245352"/>
            <a:ext cx="11247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Next check-in:</a:t>
            </a:r>
          </a:p>
        </p:txBody>
      </p:sp>
      <p:sp>
        <p:nvSpPr>
          <p:cNvPr id="42" name="Next check-in"/>
          <p:cNvSpPr txBox="1"/>
          <p:nvPr/>
        </p:nvSpPr>
        <p:spPr>
          <a:xfrm>
            <a:off x="2267712" y="6236208"/>
            <a:ext cx="8961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Invet Zoo Business Review</dc:title>
  <dc:subject>Invet Zoo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cp:version>V9_Beta2</cp:version>
</cp:coreProperties>
</file>
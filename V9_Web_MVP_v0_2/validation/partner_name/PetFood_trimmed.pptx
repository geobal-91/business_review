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80" r:id="rId22"/>
    <p:sldId id="260" r:id="rId11"/>
    <p:sldId id="281" r:id="rId21"/>
    <p:sldId id="261" r:id="rId12"/>
    <p:sldId id="282" r:id="rId20"/>
    <p:sldId id="266" r:id="rId17"/>
    <p:sldId id="268" r:id="rId19"/>
    <p:sldId id="277" r:id="rId29"/>
    <p:sldId id="278" r:id="rId30"/>
    <p:sldId id="279" r:id="rId31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19" Type="http://schemas.openxmlformats.org/officeDocument/2006/relationships/slide" Target="slides/slide13.xml"/><Relationship Id="rId20" Type="http://schemas.openxmlformats.org/officeDocument/2006/relationships/slide" Target="slides/slide24.xml"/><Relationship Id="rId21" Type="http://schemas.openxmlformats.org/officeDocument/2006/relationships/slide" Target="slides/slide23.xml"/><Relationship Id="rId22" Type="http://schemas.openxmlformats.org/officeDocument/2006/relationships/slide" Target="slides/slide22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€#,##0.00</c:formatCode>
                <c:ptCount val="2"/>
                <c:pt idx="0">
                  <c:v>44.099219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€#,##0.00</c:formatCode>
                <c:ptCount val="2"/>
                <c:pt idx="1">
                  <c:v>48.30589472911392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2.79766314784810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0.0423728813559322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0.02229625832906202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5508474576271186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0.9888982390525167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0.5977028270121854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855677107682717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0.12087912087912088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571428571428571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0.10989010989010989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428571428571428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7.597084402171946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-0.1967525442608361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.956765278379086"/>
          <c:min val="-1.684327044242802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4.0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-0.2685185185185185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.956765278379086"/>
          <c:min val="-1.684327044242802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0.7194168804343892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0.09811044582062922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.956765278379086"/>
          <c:min val="-1.684327044242802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GMV (€)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Sheet1!$A$2:$A$13</c:f>
              <c:strCache>
                <c:ptCount val="12"/>
                <c:pt idx="0">
                  <c:v>Sep 25</c:v>
                </c:pt>
                <c:pt idx="1">
                  <c:v>Oct 25</c:v>
                </c:pt>
                <c:pt idx="2">
                  <c:v>Nov 25</c:v>
                </c:pt>
                <c:pt idx="3">
                  <c:v>Dec 25</c:v>
                </c:pt>
                <c:pt idx="4">
                  <c:v>Jan 26</c:v>
                </c:pt>
                <c:pt idx="5">
                  <c:v>Feb 26</c:v>
                </c:pt>
                <c:pt idx="6">
                  <c:v>Mar 26</c:v>
                </c:pt>
                <c:pt idx="7">
                  <c:v>Apr 26</c:v>
                </c:pt>
                <c:pt idx="8">
                  <c:v>May 26</c:v>
                </c:pt>
                <c:pt idx="9">
                  <c:v>Jun 26</c:v>
                </c:pt>
                <c:pt idx="10">
                  <c:v>Jul 26</c:v>
                </c:pt>
                <c:pt idx="11">
                  <c:v>Aug 26</c:v>
                </c:pt>
              </c:strCache>
            </c:strRef>
          </c:cat>
          <c:val>
            <c:numRef>
              <c:f>Sheet1!$B$2:$B$13</c:f>
              <c:numCache>
                <c:formatCode>#,##0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37.340784</c:v>
                </c:pt>
                <c:pt idx="3">
                  <c:v>564.259904</c:v>
                </c:pt>
                <c:pt idx="4">
                  <c:v>670.041195</c:v>
                </c:pt>
                <c:pt idx="5">
                  <c:v>211.47173</c:v>
                </c:pt>
                <c:pt idx="6">
                  <c:v>0.0</c:v>
                </c:pt>
                <c:pt idx="7">
                  <c:v>174.22885</c:v>
                </c:pt>
                <c:pt idx="8">
                  <c:v>0.0</c:v>
                </c:pt>
                <c:pt idx="9">
                  <c:v>0.0</c:v>
                </c:pt>
                <c:pt idx="10">
                  <c:v>25.647776</c:v>
                </c:pt>
                <c:pt idx="11">
                  <c:v>220.496095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</c:marker>
          <c:cat>
            <c:strRef>
              <c:f>Sheet1!$A$2:$A$13</c:f>
              <c:strCache>
                <c:ptCount val="12"/>
                <c:pt idx="0">
                  <c:v>Sep 25</c:v>
                </c:pt>
                <c:pt idx="1">
                  <c:v>Oct 25</c:v>
                </c:pt>
                <c:pt idx="2">
                  <c:v>Nov 25</c:v>
                </c:pt>
                <c:pt idx="3">
                  <c:v>Dec 25</c:v>
                </c:pt>
                <c:pt idx="4">
                  <c:v>Jan 26</c:v>
                </c:pt>
                <c:pt idx="5">
                  <c:v>Feb 26</c:v>
                </c:pt>
                <c:pt idx="6">
                  <c:v>Mar 26</c:v>
                </c:pt>
                <c:pt idx="7">
                  <c:v>Apr 26</c:v>
                </c:pt>
                <c:pt idx="8">
                  <c:v>May 26</c:v>
                </c:pt>
                <c:pt idx="9">
                  <c:v>Jun 26</c:v>
                </c:pt>
                <c:pt idx="10">
                  <c:v>Jul 26</c:v>
                </c:pt>
                <c:pt idx="11">
                  <c:v>Aug 26</c:v>
                </c:pt>
              </c:strCache>
            </c:strRef>
          </c:cat>
          <c:val>
            <c:numRef>
              <c:f>Sheet1!$C$2:$C$13</c:f>
              <c:numCache>
                <c:formatCode>#,##0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2.0</c:v>
                </c:pt>
                <c:pt idx="3">
                  <c:v>7.0</c:v>
                </c:pt>
                <c:pt idx="4">
                  <c:v>4.0</c:v>
                </c:pt>
                <c:pt idx="5">
                  <c:v>4.0</c:v>
                </c:pt>
                <c:pt idx="6">
                  <c:v>0.0</c:v>
                </c:pt>
                <c:pt idx="7">
                  <c:v>3.0</c:v>
                </c:pt>
                <c:pt idx="8">
                  <c:v>0.0</c:v>
                </c:pt>
                <c:pt idx="9">
                  <c:v>0.0</c:v>
                </c:pt>
                <c:pt idx="10">
                  <c:v>1.0</c:v>
                </c:pt>
                <c:pt idx="11">
                  <c:v>5.0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title>
          <c:tx>
            <c:rich>
              <a:bodyPr/>
              <a:lstStyle/>
              <a:p>
                <a:r>
                  <a:t>GMV (€)</a:t>
                </a:r>
              </a:p>
            </c:rich>
          </c:tx>
          <c:layout/>
          <c:overlay val="0"/>
        </c:title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title>
          <c:tx>
            <c:rich>
              <a:bodyPr/>
              <a:lstStyle/>
              <a:p>
                <a:r>
                  <a:t>Orders</a:t>
                </a:r>
              </a:p>
            </c:rich>
          </c:tx>
          <c:layout/>
          <c:overlay val="0"/>
        </c:title>
        <c:numFmt formatCode="#,##0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11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 Sessions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Sheet1!$A$2:$A$13</c:f>
              <c:strCache>
                <c:ptCount val="12"/>
                <c:pt idx="0">
                  <c:v>Sep 25</c:v>
                </c:pt>
                <c:pt idx="1">
                  <c:v>Oct 25</c:v>
                </c:pt>
                <c:pt idx="2">
                  <c:v>Nov 25</c:v>
                </c:pt>
                <c:pt idx="3">
                  <c:v>Dec 25</c:v>
                </c:pt>
                <c:pt idx="4">
                  <c:v>Jan 26</c:v>
                </c:pt>
                <c:pt idx="5">
                  <c:v>Feb 26</c:v>
                </c:pt>
                <c:pt idx="6">
                  <c:v>Mar 26</c:v>
                </c:pt>
                <c:pt idx="7">
                  <c:v>Apr 26</c:v>
                </c:pt>
                <c:pt idx="8">
                  <c:v>May 26</c:v>
                </c:pt>
                <c:pt idx="9">
                  <c:v>Jun 26</c:v>
                </c:pt>
                <c:pt idx="10">
                  <c:v>Jul 26</c:v>
                </c:pt>
                <c:pt idx="11">
                  <c:v>Aug 26</c:v>
                </c:pt>
              </c:strCache>
            </c:strRef>
          </c:cat>
          <c:val>
            <c:numRef>
              <c:f>Sheet1!$B$2:$B$13</c:f>
              <c:numCache>
                <c:formatCode>#,##0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188.0</c:v>
                </c:pt>
                <c:pt idx="5">
                  <c:v>253.0</c:v>
                </c:pt>
                <c:pt idx="6">
                  <c:v>229.0</c:v>
                </c:pt>
                <c:pt idx="7">
                  <c:v>151.0</c:v>
                </c:pt>
                <c:pt idx="8">
                  <c:v>116.0</c:v>
                </c:pt>
                <c:pt idx="9">
                  <c:v>146.0</c:v>
                </c:pt>
                <c:pt idx="10">
                  <c:v>122.0</c:v>
                </c:pt>
                <c:pt idx="11">
                  <c:v>118.0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Partner CVR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</c:marker>
          <c:cat>
            <c:strRef>
              <c:f>Sheet1!$A$2:$A$13</c:f>
              <c:strCache>
                <c:ptCount val="12"/>
                <c:pt idx="0">
                  <c:v>Sep 25</c:v>
                </c:pt>
                <c:pt idx="1">
                  <c:v>Oct 25</c:v>
                </c:pt>
                <c:pt idx="2">
                  <c:v>Nov 25</c:v>
                </c:pt>
                <c:pt idx="3">
                  <c:v>Dec 25</c:v>
                </c:pt>
                <c:pt idx="4">
                  <c:v>Jan 26</c:v>
                </c:pt>
                <c:pt idx="5">
                  <c:v>Feb 26</c:v>
                </c:pt>
                <c:pt idx="6">
                  <c:v>Mar 26</c:v>
                </c:pt>
                <c:pt idx="7">
                  <c:v>Apr 26</c:v>
                </c:pt>
                <c:pt idx="8">
                  <c:v>May 26</c:v>
                </c:pt>
                <c:pt idx="9">
                  <c:v>Jun 26</c:v>
                </c:pt>
                <c:pt idx="10">
                  <c:v>Jul 26</c:v>
                </c:pt>
                <c:pt idx="11">
                  <c:v>Aug 26</c:v>
                </c:pt>
              </c:strCache>
            </c:strRef>
          </c:cat>
          <c:val>
            <c:numRef>
              <c:f>Sheet1!$C$2:$C$13</c:f>
              <c:numCache>
                <c:formatCode>0.0%</c:formatCode>
                <c:ptCount val="12"/>
                <c:pt idx="4">
                  <c:v>0.01595744680851064</c:v>
                </c:pt>
                <c:pt idx="5">
                  <c:v>0.0158102766798419</c:v>
                </c:pt>
                <c:pt idx="6">
                  <c:v>0.0</c:v>
                </c:pt>
                <c:pt idx="7">
                  <c:v>0.02649006622516556</c:v>
                </c:pt>
                <c:pt idx="8">
                  <c:v>0.0</c:v>
                </c:pt>
                <c:pt idx="9">
                  <c:v>0.0</c:v>
                </c:pt>
                <c:pt idx="10">
                  <c:v>0.00819672131147541</c:v>
                </c:pt>
                <c:pt idx="11">
                  <c:v>0.0423728813559322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title>
          <c:tx>
            <c:rich>
              <a:bodyPr/>
              <a:lstStyle/>
              <a:p>
                <a:r>
                  <a:t>Partner Sessions</a:t>
                </a:r>
              </a:p>
            </c:rich>
          </c:tx>
          <c:layout/>
          <c:overlay val="0"/>
        </c:title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title>
          <c:tx>
            <c:rich>
              <a:bodyPr/>
              <a:lstStyle/>
              <a:p>
                <a:r>
                  <a:t>Partner CVR</a:t>
                </a:r>
              </a:p>
            </c:rich>
          </c:tx>
          <c:layout/>
          <c:overlay val="0"/>
        </c:title>
        <c:numFmt formatCode="0%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11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0.9888982390525167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target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855677107682717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0.12087912087912088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571428571428571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0.10989010989010989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428571428571428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"HEALTHY", "Action Reason": "", "Supporting Rule Matches": [], "Primary Action KPI": "None", "Likely Operational Driver": "No supported primary issue",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CC3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07969"/>
            <a:ext cx="2331720" cy="7648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85632" y="256032"/>
            <a:ext cx="22860" cy="84124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rtn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479" y="274320"/>
            <a:ext cx="2509024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21488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000" b="1">
                <a:solidFill>
                  <a:srgbClr val="232323"/>
                </a:solidFill>
                <a:latin typeface="Montserrat"/>
              </a:defRPr>
            </a:pPr>
            <a:r>
              <a:t>Partner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71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September 2025 –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2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Sub-Business Unit: JEWELRY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28232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V9_Beta2</a:t>
            </a:r>
          </a:p>
        </p:txBody>
      </p:sp>
      <p:sp>
        <p:nvSpPr>
          <p:cNvPr id="9" name="Presentation Partner Name"/>
          <p:cNvSpPr txBox="1"/>
          <p:nvPr/>
        </p:nvSpPr>
        <p:spPr>
          <a:xfrm>
            <a:off x="749808" y="4114800"/>
            <a:ext cx="10515600" cy="1508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defRPr sz="2400" b="1">
                <a:solidFill>
                  <a:srgbClr val="232323"/>
                </a:solidFill>
                <a:latin typeface="Montserrat"/>
              </a:defRPr>
            </a:pPr>
            <a:r>
              <a:t>PetFood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JEWELRY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€3,816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19.7%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79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26.9%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€48.31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9.8%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2.2%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0.6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D24646"/>
                </a:solidFill>
                <a:latin typeface="Montserrat"/>
              </a:defRPr>
            </a:pPr>
            <a:r>
              <a:t>-19.7%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2057400" cy="146304"/>
          </a:xfrm>
          <a:prstGeom prst="round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D24646"/>
                </a:solidFill>
                <a:latin typeface="Montserrat"/>
              </a:defRPr>
            </a:pPr>
            <a:r>
              <a:t>-26.9%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2057400" cy="146304"/>
          </a:xfrm>
          <a:prstGeom prst="round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+9.8%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1345682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decreased 19.7%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Higher basket size partly offset lower order volume.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declined by 0.6 pp to 2.2%.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JEWELRY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JEWELRY GMV changed +332.0%, while orders changed +182.1%.</a:t>
            </a:r>
          </a:p>
        </p:txBody>
      </p:sp>
      <p:pic>
        <p:nvPicPr>
          <p:cNvPr id="8" name="Picture 7" descr="sbu_jewel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Partner vs JEWELRY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Comparable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JEWELRY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€44.10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€48.31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8.7% worse than JEWELRY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4.2%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2.0 pp better than JEWELRY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98.9%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59.8%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39.1 pp better than JEWELRY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12.1%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12.1 pp better than JEWELRY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11.0%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11.0 pp better than JEWELRY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Growth vs JEWELRY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JEWELRY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+759.7%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-19.7%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01168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+779.4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+400.0%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-26.9%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78892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+426.9 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+71.9%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+9.8%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56616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+62.1 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Partner Share of JEWELRY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JEWELRY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JEWELRY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5.8%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5.2 pp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6949440" cy="4206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Partner gained 5.24 pp of JEWELRY GMV share vs previous month.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JEWELRY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98.9%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1.0 pp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3.9 pp better than 95%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12.1 pp better than JEWELRY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11.0 pp better than JEWELRY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97296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Uptime is evaluated against a 95% operating target. Lower is better for PNA and Cancels. Green indicates improvement; red indicates deterioration. Uptime coverage: 1/1 operating store. Missing current store records: 0.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8580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15468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98.9%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438912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85800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12.1%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809244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056132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11.0%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96596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9397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39112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70 Vazha Pshavela Ave, Tbilisi 0186 0101 Tbilisi T'bilisi Georgia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039112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€220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39112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Top Performer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039112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Healthy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18" name="Picture 17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69680" y="376732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00A082"/>
                </a:solidFill>
                <a:latin typeface="Montserrat"/>
              </a:defRPr>
            </a:pPr>
            <a:r>
              <a:t>100.0%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4553712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Top 1 store generated 100.0% of total partner GMV in August 2026.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€220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49011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148840"/>
            <a:ext cx="7086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232323"/>
                </a:solidFill>
                <a:latin typeface="Montserrat"/>
              </a:defRPr>
            </a:pPr>
            <a:r>
              <a:t>No stores classified ACTION</a:t>
            </a:r>
            <a:br/>
            <a:r>
              <a:t>under the current V2.1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657600"/>
            <a:ext cx="7086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6E6E6E"/>
                </a:solidFill>
                <a:latin typeface="Montserrat"/>
              </a:defRPr>
            </a:pPr>
            <a:r>
              <a:t>MONITOR, HEALTHY and UNCLASSIFIED remain separate.</a:t>
            </a:r>
            <a:br/>
            <a:r>
              <a:t>Review operational/data observations and Appendix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06256" y="1865376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06256" y="223113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23113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06256" y="249631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62288" y="249631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6256" y="2761488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2761488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Agree owners and dates for the selected V2.1 ACTION stores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182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Store / Primary KPI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371600"/>
            <a:ext cx="5925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Recommended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59" y="1371600"/>
            <a:ext cx="1444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Owner / deadline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No items in this list. See the separate review and diagnostic sections.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2999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Store /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371600"/>
            <a:ext cx="36393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371600"/>
            <a:ext cx="39136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No items in this list. See the separate review and diagnostic sections.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Business Review · V9_Beta2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00A082"/>
                </a:solidFill>
                <a:latin typeface="Montserrat"/>
              </a:defRPr>
            </a:pPr>
            <a:r>
              <a:t>Let’s turn the agreed actions into measurable progress.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1 store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70 Vazha Pshavela Ave, Tbilisi 0186 0101 Tbilisi T'bilisi Georgia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€220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+2.0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49866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12.1%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-12.1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5810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11.0%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-11.0 pp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37883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98.9%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Target · +3.9 pp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305288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27783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PRIORITY &lt; 5.0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 assessed exposure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44% · n=118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867912" y="4453127"/>
            <a:ext cx="82937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14% · n=5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3867912" y="4718303"/>
            <a:ext cx="26909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33% · n=5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3867912" y="4983479"/>
            <a:ext cx="627888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E6E6E"/>
                </a:solidFill>
                <a:latin typeface="Montserrat"/>
              </a:defRPr>
            </a:pPr>
            <a:r>
              <a:t>Assessment evidence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Current sessions or order activity · Critical observations: None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No supported primary issue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Continue routine monitoring of performance and evidence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HEALTHY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Partner vs JEWELRY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 · Comparable performance metrics · Each metric uses its own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(€)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423160" y="1426464"/>
          <a:ext cx="5257800" cy="813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52933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€44.10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36242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€48.31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6362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8.7% worse than JEWELRY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423160" y="2286000"/>
          <a:ext cx="5257800" cy="813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26679" y="238887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4.2%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957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4231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2.0 pp better than JEWELRY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 (%)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423160" y="3145536"/>
          <a:ext cx="5257800" cy="813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26679" y="324840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98.9%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65531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59.8%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28269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39.1 pp better than JEWELRY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 (%)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423160" y="4005072"/>
          <a:ext cx="5257800" cy="81381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726679" y="41079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514849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12.1%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422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12.1 pp better than JEWELRY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 (%)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423160" y="4864608"/>
          <a:ext cx="5257800" cy="81381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726679" y="49674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37438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11.0%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00176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11.0 pp better than JEWELRY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Growth vs JEWELRY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 · Shared percentage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514600" y="1554480"/>
          <a:ext cx="5120640" cy="11247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735073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+759.7%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974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-19.7%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196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+779.4 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514600" y="2926080"/>
          <a:ext cx="5120640" cy="1124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80960" y="31066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+400.0%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690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-26.9%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1912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+426.9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514600" y="4297680"/>
          <a:ext cx="5120640" cy="11247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960" y="44782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+71.9%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406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+9.8%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5628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+62.1 pp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Partner Performance &amp; Conversion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 · Partner sessions and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&amp; Orders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73352"/>
          <a:ext cx="10789920" cy="208483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877056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Partner Sessions × Partner CVR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4178808"/>
          <a:ext cx="10789920" cy="2084831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6419088"/>
            <a:ext cx="106527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Missing months / measurements are blank. Lines break at missing values.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PetFood — Partner Business Review</dc:title>
  <dc:subject>PetFood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
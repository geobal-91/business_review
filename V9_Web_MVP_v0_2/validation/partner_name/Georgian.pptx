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78" r:id="rId30"/>
    <p:sldId id="279" r:id="rId31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24.xml"/><Relationship Id="rId21" Type="http://schemas.openxmlformats.org/officeDocument/2006/relationships/slide" Target="slides/slide23.xml"/><Relationship Id="rId22" Type="http://schemas.openxmlformats.org/officeDocument/2006/relationships/slide" Target="slides/slide22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44.099219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48.30589472911392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79766314784810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0.0423728813559322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0.02229625832906202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55084745762711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0.5977028270121854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7.597084402171946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-0.1967525442608361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-0.2685185185185185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0.7194168804343892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0.09811044582062922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37.340784</c:v>
                </c:pt>
                <c:pt idx="3">
                  <c:v>564.259904</c:v>
                </c:pt>
                <c:pt idx="4">
                  <c:v>670.041195</c:v>
                </c:pt>
                <c:pt idx="5">
                  <c:v>211.47173</c:v>
                </c:pt>
                <c:pt idx="6">
                  <c:v>0.0</c:v>
                </c:pt>
                <c:pt idx="7">
                  <c:v>174.22885</c:v>
                </c:pt>
                <c:pt idx="8">
                  <c:v>0.0</c:v>
                </c:pt>
                <c:pt idx="9">
                  <c:v>0.0</c:v>
                </c:pt>
                <c:pt idx="10">
                  <c:v>25.647776</c:v>
                </c:pt>
                <c:pt idx="11">
                  <c:v>220.496095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2.0</c:v>
                </c:pt>
                <c:pt idx="3">
                  <c:v>7.0</c:v>
                </c:pt>
                <c:pt idx="4">
                  <c:v>4.0</c:v>
                </c:pt>
                <c:pt idx="5">
                  <c:v>4.0</c:v>
                </c:pt>
                <c:pt idx="6">
                  <c:v>0.0</c:v>
                </c:pt>
                <c:pt idx="7">
                  <c:v>3.0</c:v>
                </c:pt>
                <c:pt idx="8">
                  <c:v>0.0</c:v>
                </c:pt>
                <c:pt idx="9">
                  <c:v>0.0</c:v>
                </c:pt>
                <c:pt idx="10">
                  <c:v>1.0</c:v>
                </c:pt>
                <c:pt idx="11">
                  <c:v>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t>GMV (€)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title>
          <c:tx>
            <c:rich>
              <a:bodyPr/>
              <a:lstStyle/>
              <a:p>
                <a:r>
                  <a:t>Orders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188.0</c:v>
                </c:pt>
                <c:pt idx="5">
                  <c:v>253.0</c:v>
                </c:pt>
                <c:pt idx="6">
                  <c:v>229.0</c:v>
                </c:pt>
                <c:pt idx="7">
                  <c:v>151.0</c:v>
                </c:pt>
                <c:pt idx="8">
                  <c:v>116.0</c:v>
                </c:pt>
                <c:pt idx="9">
                  <c:v>146.0</c:v>
                </c:pt>
                <c:pt idx="10">
                  <c:v>122.0</c:v>
                </c:pt>
                <c:pt idx="11">
                  <c:v>118.0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0.0%</c:formatCode>
                <c:ptCount val="12"/>
                <c:pt idx="4">
                  <c:v>0.01595744680851064</c:v>
                </c:pt>
                <c:pt idx="5">
                  <c:v>0.0158102766798419</c:v>
                </c:pt>
                <c:pt idx="6">
                  <c:v>0.0</c:v>
                </c:pt>
                <c:pt idx="7">
                  <c:v>0.02649006622516556</c:v>
                </c:pt>
                <c:pt idx="8">
                  <c:v>0.0</c:v>
                </c:pt>
                <c:pt idx="9">
                  <c:v>0.0</c:v>
                </c:pt>
                <c:pt idx="10">
                  <c:v>0.00819672131147541</c:v>
                </c:pt>
                <c:pt idx="11">
                  <c:v>0.0423728813559322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t>Partner Sessions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title>
          <c:tx>
            <c:rich>
              <a:bodyPr/>
              <a:lstStyle/>
              <a:p>
                <a:r>
                  <a:t>Partner CVR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Partner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September 2025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JEWELRY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  <p:sp>
        <p:nvSpPr>
          <p:cNvPr id="9" name="Presentation Partner Name"/>
          <p:cNvSpPr txBox="1"/>
          <p:nvPr/>
        </p:nvSpPr>
        <p:spPr>
          <a:xfrm>
            <a:off x="749808" y="4114800"/>
            <a:ext cx="10515600" cy="1508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2400" b="1">
                <a:solidFill>
                  <a:srgbClr val="232323"/>
                </a:solidFill>
                <a:latin typeface="Montserrat"/>
              </a:defRPr>
            </a:pPr>
            <a:r>
              <a:t>პეტფუდი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€3,816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19.7%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26.9%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9.8%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0.6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13456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19.7%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Higher basket size partly offset lower order volume.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0.6 pp to 2.2%.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JEWELRY GMV changed +332.0%, while orders changed +182.1%.</a:t>
            </a:r>
          </a:p>
        </p:txBody>
      </p:sp>
      <p:pic>
        <p:nvPicPr>
          <p:cNvPr id="8" name="Picture 7" descr="sbu_jewel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+779.4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+426.9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+62.1 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Share of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JEWELRY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JEWELRY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5.2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gained 5.24 pp of JEWELRY GMV share vs previous month.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JEWELRY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1.0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3.9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+2.0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9866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12.1%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-12.1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11.0%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-11.0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+3.9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7783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44% · n=118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82937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14% · n=5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26909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33% · n=5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62788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+779.4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+426.9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+62.1 pp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73352"/>
          <a:ext cx="10789920" cy="20848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78808"/>
          <a:ext cx="10789920" cy="20848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პეტფუდი — Partner Business Review</dc:title>
  <dc:subject>პეტფუდი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
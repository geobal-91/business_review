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2" r:id="rId22"/>
    <p:sldId id="260" r:id="rId11"/>
    <p:sldId id="283" r:id="rId21"/>
    <p:sldId id="261" r:id="rId12"/>
    <p:sldId id="284" r:id="rId20"/>
    <p:sldId id="266" r:id="rId17"/>
    <p:sldId id="268" r:id="rId19"/>
    <p:sldId id="279" r:id="rId31"/>
    <p:sldId id="285" r:id="rId18"/>
    <p:sldId id="286" r:id="rId16"/>
    <p:sldId id="287" r:id="rId15"/>
    <p:sldId id="274" r:id="rId25"/>
    <p:sldId id="288" r:id="rId14"/>
    <p:sldId id="289" r:id="rId13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26.xml"/><Relationship Id="rId14" Type="http://schemas.openxmlformats.org/officeDocument/2006/relationships/slide" Target="slides/slide25.xml"/><Relationship Id="rId15" Type="http://schemas.openxmlformats.org/officeDocument/2006/relationships/slide" Target="slides/slide24.xml"/><Relationship Id="rId16" Type="http://schemas.openxmlformats.org/officeDocument/2006/relationships/slide" Target="slides/slide23.xml"/><Relationship Id="rId17" Type="http://schemas.openxmlformats.org/officeDocument/2006/relationships/slide" Target="slides/slide10.xml"/><Relationship Id="rId18" Type="http://schemas.openxmlformats.org/officeDocument/2006/relationships/slide" Target="slides/slide22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8000.0</c:v>
                </c:pt>
                <c:pt idx="1">
                  <c:v>8000.0</c:v>
                </c:pt>
                <c:pt idx="2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200.0</c:v>
                </c:pt>
                <c:pt idx="1">
                  <c:v>200.0</c:v>
                </c:pt>
                <c:pt idx="2">
                  <c:v>200.0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8000.0</c:v>
                </c:pt>
                <c:pt idx="1">
                  <c:v>8000.0</c:v>
                </c:pt>
                <c:pt idx="2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-1.8 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-1.8 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0.3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0.28 pp of PETS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23.9 pp below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+0.0%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Basket-size movement was larger than the change in order volume.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23.9 pp below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23.0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2/2 operating stores.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24" name="Picture 23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2 stores generated 100.0% of total partner GMV in August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#1 · 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#2 · </a:t>
            </a:r>
            <a:r>
              <a:rPr>
                <a:latin typeface="Noto Sans Georgian"/>
              </a:rPr>
              <a:t>ცხოველების</a:t>
            </a:r>
            <a:r>
              <a:t> </a:t>
            </a:r>
            <a:r>
              <a:rPr>
                <a:latin typeface="Noto Sans Georgian"/>
              </a:rPr>
              <a:t>კვებისა</a:t>
            </a:r>
            <a:r>
              <a:t> </a:t>
            </a:r>
            <a:r>
              <a:rPr>
                <a:latin typeface="Noto Sans Georgian"/>
              </a:rPr>
              <a:t>და</a:t>
            </a:r>
            <a:r>
              <a:t> </a:t>
            </a:r>
            <a:r>
              <a:rPr>
                <a:latin typeface="Noto Sans Georgian"/>
              </a:rPr>
              <a:t>მოვლის</a:t>
            </a:r>
            <a:r>
              <a:t> </a:t>
            </a:r>
            <a:r>
              <a:rPr>
                <a:latin typeface="Noto Sans Georgian"/>
              </a:rPr>
              <a:t>ცენტრი</a:t>
            </a:r>
            <a:r>
              <a:t> · München / São Paulo / Αθήνα — Rustaveli Avenue 123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2 selected of 2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6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10698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996695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0 store"/>
          <p:cNvSpPr txBox="1"/>
          <p:nvPr/>
        </p:nvSpPr>
        <p:spPr>
          <a:xfrm>
            <a:off x="813816" y="251460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view 0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1" name="Review 0 evidence"/>
          <p:cNvSpPr txBox="1"/>
          <p:nvPr/>
        </p:nvSpPr>
        <p:spPr>
          <a:xfrm>
            <a:off x="5577840" y="2514600"/>
            <a:ext cx="235915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2" name="Review 0 action"/>
          <p:cNvSpPr txBox="1"/>
          <p:nvPr/>
        </p:nvSpPr>
        <p:spPr>
          <a:xfrm>
            <a:off x="8147304" y="2514600"/>
            <a:ext cx="321868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520439"/>
            <a:ext cx="10991088" cy="10698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557015"/>
            <a:ext cx="41148" cy="996695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ew 1 store"/>
          <p:cNvSpPr txBox="1"/>
          <p:nvPr/>
        </p:nvSpPr>
        <p:spPr>
          <a:xfrm>
            <a:off x="813816" y="3666744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4" y="3675887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view 1 type"/>
          <p:cNvSpPr txBox="1"/>
          <p:nvPr/>
        </p:nvSpPr>
        <p:spPr>
          <a:xfrm>
            <a:off x="4087368" y="373989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8" name="Review 1 evidence"/>
          <p:cNvSpPr txBox="1"/>
          <p:nvPr/>
        </p:nvSpPr>
        <p:spPr>
          <a:xfrm>
            <a:off x="5577840" y="3666744"/>
            <a:ext cx="235915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9" name="Review 1 action"/>
          <p:cNvSpPr txBox="1"/>
          <p:nvPr/>
        </p:nvSpPr>
        <p:spPr>
          <a:xfrm>
            <a:off x="8147304" y="3666744"/>
            <a:ext cx="321868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672583"/>
            <a:ext cx="10991088" cy="10698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4709159"/>
            <a:ext cx="41148" cy="996695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view 2 store"/>
          <p:cNvSpPr txBox="1"/>
          <p:nvPr/>
        </p:nvSpPr>
        <p:spPr>
          <a:xfrm>
            <a:off x="813816" y="4818888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86784" y="4828031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2 type"/>
          <p:cNvSpPr txBox="1"/>
          <p:nvPr/>
        </p:nvSpPr>
        <p:spPr>
          <a:xfrm>
            <a:off x="4087368" y="489204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5" name="Review 2 evidence"/>
          <p:cNvSpPr txBox="1"/>
          <p:nvPr/>
        </p:nvSpPr>
        <p:spPr>
          <a:xfrm>
            <a:off x="5577840" y="4818888"/>
            <a:ext cx="235915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6" name="Review 2 action"/>
          <p:cNvSpPr txBox="1"/>
          <p:nvPr/>
        </p:nvSpPr>
        <p:spPr>
          <a:xfrm>
            <a:off x="8147304" y="4818888"/>
            <a:ext cx="321868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3 store"/>
          <p:cNvSpPr txBox="1"/>
          <p:nvPr/>
        </p:nvSpPr>
        <p:spPr>
          <a:xfrm>
            <a:off x="813816" y="2514600"/>
            <a:ext cx="30175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view 3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1" name="Review 3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2" name="Review 3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ew 4 store"/>
          <p:cNvSpPr txBox="1"/>
          <p:nvPr/>
        </p:nvSpPr>
        <p:spPr>
          <a:xfrm>
            <a:off x="813816" y="3493008"/>
            <a:ext cx="30175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4" y="3502152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view 4 type"/>
          <p:cNvSpPr txBox="1"/>
          <p:nvPr/>
        </p:nvSpPr>
        <p:spPr>
          <a:xfrm>
            <a:off x="4087368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8" name="Review 4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9" name="Review 4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view 5 store"/>
          <p:cNvSpPr txBox="1"/>
          <p:nvPr/>
        </p:nvSpPr>
        <p:spPr>
          <a:xfrm>
            <a:off x="813816" y="4471416"/>
            <a:ext cx="30175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86784" y="4480560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5 type"/>
          <p:cNvSpPr txBox="1"/>
          <p:nvPr/>
        </p:nvSpPr>
        <p:spPr>
          <a:xfrm>
            <a:off x="4087368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5" name="Review 5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6" name="Review 5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n action 1 rank"/>
          <p:cNvSpPr txBox="1"/>
          <p:nvPr/>
        </p:nvSpPr>
        <p:spPr>
          <a:xfrm>
            <a:off x="77724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7" name="Plan action 1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8" name="Plan action 1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9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0" name="Plan action 1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1" name="Plan action 1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2" name="Plan action 1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lan action 1 agreed label"/>
          <p:cNvSpPr txBox="1"/>
          <p:nvPr/>
        </p:nvSpPr>
        <p:spPr>
          <a:xfrm>
            <a:off x="85039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5" name="Plan action 1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7" name="Plan action 1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9" name="Plan action 1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1" name="Plan action 1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3" name="Plan action 1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lan action 2 rank"/>
          <p:cNvSpPr txBox="1"/>
          <p:nvPr/>
        </p:nvSpPr>
        <p:spPr>
          <a:xfrm>
            <a:off x="640080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2</a:t>
            </a:r>
          </a:p>
        </p:txBody>
      </p:sp>
      <p:sp>
        <p:nvSpPr>
          <p:cNvPr id="26" name="Plan action 2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27" name="Plan action 2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28" name="Plan action 2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9" name="Plan action 2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0" name="Plan action 2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1" name="Plan action 2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lan action 2 agreed label"/>
          <p:cNvSpPr txBox="1"/>
          <p:nvPr/>
        </p:nvSpPr>
        <p:spPr>
          <a:xfrm>
            <a:off x="647395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4" name="Plan action 2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Plan action 2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6" name="Plan action 2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Plan action 2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8" name="Plan action 2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2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0" name="Plan action 2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2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2" name="Plan action 2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5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0" name="Additional action 1Agreed Action label"/>
          <p:cNvSpPr txBox="1"/>
          <p:nvPr/>
        </p:nvSpPr>
        <p:spPr>
          <a:xfrm>
            <a:off x="77724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3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4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5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6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7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8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9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0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3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6" name="Additional action 2Agreed Action label"/>
          <p:cNvSpPr txBox="1"/>
          <p:nvPr/>
        </p:nvSpPr>
        <p:spPr>
          <a:xfrm>
            <a:off x="640080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9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0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2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4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6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39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International · თბილისი / München Business Review</dc:title>
  <dc:subject>PetFood International · თბილისი / München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
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86" r:id="rId1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4" Type="http://schemas.openxmlformats.org/officeDocument/2006/relationships/slide" Target="slides/slide23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343263821808057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18693206476602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#,##0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4000.0</c:v>
                </c:pt>
                <c:pt idx="1">
                  <c:v>4000.0</c:v>
                </c:pt>
                <c:pt idx="2">
                  <c:v>4000.0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Sheet1!$A$2:$A$4</c:f>
              <c:strCache>
                <c:ptCount val="3"/>
                <c:pt idx="0">
                  <c:v>Jun 26</c:v>
                </c:pt>
                <c:pt idx="1">
                  <c:v>Jul 26</c:v>
                </c:pt>
                <c:pt idx="2">
                  <c:v>Aug 26</c:v>
                </c:pt>
              </c:strCache>
            </c:strRef>
          </c:cat>
          <c:val>
            <c:numRef>
              <c:f>Sheet1!$C$2:$C$4</c:f>
              <c:numCache>
                <c:formatCode>0.0%</c:formatCode>
                <c:ptCount val="3"/>
                <c:pt idx="0">
                  <c:v>0.025</c:v>
                </c:pt>
                <c:pt idx="1">
                  <c:v>0.025</c:v>
                </c:pt>
                <c:pt idx="2">
                  <c:v>0.025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349999999999999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850000000000001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2860000000000000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"ACTION", "Action Reason": "BASE_PRIORITY", "Supporting Rule Matches": [], "Primary Action KPI": "PNA", "Likely Operational Driver": "Availability / stock synchronization; possible contributing factor",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139.4%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23.9 pp worse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19.3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-5.3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-3.5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-1.8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-5.3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-3.5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-1.8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0.1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lost 0.14 pp of PETS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23.9 pp below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+0.0%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Basket-size movement was larger than the change in order volume.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23.9 pp below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23.0 pp worse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38.9 pp worse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D24646"/>
                </a:solidFill>
                <a:latin typeface="Montserrat"/>
              </a:defRPr>
            </a:pPr>
            <a:r>
              <a:t>19.5 pp worse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Conversion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Operational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€4,000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თბილისი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€4,000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-23.9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9585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7833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45.0%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+38.9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45736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8391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22.0%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+19.5 pp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7525512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64217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72.0%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Target · -23.0 pp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305288" y="2345436"/>
            <a:ext cx="76727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31765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90.74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100.00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Montserrat"/>
              </a:defRPr>
            </a:pPr>
            <a:r>
              <a:t>85.30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Montserrat"/>
              </a:defRPr>
            </a:pPr>
            <a:r>
              <a:t>PRIORITY ≥ 5.0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96% · n=4,000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3867912" y="4453127"/>
            <a:ext cx="1815579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97% · n=1,000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3867912" y="4718303"/>
            <a:ext cx="1828800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99% · n=1,000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867912" y="4983479"/>
            <a:ext cx="1865013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pic>
        <p:nvPicPr>
          <p:cNvPr id="80" name="Picture 79" descr="diagnostic_1cfe316ef6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648" y="4379976"/>
            <a:ext cx="5148072" cy="786384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E69132"/>
                </a:solidFill>
                <a:latin typeface="Montserrat"/>
              </a:defRPr>
            </a:pPr>
            <a:r>
              <a:t>Critical Review — raw observations; separate from business materiality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CVR 2.5% · n=4,000 | PNA 45.0% · n=1,000 | Cancels 22.0% · n=1,000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1520" y="6464808"/>
            <a:ext cx="106984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87" name="Rectangle 86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ACTION · Base Priority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pportunity store: PRIVATE-ID-0"/>
          <p:cNvSpPr txBox="1"/>
          <p:nvPr/>
        </p:nvSpPr>
        <p:spPr>
          <a:xfrm>
            <a:off x="841248" y="1527048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50" b="1">
                <a:solidFill>
                  <a:srgbClr val="00A082"/>
                </a:solidFill>
                <a:latin typeface="Montserrat"/>
              </a:defRPr>
            </a:pPr>
            <a:r>
              <a:t>#1 · 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8" name="V2.1 action field 0: PRIVATE-ID-0"/>
          <p:cNvSpPr txBox="1"/>
          <p:nvPr/>
        </p:nvSpPr>
        <p:spPr>
          <a:xfrm>
            <a:off x="841248" y="2249424"/>
            <a:ext cx="73152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Priority 85.30 · Primary Action KPI: PNA</a:t>
            </a:r>
          </a:p>
        </p:txBody>
      </p:sp>
      <p:sp>
        <p:nvSpPr>
          <p:cNvPr id="9" name="V2.1 action field 1: PRIVATE-ID-0"/>
          <p:cNvSpPr txBox="1"/>
          <p:nvPr/>
        </p:nvSpPr>
        <p:spPr>
          <a:xfrm>
            <a:off x="841248" y="2761488"/>
            <a:ext cx="73152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ACTION · Base Priority</a:t>
            </a:r>
          </a:p>
        </p:txBody>
      </p:sp>
      <p:sp>
        <p:nvSpPr>
          <p:cNvPr id="10" name="V2.1 action field 2: PRIVATE-ID-0"/>
          <p:cNvSpPr txBox="1"/>
          <p:nvPr/>
        </p:nvSpPr>
        <p:spPr>
          <a:xfrm>
            <a:off x="841248" y="3163824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6E6E6E"/>
                </a:solidFill>
                <a:latin typeface="Montserrat"/>
              </a:defRPr>
            </a:pPr>
            <a:r>
              <a:t>PNA 45.0% vs SBU 6.1%</a:t>
            </a:r>
          </a:p>
        </p:txBody>
      </p:sp>
      <p:sp>
        <p:nvSpPr>
          <p:cNvPr id="11" name="V2.1 action field 3: PRIVATE-ID-0"/>
          <p:cNvSpPr txBox="1"/>
          <p:nvPr/>
        </p:nvSpPr>
        <p:spPr>
          <a:xfrm>
            <a:off x="841248" y="3685032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Likely operational driver: Availability / stock synchronization; possible contributing factor</a:t>
            </a:r>
          </a:p>
        </p:txBody>
      </p:sp>
      <p:sp>
        <p:nvSpPr>
          <p:cNvPr id="12" name="V2.1 action field 4: PRIVATE-ID-0"/>
          <p:cNvSpPr txBox="1"/>
          <p:nvPr/>
        </p:nvSpPr>
        <p:spPr>
          <a:xfrm>
            <a:off x="841248" y="4471416"/>
            <a:ext cx="73152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V2.1 action field 5: PRIVATE-ID-0"/>
          <p:cNvSpPr txBox="1"/>
          <p:nvPr/>
        </p:nvSpPr>
        <p:spPr>
          <a:xfrm>
            <a:off x="841248" y="5349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Intended effect: Reduce PNA-affected demand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8824" y="1627632"/>
            <a:ext cx="253288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OVERALL ACTION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1965960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1 selected of 1 ACTION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233172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78824" y="256946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78824" y="292607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Requiring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8824" y="316382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1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3520439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Priority 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758183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Highest 85.30 · Lowest 85.30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78824" y="4114800"/>
            <a:ext cx="2532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/ Review Items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4352544"/>
            <a:ext cx="2532888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3 items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4745736"/>
            <a:ext cx="253288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Review items are separate from Priority.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06256" y="5166360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06256" y="553212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62288" y="5532120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06256" y="579729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62288" y="579729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06256" y="606247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2288" y="606247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7" name="Review summary label"/>
          <p:cNvSpPr txBox="1"/>
          <p:nvPr/>
        </p:nvSpPr>
        <p:spPr>
          <a:xfrm>
            <a:off x="1399032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8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9" name="Review summary label"/>
          <p:cNvSpPr txBox="1"/>
          <p:nvPr/>
        </p:nvSpPr>
        <p:spPr>
          <a:xfrm>
            <a:off x="5065776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0" name="Review summary critical observations"/>
          <p:cNvSpPr txBox="1"/>
          <p:nvPr/>
        </p:nvSpPr>
        <p:spPr>
          <a:xfrm>
            <a:off x="8129015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1" name="Review summary label"/>
          <p:cNvSpPr txBox="1"/>
          <p:nvPr/>
        </p:nvSpPr>
        <p:spPr>
          <a:xfrm>
            <a:off x="8732519" y="1581912"/>
            <a:ext cx="27432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2" name="Review column STORE / LOCATION"/>
          <p:cNvSpPr txBox="1"/>
          <p:nvPr/>
        </p:nvSpPr>
        <p:spPr>
          <a:xfrm>
            <a:off x="813816" y="2039112"/>
            <a:ext cx="30175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STORE / LOCATION</a:t>
            </a:r>
          </a:p>
        </p:txBody>
      </p:sp>
      <p:sp>
        <p:nvSpPr>
          <p:cNvPr id="13" name="Review column TYPE"/>
          <p:cNvSpPr txBox="1"/>
          <p:nvPr/>
        </p:nvSpPr>
        <p:spPr>
          <a:xfrm>
            <a:off x="4059936" y="2039112"/>
            <a:ext cx="132588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TYPE</a:t>
            </a:r>
          </a:p>
        </p:txBody>
      </p:sp>
      <p:sp>
        <p:nvSpPr>
          <p:cNvPr id="14" name="Review column EVIDENCE"/>
          <p:cNvSpPr txBox="1"/>
          <p:nvPr/>
        </p:nvSpPr>
        <p:spPr>
          <a:xfrm>
            <a:off x="5577840" y="2039112"/>
            <a:ext cx="239572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15" name="Review column REVIEW ACTION"/>
          <p:cNvSpPr txBox="1"/>
          <p:nvPr/>
        </p:nvSpPr>
        <p:spPr>
          <a:xfrm>
            <a:off x="8147304" y="2039112"/>
            <a:ext cx="32004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50" b="1">
                <a:solidFill>
                  <a:srgbClr val="6E6E6E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368296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" y="2404872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view 0 store"/>
          <p:cNvSpPr txBox="1"/>
          <p:nvPr/>
        </p:nvSpPr>
        <p:spPr>
          <a:xfrm>
            <a:off x="813816" y="2514600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86784" y="2523744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view 0 type"/>
          <p:cNvSpPr txBox="1"/>
          <p:nvPr/>
        </p:nvSpPr>
        <p:spPr>
          <a:xfrm>
            <a:off x="4087368" y="2587752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1" name="Review 0 evidence"/>
          <p:cNvSpPr txBox="1"/>
          <p:nvPr/>
        </p:nvSpPr>
        <p:spPr>
          <a:xfrm>
            <a:off x="5577840" y="2514600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CVR 2.5% vs SBU 26.4%; denominator 4,000</a:t>
            </a:r>
          </a:p>
        </p:txBody>
      </p:sp>
      <p:sp>
        <p:nvSpPr>
          <p:cNvPr id="22" name="Review 0 action"/>
          <p:cNvSpPr txBox="1"/>
          <p:nvPr/>
        </p:nvSpPr>
        <p:spPr>
          <a:xfrm>
            <a:off x="8147304" y="2514600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assortment, pricing and the conversion journey; verify the sample before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355848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3392424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view 1 store"/>
          <p:cNvSpPr txBox="1"/>
          <p:nvPr/>
        </p:nvSpPr>
        <p:spPr>
          <a:xfrm>
            <a:off x="813816" y="3502152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86784" y="3511296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view 1 type"/>
          <p:cNvSpPr txBox="1"/>
          <p:nvPr/>
        </p:nvSpPr>
        <p:spPr>
          <a:xfrm>
            <a:off x="4087368" y="3575304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28" name="Review 1 evidence"/>
          <p:cNvSpPr txBox="1"/>
          <p:nvPr/>
        </p:nvSpPr>
        <p:spPr>
          <a:xfrm>
            <a:off x="5577840" y="3502152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Cancels 22.0% vs SBU 2.5%; denominator 1,000</a:t>
            </a:r>
          </a:p>
        </p:txBody>
      </p:sp>
      <p:sp>
        <p:nvSpPr>
          <p:cNvPr id="29" name="Review 1 action"/>
          <p:cNvSpPr txBox="1"/>
          <p:nvPr/>
        </p:nvSpPr>
        <p:spPr>
          <a:xfrm>
            <a:off x="8147304" y="3502152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partner-cancelled orders and resolve the main failure reasons; verify the sample before escalation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343400"/>
            <a:ext cx="10991088" cy="90525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4379976"/>
            <a:ext cx="41148" cy="832104"/>
          </a:xfrm>
          <a:prstGeom prst="roundRect">
            <a:avLst>
              <a:gd name="adj" fmla="val 8000"/>
            </a:avLst>
          </a:prstGeom>
          <a:solidFill>
            <a:srgbClr val="D246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view 2 store"/>
          <p:cNvSpPr txBox="1"/>
          <p:nvPr/>
        </p:nvSpPr>
        <p:spPr>
          <a:xfrm>
            <a:off x="813816" y="4489704"/>
            <a:ext cx="301752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86784" y="4498848"/>
            <a:ext cx="1380744" cy="438912"/>
          </a:xfrm>
          <a:prstGeom prst="roundRect">
            <a:avLst>
              <a:gd name="adj" fmla="val 8000"/>
            </a:avLst>
          </a:prstGeom>
          <a:solidFill>
            <a:srgbClr val="FC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view 2 type"/>
          <p:cNvSpPr txBox="1"/>
          <p:nvPr/>
        </p:nvSpPr>
        <p:spPr>
          <a:xfrm>
            <a:off x="4087368" y="4562856"/>
            <a:ext cx="116128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D24646"/>
                </a:solidFill>
                <a:latin typeface="Montserrat"/>
              </a:defRPr>
            </a:pPr>
            <a:r>
              <a:t>Critical observation</a:t>
            </a:r>
          </a:p>
        </p:txBody>
      </p:sp>
      <p:sp>
        <p:nvSpPr>
          <p:cNvPr id="35" name="Review 2 evidence"/>
          <p:cNvSpPr txBox="1"/>
          <p:nvPr/>
        </p:nvSpPr>
        <p:spPr>
          <a:xfrm>
            <a:off x="5577840" y="4489704"/>
            <a:ext cx="235915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PNA 45.0% vs SBU 6.1%; denominator 1,000</a:t>
            </a:r>
          </a:p>
        </p:txBody>
      </p:sp>
      <p:sp>
        <p:nvSpPr>
          <p:cNvPr id="36" name="Review 2 action"/>
          <p:cNvSpPr txBox="1"/>
          <p:nvPr/>
        </p:nvSpPr>
        <p:spPr>
          <a:xfrm>
            <a:off x="8147304" y="4489704"/>
            <a:ext cx="321868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Review stock accuracy and availability of affected products; verify the sample before escalation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actions, owners and dates during the business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1099108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lan action 1 rank"/>
          <p:cNvSpPr txBox="1"/>
          <p:nvPr/>
        </p:nvSpPr>
        <p:spPr>
          <a:xfrm>
            <a:off x="777240" y="1618488"/>
            <a:ext cx="87050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PRIORITY ACTION 1</a:t>
            </a:r>
          </a:p>
        </p:txBody>
      </p:sp>
      <p:sp>
        <p:nvSpPr>
          <p:cNvPr id="7" name="Plan action 1 priority"/>
          <p:cNvSpPr txBox="1"/>
          <p:nvPr/>
        </p:nvSpPr>
        <p:spPr>
          <a:xfrm>
            <a:off x="9921240" y="159105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Priority 85.30</a:t>
            </a:r>
          </a:p>
        </p:txBody>
      </p:sp>
      <p:sp>
        <p:nvSpPr>
          <p:cNvPr id="8" name="Plan action 1 store"/>
          <p:cNvSpPr txBox="1"/>
          <p:nvPr/>
        </p:nvSpPr>
        <p:spPr>
          <a:xfrm>
            <a:off x="777240" y="1947672"/>
            <a:ext cx="1062532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ცენტრი, ჭავჭავაძის გამზირი 123</a:t>
            </a:r>
          </a:p>
        </p:txBody>
      </p:sp>
      <p:sp>
        <p:nvSpPr>
          <p:cNvPr id="9" name="Plan action 1 primary label"/>
          <p:cNvSpPr txBox="1"/>
          <p:nvPr/>
        </p:nvSpPr>
        <p:spPr>
          <a:xfrm>
            <a:off x="777240" y="265176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10" name="Plan action 1 primary"/>
          <p:cNvSpPr txBox="1"/>
          <p:nvPr/>
        </p:nvSpPr>
        <p:spPr>
          <a:xfrm>
            <a:off x="2423160" y="2624328"/>
            <a:ext cx="8979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11" name="Plan action 1 recommendation label"/>
          <p:cNvSpPr txBox="1"/>
          <p:nvPr/>
        </p:nvSpPr>
        <p:spPr>
          <a:xfrm>
            <a:off x="777240" y="2990088"/>
            <a:ext cx="1062532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Recommended Action (System)</a:t>
            </a:r>
          </a:p>
        </p:txBody>
      </p:sp>
      <p:sp>
        <p:nvSpPr>
          <p:cNvPr id="12" name="Plan action 1 recommendation"/>
          <p:cNvSpPr txBox="1"/>
          <p:nvPr/>
        </p:nvSpPr>
        <p:spPr>
          <a:xfrm>
            <a:off x="777240" y="3282696"/>
            <a:ext cx="10625328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Review affected products, stock accuracy and availability synchronization; validate the cause of PNA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251960"/>
            <a:ext cx="10716767" cy="603504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lan action 1 agreed label"/>
          <p:cNvSpPr txBox="1"/>
          <p:nvPr/>
        </p:nvSpPr>
        <p:spPr>
          <a:xfrm>
            <a:off x="850392" y="4325112"/>
            <a:ext cx="104790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Agreed Action (Meeting)</a:t>
            </a:r>
          </a:p>
        </p:txBody>
      </p:sp>
      <p:sp>
        <p:nvSpPr>
          <p:cNvPr id="15" name="Plan action 1 agreed"/>
          <p:cNvSpPr txBox="1"/>
          <p:nvPr/>
        </p:nvSpPr>
        <p:spPr>
          <a:xfrm>
            <a:off x="850392" y="4590288"/>
            <a:ext cx="1047902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Plan action 1 Owner label"/>
          <p:cNvSpPr txBox="1"/>
          <p:nvPr/>
        </p:nvSpPr>
        <p:spPr>
          <a:xfrm>
            <a:off x="777240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7" name="Plan action 1 Owner"/>
          <p:cNvSpPr txBox="1"/>
          <p:nvPr/>
        </p:nvSpPr>
        <p:spPr>
          <a:xfrm>
            <a:off x="1472184" y="506577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Plan action 1 Contact label"/>
          <p:cNvSpPr txBox="1"/>
          <p:nvPr/>
        </p:nvSpPr>
        <p:spPr>
          <a:xfrm>
            <a:off x="6272783" y="5065776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9" name="Plan action 1 Contact"/>
          <p:cNvSpPr txBox="1"/>
          <p:nvPr/>
        </p:nvSpPr>
        <p:spPr>
          <a:xfrm>
            <a:off x="6967727" y="5065776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Plan action 1 ETA label"/>
          <p:cNvSpPr txBox="1"/>
          <p:nvPr/>
        </p:nvSpPr>
        <p:spPr>
          <a:xfrm>
            <a:off x="777240" y="5468112"/>
            <a:ext cx="6217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21" name="Plan action 1 ETA"/>
          <p:cNvSpPr txBox="1"/>
          <p:nvPr/>
        </p:nvSpPr>
        <p:spPr>
          <a:xfrm>
            <a:off x="1472184" y="5468112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Plan action 1 Follow-up KPI label"/>
          <p:cNvSpPr txBox="1"/>
          <p:nvPr/>
        </p:nvSpPr>
        <p:spPr>
          <a:xfrm>
            <a:off x="6272783" y="5468112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3" name="Plan action 1 Follow-up KPI"/>
          <p:cNvSpPr txBox="1"/>
          <p:nvPr/>
        </p:nvSpPr>
        <p:spPr>
          <a:xfrm>
            <a:off x="7488936" y="5468112"/>
            <a:ext cx="39867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5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26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0" name="Additional action 1Agreed Action label"/>
          <p:cNvSpPr txBox="1"/>
          <p:nvPr/>
        </p:nvSpPr>
        <p:spPr>
          <a:xfrm>
            <a:off x="77724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3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4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5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6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7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8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9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0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3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6" name="Additional action 2Agreed Action label"/>
          <p:cNvSpPr txBox="1"/>
          <p:nvPr/>
        </p:nvSpPr>
        <p:spPr>
          <a:xfrm>
            <a:off x="6400800" y="315468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9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0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2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4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6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Next check-in label"/>
          <p:cNvSpPr txBox="1"/>
          <p:nvPr/>
        </p:nvSpPr>
        <p:spPr>
          <a:xfrm>
            <a:off x="804672" y="62453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39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
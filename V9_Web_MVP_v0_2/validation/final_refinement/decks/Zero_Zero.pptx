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83" r:id="rId18"/>
    <p:sldId id="284" r:id="rId16"/>
    <p:sldId id="273" r:id="rId24"/>
    <p:sldId id="285" r:id="rId15"/>
    <p:sldId id="286" r:id="rId1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4" Type="http://schemas.openxmlformats.org/officeDocument/2006/relationships/slide" Target="slides/slide23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10.xml"/><Relationship Id="rId18" Type="http://schemas.openxmlformats.org/officeDocument/2006/relationships/slide" Target="slides/slide20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.72407121855776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-1.0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694529934810183"/>
          <c:min val="-1.189616568328141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-1.0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694529934810183"/>
          <c:min val="-1.189616568328141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694529934810183"/>
          <c:min val="-1.189616568328141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4000.0</c:v>
                </c:pt>
                <c:pt idx="1">
                  <c:v>4000.0</c:v>
                </c:pt>
                <c:pt idx="2">
                  <c:v>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100.0</c:v>
                </c:pt>
                <c:pt idx="1">
                  <c:v>100.0</c:v>
                </c:pt>
                <c:pt idx="2">
                  <c:v>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4000.0</c:v>
                </c:pt>
                <c:pt idx="1">
                  <c:v>4000.0</c:v>
                </c:pt>
                <c:pt idx="2">
                  <c:v>4000.0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0.025</c:v>
                </c:pt>
                <c:pt idx="1">
                  <c:v>0.025</c:v>
                </c:pt>
                <c:pt idx="2">
                  <c:v>0.025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"Uptime", "Likely Operational Driver": "Store availability; investigate scheduling / execution",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91.3 pp worse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91.3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-100.0%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-105.3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-100.0%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-103.5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-100.0%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-105.3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-100.0%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-103.5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2.8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lost 2.77 pp of PETS GMV share vs previous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100.0%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100.0% vs prev. month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23.9 pp below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-100.0% vs previous month.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23.9 pp below PETS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72.0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95.0 pp worse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232323"/>
                </a:solidFill>
                <a:latin typeface="Montserrat"/>
              </a:defRPr>
            </a:pPr>
            <a:r>
              <a:t>No positive-GMV stores available for the current period.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3" name="Picture 12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69680" y="3813048"/>
            <a:ext cx="248716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00A082"/>
                </a:solidFill>
                <a:latin typeface="Montserrat"/>
              </a:defRPr>
            </a:pPr>
            <a:r>
              <a:t>0 stores displayed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608576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No positive-GMV stores available for the current period.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თბილისი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-95.0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98.09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93.55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79" name="Picture 78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 | Uptime 0.0% · uptime observation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Store availability; investigate scheduling / execution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Restore availability during scheduled opening hours and verify persistent downtime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Improve uptime toward the 95% target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 · Ultra-low current scale; human review required. Validate persistence / operational recovery.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0"/>
          <p:cNvSpPr txBox="1"/>
          <p:nvPr/>
        </p:nvSpPr>
        <p:spPr>
          <a:xfrm>
            <a:off x="841248" y="1527048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00A082"/>
                </a:solidFill>
                <a:latin typeface="Montserrat"/>
              </a:defRPr>
            </a:pPr>
            <a:r>
              <a:t>#1 · 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8" name="V2.1 action field 0: PRIVATE-ID-0"/>
          <p:cNvSpPr txBox="1"/>
          <p:nvPr/>
        </p:nvSpPr>
        <p:spPr>
          <a:xfrm>
            <a:off x="841248" y="2249424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Priority 93.55 · Primary Action KPI: Uptime</a:t>
            </a:r>
          </a:p>
        </p:txBody>
      </p:sp>
      <p:sp>
        <p:nvSpPr>
          <p:cNvPr id="9" name="V2.1 action field 1: PRIVATE-ID-0"/>
          <p:cNvSpPr txBox="1"/>
          <p:nvPr/>
        </p:nvSpPr>
        <p:spPr>
          <a:xfrm>
            <a:off x="841248" y="2761488"/>
            <a:ext cx="73152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0"/>
          <p:cNvSpPr txBox="1"/>
          <p:nvPr/>
        </p:nvSpPr>
        <p:spPr>
          <a:xfrm>
            <a:off x="841248" y="3163824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6E6E6E"/>
                </a:solidFill>
                <a:latin typeface="Montserrat"/>
              </a:defRPr>
            </a:pPr>
            <a:r>
              <a:t>Uptime 0.0% vs target 95.0%</a:t>
            </a:r>
          </a:p>
        </p:txBody>
      </p:sp>
      <p:sp>
        <p:nvSpPr>
          <p:cNvPr id="11" name="V2.1 action field 3: PRIVATE-ID-0"/>
          <p:cNvSpPr txBox="1"/>
          <p:nvPr/>
        </p:nvSpPr>
        <p:spPr>
          <a:xfrm>
            <a:off x="841248" y="3685032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Likely operational driver: Store availability; investigate scheduling / execution</a:t>
            </a:r>
          </a:p>
        </p:txBody>
      </p:sp>
      <p:sp>
        <p:nvSpPr>
          <p:cNvPr id="12" name="V2.1 action field 4: PRIVATE-ID-0"/>
          <p:cNvSpPr txBox="1"/>
          <p:nvPr/>
        </p:nvSpPr>
        <p:spPr>
          <a:xfrm>
            <a:off x="841248" y="4471416"/>
            <a:ext cx="7315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Restore availability during scheduled opening hours and verify persistent downtime</a:t>
            </a:r>
          </a:p>
        </p:txBody>
      </p:sp>
      <p:sp>
        <p:nvSpPr>
          <p:cNvPr id="13" name="V2.1 action field 5: PRIVATE-ID-0"/>
          <p:cNvSpPr txBox="1"/>
          <p:nvPr/>
        </p:nvSpPr>
        <p:spPr>
          <a:xfrm>
            <a:off x="841248" y="5349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Intended effect: Improve uptime toward the 95% target</a:t>
            </a:r>
          </a:p>
        </p:txBody>
      </p:sp>
      <p:sp>
        <p:nvSpPr>
          <p:cNvPr id="14" name="V2.1 action field 6: PRIVATE-ID-0"/>
          <p:cNvSpPr txBox="1"/>
          <p:nvPr/>
        </p:nvSpPr>
        <p:spPr>
          <a:xfrm>
            <a:off x="841248" y="5824728"/>
            <a:ext cx="73152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Ultra-low current scale; human review required. Validate persistence / operational recovery.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1 selected of 1 ACTION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1 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93.55 · Lowest 93.55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4 items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4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4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0 store"/>
          <p:cNvSpPr txBox="1"/>
          <p:nvPr/>
        </p:nvSpPr>
        <p:spPr>
          <a:xfrm>
            <a:off x="813816" y="2514600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86784" y="2523744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view 0 type"/>
          <p:cNvSpPr txBox="1"/>
          <p:nvPr/>
        </p:nvSpPr>
        <p:spPr>
          <a:xfrm>
            <a:off x="4087368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1" name="Review 0 evidence"/>
          <p:cNvSpPr txBox="1"/>
          <p:nvPr/>
        </p:nvSpPr>
        <p:spPr>
          <a:xfrm>
            <a:off x="5577840" y="2514600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2" name="Review 0 action"/>
          <p:cNvSpPr txBox="1"/>
          <p:nvPr/>
        </p:nvSpPr>
        <p:spPr>
          <a:xfrm>
            <a:off x="8147304" y="2514600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355848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3392424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view 1 store"/>
          <p:cNvSpPr txBox="1"/>
          <p:nvPr/>
        </p:nvSpPr>
        <p:spPr>
          <a:xfrm>
            <a:off x="813816" y="3502152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86784" y="3511296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view 1 type"/>
          <p:cNvSpPr txBox="1"/>
          <p:nvPr/>
        </p:nvSpPr>
        <p:spPr>
          <a:xfrm>
            <a:off x="4087368" y="3575304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8" name="Review 1 evidence"/>
          <p:cNvSpPr txBox="1"/>
          <p:nvPr/>
        </p:nvSpPr>
        <p:spPr>
          <a:xfrm>
            <a:off x="5577840" y="3502152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29" name="Review 1 action"/>
          <p:cNvSpPr txBox="1"/>
          <p:nvPr/>
        </p:nvSpPr>
        <p:spPr>
          <a:xfrm>
            <a:off x="8147304" y="3502152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343400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4360" y="4379976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view 2 store"/>
          <p:cNvSpPr txBox="1"/>
          <p:nvPr/>
        </p:nvSpPr>
        <p:spPr>
          <a:xfrm>
            <a:off x="813816" y="4489704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86784" y="4498848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2 type"/>
          <p:cNvSpPr txBox="1"/>
          <p:nvPr/>
        </p:nvSpPr>
        <p:spPr>
          <a:xfrm>
            <a:off x="4087368" y="456285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5" name="Review 2 evidence"/>
          <p:cNvSpPr txBox="1"/>
          <p:nvPr/>
        </p:nvSpPr>
        <p:spPr>
          <a:xfrm>
            <a:off x="5577840" y="4489704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6" name="Review 2 action"/>
          <p:cNvSpPr txBox="1"/>
          <p:nvPr/>
        </p:nvSpPr>
        <p:spPr>
          <a:xfrm>
            <a:off x="8147304" y="4489704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330952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94360" y="5367528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view 3 store"/>
          <p:cNvSpPr txBox="1"/>
          <p:nvPr/>
        </p:nvSpPr>
        <p:spPr>
          <a:xfrm>
            <a:off x="813816" y="5477256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86784" y="5486400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view 3 type"/>
          <p:cNvSpPr txBox="1"/>
          <p:nvPr/>
        </p:nvSpPr>
        <p:spPr>
          <a:xfrm>
            <a:off x="4087368" y="555040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2" name="Review 3 evidence"/>
          <p:cNvSpPr txBox="1"/>
          <p:nvPr/>
        </p:nvSpPr>
        <p:spPr>
          <a:xfrm>
            <a:off x="5577840" y="5477256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Uptime 0.0% vs target 95.0%</a:t>
            </a:r>
          </a:p>
        </p:txBody>
      </p:sp>
      <p:sp>
        <p:nvSpPr>
          <p:cNvPr id="43" name="Review 3 action"/>
          <p:cNvSpPr txBox="1"/>
          <p:nvPr/>
        </p:nvSpPr>
        <p:spPr>
          <a:xfrm>
            <a:off x="8147304" y="5477256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Restore availability during scheduled opening hours; verify the sample before escalation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1099108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lan action 1 rank"/>
          <p:cNvSpPr txBox="1"/>
          <p:nvPr/>
        </p:nvSpPr>
        <p:spPr>
          <a:xfrm>
            <a:off x="777240" y="1618488"/>
            <a:ext cx="87050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1</a:t>
            </a:r>
          </a:p>
        </p:txBody>
      </p:sp>
      <p:sp>
        <p:nvSpPr>
          <p:cNvPr id="7" name="Plan action 1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93.55</a:t>
            </a:r>
          </a:p>
        </p:txBody>
      </p:sp>
      <p:sp>
        <p:nvSpPr>
          <p:cNvPr id="8" name="Plan action 1 store"/>
          <p:cNvSpPr txBox="1"/>
          <p:nvPr/>
        </p:nvSpPr>
        <p:spPr>
          <a:xfrm>
            <a:off x="777240" y="1947672"/>
            <a:ext cx="106253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9" name="Plan action 1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0" name="Plan action 1 primary"/>
          <p:cNvSpPr txBox="1"/>
          <p:nvPr/>
        </p:nvSpPr>
        <p:spPr>
          <a:xfrm>
            <a:off x="2423160" y="2624328"/>
            <a:ext cx="8979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11" name="Plan action 1 recommendation label"/>
          <p:cNvSpPr txBox="1"/>
          <p:nvPr/>
        </p:nvSpPr>
        <p:spPr>
          <a:xfrm>
            <a:off x="777240" y="2990088"/>
            <a:ext cx="10625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2" name="Plan action 1 recommendation"/>
          <p:cNvSpPr txBox="1"/>
          <p:nvPr/>
        </p:nvSpPr>
        <p:spPr>
          <a:xfrm>
            <a:off x="777240" y="3282696"/>
            <a:ext cx="1062532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Restore availability during scheduled opening hours and verify persistent downtime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10716767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lan action 1 agreed label"/>
          <p:cNvSpPr txBox="1"/>
          <p:nvPr/>
        </p:nvSpPr>
        <p:spPr>
          <a:xfrm>
            <a:off x="850392" y="4325112"/>
            <a:ext cx="1047902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5" name="Plan action 1 agreed"/>
          <p:cNvSpPr txBox="1"/>
          <p:nvPr/>
        </p:nvSpPr>
        <p:spPr>
          <a:xfrm>
            <a:off x="850392" y="4590288"/>
            <a:ext cx="1047902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Plan action 1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7" name="Plan action 1 Owner"/>
          <p:cNvSpPr txBox="1"/>
          <p:nvPr/>
        </p:nvSpPr>
        <p:spPr>
          <a:xfrm>
            <a:off x="1472184" y="5065776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1 Contact label"/>
          <p:cNvSpPr txBox="1"/>
          <p:nvPr/>
        </p:nvSpPr>
        <p:spPr>
          <a:xfrm>
            <a:off x="6272783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9" name="Plan action 1 Contact"/>
          <p:cNvSpPr txBox="1"/>
          <p:nvPr/>
        </p:nvSpPr>
        <p:spPr>
          <a:xfrm>
            <a:off x="6967727" y="5065776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1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1" name="Plan action 1 ETA"/>
          <p:cNvSpPr txBox="1"/>
          <p:nvPr/>
        </p:nvSpPr>
        <p:spPr>
          <a:xfrm>
            <a:off x="1472184" y="5468112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1 Follow-up KPI label"/>
          <p:cNvSpPr txBox="1"/>
          <p:nvPr/>
        </p:nvSpPr>
        <p:spPr>
          <a:xfrm>
            <a:off x="6272783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3" name="Plan action 1 Follow-up KPI"/>
          <p:cNvSpPr txBox="1"/>
          <p:nvPr/>
        </p:nvSpPr>
        <p:spPr>
          <a:xfrm>
            <a:off x="7488936" y="5468112"/>
            <a:ext cx="39867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26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0" name="Additional action 1Agreed Action label"/>
          <p:cNvSpPr txBox="1"/>
          <p:nvPr/>
        </p:nvSpPr>
        <p:spPr>
          <a:xfrm>
            <a:off x="777240" y="315468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3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4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5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6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7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8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9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0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3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6" name="Additional action 2Agreed Action label"/>
          <p:cNvSpPr txBox="1"/>
          <p:nvPr/>
        </p:nvSpPr>
        <p:spPr>
          <a:xfrm>
            <a:off x="6400800" y="315468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9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0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2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4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6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39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
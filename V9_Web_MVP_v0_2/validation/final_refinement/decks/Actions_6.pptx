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99" r:id="rId33"/>
    <p:sldId id="260" r:id="rId11"/>
    <p:sldId id="300" r:id="rId23"/>
    <p:sldId id="261" r:id="rId12"/>
    <p:sldId id="301" r:id="rId22"/>
    <p:sldId id="266" r:id="rId17"/>
    <p:sldId id="268" r:id="rId19"/>
    <p:sldId id="292" r:id="rId44"/>
    <p:sldId id="302" r:id="rId21"/>
    <p:sldId id="303" r:id="rId20"/>
    <p:sldId id="304" r:id="rId18"/>
    <p:sldId id="305" r:id="rId16"/>
    <p:sldId id="306" r:id="rId15"/>
    <p:sldId id="307" r:id="rId14"/>
    <p:sldId id="308" r:id="rId13"/>
    <p:sldId id="309" r:id="rId51"/>
    <p:sldId id="278" r:id="rId29"/>
    <p:sldId id="279" r:id="rId30"/>
    <p:sldId id="310" r:id="rId52"/>
    <p:sldId id="311" r:id="rId53"/>
    <p:sldId id="312" r:id="rId54"/>
    <p:sldId id="313" r:id="rId55"/>
    <p:sldId id="280" r:id="rId31"/>
    <p:sldId id="281" r:id="rId32"/>
    <p:sldId id="298" r:id="rId50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8.xml"/><Relationship Id="rId13" Type="http://schemas.openxmlformats.org/officeDocument/2006/relationships/slide" Target="slides/slide43.xml"/><Relationship Id="rId14" Type="http://schemas.openxmlformats.org/officeDocument/2006/relationships/slide" Target="slides/slide42.xml"/><Relationship Id="rId15" Type="http://schemas.openxmlformats.org/officeDocument/2006/relationships/slide" Target="slides/slide41.xml"/><Relationship Id="rId16" Type="http://schemas.openxmlformats.org/officeDocument/2006/relationships/slide" Target="slides/slide40.xml"/><Relationship Id="rId17" Type="http://schemas.openxmlformats.org/officeDocument/2006/relationships/slide" Target="slides/slide10.xml"/><Relationship Id="rId18" Type="http://schemas.openxmlformats.org/officeDocument/2006/relationships/slide" Target="slides/slide39.xml"/><Relationship Id="rId19" Type="http://schemas.openxmlformats.org/officeDocument/2006/relationships/slide" Target="slides/slide11.xml"/><Relationship Id="rId20" Type="http://schemas.openxmlformats.org/officeDocument/2006/relationships/slide" Target="slides/slide38.xml"/><Relationship Id="rId21" Type="http://schemas.openxmlformats.org/officeDocument/2006/relationships/slide" Target="slides/slide37.xml"/><Relationship Id="rId22" Type="http://schemas.openxmlformats.org/officeDocument/2006/relationships/slide" Target="slides/slide9.xml"/><Relationship Id="rId23" Type="http://schemas.openxmlformats.org/officeDocument/2006/relationships/slide" Target="slides/slide7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5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notesMaster" Target="notesMasters/notesMaster1.xml"/><Relationship Id="rId44" Type="http://schemas.openxmlformats.org/officeDocument/2006/relationships/slide" Target="slides/slide12.xml"/><Relationship Id="rId50" Type="http://schemas.openxmlformats.org/officeDocument/2006/relationships/slide" Target="slides/slide27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  <c:pt idx="0">
                  <c:v>32.32298136645963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16.710824014275204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2.01987577639752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0.03244107071514183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0.2640490936985056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43263821808057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0.76875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0.9130246652046374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86932064766028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98451257027686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0.20748829953198128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697347893915757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0.05342537960078331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0.03524329240563895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0.017563105531351875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26000.0</c:v>
                </c:pt>
                <c:pt idx="1">
                  <c:v>24000.0</c:v>
                </c:pt>
                <c:pt idx="2">
                  <c:v>26020.0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800.0</c:v>
                </c:pt>
                <c:pt idx="1">
                  <c:v>600.0</c:v>
                </c:pt>
                <c:pt idx="2">
                  <c:v>805.0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25000.0</c:v>
                </c:pt>
                <c:pt idx="1">
                  <c:v>24000.0</c:v>
                </c:pt>
                <c:pt idx="2">
                  <c:v>25030.0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0.0%</c:formatCode>
                <c:ptCount val="3"/>
                <c:pt idx="0">
                  <c:v>0.032</c:v>
                </c:pt>
                <c:pt idx="1">
                  <c:v>0.025</c:v>
                </c:pt>
                <c:pt idx="2">
                  <c:v>0.03244107071514183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0.76875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349999999999999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98451257027686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0.20748829953198128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697347893915757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"MONITOR", "Action Reason": "", "Supporting Rule Matches": [], "Primary Action KPI": "Uptime", "Likely Operational Driver": "Store availability; investigate scheduling / execution",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"UNCLASSIFIED", "Action Reason": "", "Supporting Rule Matches": [], "Primary Action KPI": "CVR", "Likely Operational Driver": "Not assessed; review lifecycle / data evidence", "Operational/Data State": ["DATA_REVIEW"]}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"UNCLASSIFIED", "Action Reason": "", "Supporting Rule Matches": [], "Primary Action KPI": "None", "Likely Operational Driver": "Not assessed; review lifecycle / data evidence", "Operational/Data State": ["MISSING_CURRENT"]}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2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9.xml"/><Relationship Id="rId3" Type="http://schemas.openxmlformats.org/officeDocument/2006/relationships/slide" Target="slide30.xml"/><Relationship Id="rId4" Type="http://schemas.openxmlformats.org/officeDocument/2006/relationships/slide" Target="slide31.xml"/><Relationship Id="rId5" Type="http://schemas.openxmlformats.org/officeDocument/2006/relationships/slide" Target="slide32.xml"/><Relationship Id="rId6" Type="http://schemas.openxmlformats.org/officeDocument/2006/relationships/slide" Target="slide33.xml"/><Relationship Id="rId7" Type="http://schemas.openxmlformats.org/officeDocument/2006/relationships/slide" Target="slide34.xml"/><Relationship Id="rId8" Type="http://schemas.openxmlformats.org/officeDocument/2006/relationships/slide" Target="slide28.xml"/><Relationship Id="rId9" Type="http://schemas.openxmlformats.org/officeDocument/2006/relationships/slide" Target="slide35.xml"/><Relationship Id="rId10" Type="http://schemas.openxmlformats.org/officeDocument/2006/relationships/slide" Target="slide3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CC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tn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Presentation identity title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32323"/>
                </a:solidFill>
                <a:latin typeface="Montserrat"/>
              </a:defRPr>
            </a:pPr>
            <a:r>
              <a:t>პეტფუდი — საერთაშორისო პარტნიორი და შინაური ცხოველების მომსახურების ცენტრი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€152,169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5.3%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9,106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3.5%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1.8%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0.3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732782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483396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240895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increased 5.3%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Both order volume and average basket supported growth.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improved by 0.3 pp to 26.4%.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PETS GMV changed +100.4%, while orders changed +73.2%.</a:t>
            </a:r>
          </a:p>
        </p:txBody>
      </p:sp>
      <p:pic>
        <p:nvPicPr>
          <p:cNvPr id="8" name="Picture 7" descr="sbu_p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32323"/>
                </a:solidFill>
                <a:latin typeface="Montserrat"/>
              </a:defRPr>
            </a:pPr>
            <a:r>
              <a:t>პეტფუდი — საერთაშორისო პარტნიორი და შინაური ცხოველების მომსახურების ცენტრი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Reporting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€32.32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3.2%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76.9%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20.7%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Not assessed — incomplete store coverage. Raw values use August 2026.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საერთაშორისო პარტნიორი და შინაური ცხოველების მომსახურების ცენტრი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€32.32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3.2%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76.9%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20.7%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 Raw values shown.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საერთაშორისო პარტნიორი და შინაური ცხოველების მომსახურების ცენტრი Growth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საერთაშორისო პარტნიორი და შინაური ცხოველების მომსახურების ცენტრი Growth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საერთაშორისო პარტნიორი და შინაური ცხოველების მომსახურების ცენტრი Share of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PETS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PETS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17.1%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694944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0644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Share comparisons involving incomplete store coverage are not comparable.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საერთაშორისო პარტნიორი და შინაური ცხოველების მომსახურების ცენტრი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82496"/>
          <a:ext cx="5852160" cy="1947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87952"/>
          <a:ext cx="5852160" cy="19476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Meeting KPI GMV 0"/>
          <p:cNvSpPr/>
          <p:nvPr/>
        </p:nvSpPr>
        <p:spPr>
          <a:xfrm>
            <a:off x="681228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eting KPI GMV 1"/>
          <p:cNvSpPr txBox="1"/>
          <p:nvPr/>
        </p:nvSpPr>
        <p:spPr>
          <a:xfrm>
            <a:off x="6995160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1" name="Meeting KPI GMV 2"/>
          <p:cNvSpPr txBox="1"/>
          <p:nvPr/>
        </p:nvSpPr>
        <p:spPr>
          <a:xfrm>
            <a:off x="6995160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€26,020</a:t>
            </a:r>
          </a:p>
        </p:txBody>
      </p:sp>
      <p:sp>
        <p:nvSpPr>
          <p:cNvPr id="12" name="Meeting KPI GMV 3"/>
          <p:cNvSpPr txBox="1"/>
          <p:nvPr/>
        </p:nvSpPr>
        <p:spPr>
          <a:xfrm>
            <a:off x="6995160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3" name="Meeting KPI Orders 0"/>
          <p:cNvSpPr/>
          <p:nvPr/>
        </p:nvSpPr>
        <p:spPr>
          <a:xfrm>
            <a:off x="946404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eting KPI Orders 1"/>
          <p:cNvSpPr txBox="1"/>
          <p:nvPr/>
        </p:nvSpPr>
        <p:spPr>
          <a:xfrm>
            <a:off x="9646919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5" name="Meeting KPI Orders 2"/>
          <p:cNvSpPr txBox="1"/>
          <p:nvPr/>
        </p:nvSpPr>
        <p:spPr>
          <a:xfrm>
            <a:off x="9646919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805</a:t>
            </a:r>
          </a:p>
        </p:txBody>
      </p:sp>
      <p:sp>
        <p:nvSpPr>
          <p:cNvPr id="16" name="Meeting KPI Orders 3"/>
          <p:cNvSpPr txBox="1"/>
          <p:nvPr/>
        </p:nvSpPr>
        <p:spPr>
          <a:xfrm>
            <a:off x="9646919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7" name="Meeting KPI Partner Sessions 0"/>
          <p:cNvSpPr/>
          <p:nvPr/>
        </p:nvSpPr>
        <p:spPr>
          <a:xfrm>
            <a:off x="681228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eting KPI Partner Sessions 1"/>
          <p:cNvSpPr txBox="1"/>
          <p:nvPr/>
        </p:nvSpPr>
        <p:spPr>
          <a:xfrm>
            <a:off x="6995160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Sessions</a:t>
            </a:r>
          </a:p>
        </p:txBody>
      </p:sp>
      <p:sp>
        <p:nvSpPr>
          <p:cNvPr id="19" name="Meeting KPI Partner Sessions 2"/>
          <p:cNvSpPr txBox="1"/>
          <p:nvPr/>
        </p:nvSpPr>
        <p:spPr>
          <a:xfrm>
            <a:off x="6995160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25,030</a:t>
            </a:r>
          </a:p>
        </p:txBody>
      </p:sp>
      <p:sp>
        <p:nvSpPr>
          <p:cNvPr id="20" name="Meeting KPI Partner Sessions 3"/>
          <p:cNvSpPr txBox="1"/>
          <p:nvPr/>
        </p:nvSpPr>
        <p:spPr>
          <a:xfrm>
            <a:off x="6995160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1" name="Meeting KPI Partner CVR 0"/>
          <p:cNvSpPr/>
          <p:nvPr/>
        </p:nvSpPr>
        <p:spPr>
          <a:xfrm>
            <a:off x="946404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eting KPI Partner CVR 1"/>
          <p:cNvSpPr txBox="1"/>
          <p:nvPr/>
        </p:nvSpPr>
        <p:spPr>
          <a:xfrm>
            <a:off x="9646919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3" name="Meeting KPI Partner CVR 2"/>
          <p:cNvSpPr txBox="1"/>
          <p:nvPr/>
        </p:nvSpPr>
        <p:spPr>
          <a:xfrm>
            <a:off x="9646919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3.2%</a:t>
            </a:r>
          </a:p>
        </p:txBody>
      </p:sp>
      <p:sp>
        <p:nvSpPr>
          <p:cNvPr id="24" name="Meeting KPI Partner CVR 3"/>
          <p:cNvSpPr txBox="1"/>
          <p:nvPr/>
        </p:nvSpPr>
        <p:spPr>
          <a:xfrm>
            <a:off x="9646919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5" name="Meeting KPI Partner CVR 4"/>
          <p:cNvSpPr txBox="1"/>
          <p:nvPr/>
        </p:nvSpPr>
        <p:spPr>
          <a:xfrm>
            <a:off x="9646919" y="523036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26" name="Meeting interpretation top 0"/>
          <p:cNvSpPr txBox="1"/>
          <p:nvPr/>
        </p:nvSpPr>
        <p:spPr>
          <a:xfrm>
            <a:off x="6812280" y="327355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GMV MoM comparison unavailable.</a:t>
            </a:r>
          </a:p>
        </p:txBody>
      </p:sp>
      <p:sp>
        <p:nvSpPr>
          <p:cNvPr id="27" name="Meeting interpretation conversion"/>
          <p:cNvSpPr txBox="1"/>
          <p:nvPr/>
        </p:nvSpPr>
        <p:spPr>
          <a:xfrm>
            <a:off x="6812280" y="5843016"/>
            <a:ext cx="49834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Partner CVR: Not assessed — incomplete store coverage.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PETS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76.9%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Target: 95.0%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SBU PNA: 6.1%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20.7%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SBU Cancels: 2.5%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154680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benchmark / target comparisons: Not assessed — incomplete store coverage.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Raw rates reflect stores with current data. Uptime coverage: 8/8 operating stores. Missing current store records: 1.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76.9%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20.7%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2670048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798064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43200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2" y="2743200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2743200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2743200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" y="3374136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502152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447288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93592" y="3447288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8" y="3447288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0256" y="3447288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" y="4078224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206240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151376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93592" y="4151376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1728" y="4151376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0256" y="4151376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" y="4782312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910328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4855464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93592" y="4855464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81728" y="4855464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0256" y="4855464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2648" y="548640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61441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5559551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3592" y="5559551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81728" y="5559551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0256" y="5559551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48" name="Picture 47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869680" y="3813048"/>
            <a:ext cx="248716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00A082"/>
                </a:solidFill>
                <a:latin typeface="Montserrat"/>
              </a:defRPr>
            </a:pPr>
            <a:r>
              <a:t>6 stores displayed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69680" y="4608576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GMV share not assessed — incomplete store coverage.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€26,020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Store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Raw totals are retained. Incomplete-period growth comparisons are suppressed.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July 2026 · Partial Store Coverage · Expected 7 · Present 6 · Missing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Missing: Pet supplies branch D, Rustaveli Avenue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August 2026 · Partial Store Coverage · Expected 9 · Present 8 · Missing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Missing: Pet supplies branch D, Rustaveli Avenue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Business Review · V9_Beta2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 into measurable progress.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9 stores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Store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Operational state and business classification are separate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35608"/>
            <a:ext cx="10972800" cy="356616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27980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536192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27448" y="1536192"/>
            <a:ext cx="10698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Business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07024" y="1536192"/>
            <a:ext cx="9052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22008" y="1536192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1536192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9367" y="1536192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8047" y="1536192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96727" y="153619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1856231"/>
            <a:ext cx="10972800" cy="5349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erview store: PRIVATE-ID-0">
            <a:hlinkClick action="ppaction://hlinksldjump" r:id="rId2"/>
          </p:cNvPr>
          <p:cNvSpPr txBox="1"/>
          <p:nvPr/>
        </p:nvSpPr>
        <p:spPr>
          <a:xfrm>
            <a:off x="658368" y="1911095"/>
            <a:ext cx="2798064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17" name="V2.1 Overview 1: PRIVATE-ID-0"/>
          <p:cNvSpPr txBox="1"/>
          <p:nvPr/>
        </p:nvSpPr>
        <p:spPr>
          <a:xfrm>
            <a:off x="3566160" y="1911095"/>
            <a:ext cx="105156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18" name="V2.1 Overview 2: PRIVATE-ID-0"/>
          <p:cNvSpPr txBox="1"/>
          <p:nvPr/>
        </p:nvSpPr>
        <p:spPr>
          <a:xfrm>
            <a:off x="4727448" y="1911095"/>
            <a:ext cx="1069848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19" name="V2.1 Overview 3: PRIVATE-ID-0"/>
          <p:cNvSpPr txBox="1"/>
          <p:nvPr/>
        </p:nvSpPr>
        <p:spPr>
          <a:xfrm>
            <a:off x="5907024" y="1911095"/>
            <a:ext cx="905256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20" name="V2.1 Overview 4: PRIVATE-ID-0"/>
          <p:cNvSpPr txBox="1"/>
          <p:nvPr/>
        </p:nvSpPr>
        <p:spPr>
          <a:xfrm>
            <a:off x="6922008" y="1911095"/>
            <a:ext cx="75895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1" name="V2.1 Overview 5: PRIVATE-ID-0"/>
          <p:cNvSpPr txBox="1"/>
          <p:nvPr/>
        </p:nvSpPr>
        <p:spPr>
          <a:xfrm>
            <a:off x="7790688" y="1911095"/>
            <a:ext cx="75895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2" name="V2.1 Overview 6: PRIVATE-ID-0"/>
          <p:cNvSpPr txBox="1"/>
          <p:nvPr/>
        </p:nvSpPr>
        <p:spPr>
          <a:xfrm>
            <a:off x="8659367" y="1911095"/>
            <a:ext cx="75895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23" name="V2.1 Overview 7: PRIVATE-ID-0"/>
          <p:cNvSpPr txBox="1"/>
          <p:nvPr/>
        </p:nvSpPr>
        <p:spPr>
          <a:xfrm>
            <a:off x="9528047" y="1911095"/>
            <a:ext cx="75895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24" name="V2.1 Overview 8: PRIVATE-ID-0"/>
          <p:cNvSpPr txBox="1"/>
          <p:nvPr/>
        </p:nvSpPr>
        <p:spPr>
          <a:xfrm>
            <a:off x="10396727" y="1911095"/>
            <a:ext cx="112471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2414015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erview store: PRIVATE-ID-1">
            <a:hlinkClick action="ppaction://hlinksldjump" r:id="rId3"/>
          </p:cNvPr>
          <p:cNvSpPr txBox="1"/>
          <p:nvPr/>
        </p:nvSpPr>
        <p:spPr>
          <a:xfrm>
            <a:off x="658368" y="2468879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27" name="V2.1 Overview 1: PRIVATE-ID-1"/>
          <p:cNvSpPr txBox="1"/>
          <p:nvPr/>
        </p:nvSpPr>
        <p:spPr>
          <a:xfrm>
            <a:off x="3566160" y="2468879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28" name="V2.1 Overview 2: PRIVATE-ID-1"/>
          <p:cNvSpPr txBox="1"/>
          <p:nvPr/>
        </p:nvSpPr>
        <p:spPr>
          <a:xfrm>
            <a:off x="4727448" y="2468879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29" name="V2.1 Overview 3: PRIVATE-ID-1"/>
          <p:cNvSpPr txBox="1"/>
          <p:nvPr/>
        </p:nvSpPr>
        <p:spPr>
          <a:xfrm>
            <a:off x="5907024" y="2468879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30" name="V2.1 Overview 4: PRIVATE-ID-1"/>
          <p:cNvSpPr txBox="1"/>
          <p:nvPr/>
        </p:nvSpPr>
        <p:spPr>
          <a:xfrm>
            <a:off x="6922008" y="246887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1" name="V2.1 Overview 5: PRIVATE-ID-1"/>
          <p:cNvSpPr txBox="1"/>
          <p:nvPr/>
        </p:nvSpPr>
        <p:spPr>
          <a:xfrm>
            <a:off x="7790688" y="246887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2" name="V2.1 Overview 6: PRIVATE-ID-1"/>
          <p:cNvSpPr txBox="1"/>
          <p:nvPr/>
        </p:nvSpPr>
        <p:spPr>
          <a:xfrm>
            <a:off x="8659367" y="246887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3" name="V2.1 Overview 7: PRIVATE-ID-1"/>
          <p:cNvSpPr txBox="1"/>
          <p:nvPr/>
        </p:nvSpPr>
        <p:spPr>
          <a:xfrm>
            <a:off x="9528047" y="246887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34" name="V2.1 Overview 8: PRIVATE-ID-1"/>
          <p:cNvSpPr txBox="1"/>
          <p:nvPr/>
        </p:nvSpPr>
        <p:spPr>
          <a:xfrm>
            <a:off x="10396727" y="2468879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2816351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erview store: PRIVATE-ID-2">
            <a:hlinkClick action="ppaction://hlinksldjump" r:id="rId4"/>
          </p:cNvPr>
          <p:cNvSpPr txBox="1"/>
          <p:nvPr/>
        </p:nvSpPr>
        <p:spPr>
          <a:xfrm>
            <a:off x="658368" y="2871215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37" name="V2.1 Overview 1: PRIVATE-ID-2"/>
          <p:cNvSpPr txBox="1"/>
          <p:nvPr/>
        </p:nvSpPr>
        <p:spPr>
          <a:xfrm>
            <a:off x="3566160" y="2871215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38" name="V2.1 Overview 2: PRIVATE-ID-2"/>
          <p:cNvSpPr txBox="1"/>
          <p:nvPr/>
        </p:nvSpPr>
        <p:spPr>
          <a:xfrm>
            <a:off x="4727448" y="2871215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39" name="V2.1 Overview 3: PRIVATE-ID-2"/>
          <p:cNvSpPr txBox="1"/>
          <p:nvPr/>
        </p:nvSpPr>
        <p:spPr>
          <a:xfrm>
            <a:off x="5907024" y="2871215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40" name="V2.1 Overview 4: PRIVATE-ID-2"/>
          <p:cNvSpPr txBox="1"/>
          <p:nvPr/>
        </p:nvSpPr>
        <p:spPr>
          <a:xfrm>
            <a:off x="6922008" y="2871215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41" name="V2.1 Overview 5: PRIVATE-ID-2"/>
          <p:cNvSpPr txBox="1"/>
          <p:nvPr/>
        </p:nvSpPr>
        <p:spPr>
          <a:xfrm>
            <a:off x="7790688" y="2871215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42" name="V2.1 Overview 6: PRIVATE-ID-2"/>
          <p:cNvSpPr txBox="1"/>
          <p:nvPr/>
        </p:nvSpPr>
        <p:spPr>
          <a:xfrm>
            <a:off x="8659367" y="2871215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43" name="V2.1 Overview 7: PRIVATE-ID-2"/>
          <p:cNvSpPr txBox="1"/>
          <p:nvPr/>
        </p:nvSpPr>
        <p:spPr>
          <a:xfrm>
            <a:off x="9528047" y="2871215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4" name="V2.1 Overview 8: PRIVATE-ID-2"/>
          <p:cNvSpPr txBox="1"/>
          <p:nvPr/>
        </p:nvSpPr>
        <p:spPr>
          <a:xfrm>
            <a:off x="10396727" y="2871215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4360" y="3218687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erview store: PRIVATE-ID-3">
            <a:hlinkClick action="ppaction://hlinksldjump" r:id="rId5"/>
          </p:cNvPr>
          <p:cNvSpPr txBox="1"/>
          <p:nvPr/>
        </p:nvSpPr>
        <p:spPr>
          <a:xfrm>
            <a:off x="658368" y="3273551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47" name="V2.1 Overview 1: PRIVATE-ID-3"/>
          <p:cNvSpPr txBox="1"/>
          <p:nvPr/>
        </p:nvSpPr>
        <p:spPr>
          <a:xfrm>
            <a:off x="3566160" y="3273551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48" name="V2.1 Overview 2: PRIVATE-ID-3"/>
          <p:cNvSpPr txBox="1"/>
          <p:nvPr/>
        </p:nvSpPr>
        <p:spPr>
          <a:xfrm>
            <a:off x="4727448" y="3273551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49" name="V2.1 Overview 3: PRIVATE-ID-3"/>
          <p:cNvSpPr txBox="1"/>
          <p:nvPr/>
        </p:nvSpPr>
        <p:spPr>
          <a:xfrm>
            <a:off x="5907024" y="3273551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50" name="V2.1 Overview 4: PRIVATE-ID-3"/>
          <p:cNvSpPr txBox="1"/>
          <p:nvPr/>
        </p:nvSpPr>
        <p:spPr>
          <a:xfrm>
            <a:off x="6922008" y="3273551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51" name="V2.1 Overview 5: PRIVATE-ID-3"/>
          <p:cNvSpPr txBox="1"/>
          <p:nvPr/>
        </p:nvSpPr>
        <p:spPr>
          <a:xfrm>
            <a:off x="7790688" y="3273551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52" name="V2.1 Overview 6: PRIVATE-ID-3"/>
          <p:cNvSpPr txBox="1"/>
          <p:nvPr/>
        </p:nvSpPr>
        <p:spPr>
          <a:xfrm>
            <a:off x="8659367" y="3273551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53" name="V2.1 Overview 7: PRIVATE-ID-3"/>
          <p:cNvSpPr txBox="1"/>
          <p:nvPr/>
        </p:nvSpPr>
        <p:spPr>
          <a:xfrm>
            <a:off x="9528047" y="3273551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54" name="V2.1 Overview 8: PRIVATE-ID-3"/>
          <p:cNvSpPr txBox="1"/>
          <p:nvPr/>
        </p:nvSpPr>
        <p:spPr>
          <a:xfrm>
            <a:off x="10396727" y="3273551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94360" y="3621023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erview store: PRIVATE-ID-4">
            <a:hlinkClick action="ppaction://hlinksldjump" r:id="rId6"/>
          </p:cNvPr>
          <p:cNvSpPr txBox="1"/>
          <p:nvPr/>
        </p:nvSpPr>
        <p:spPr>
          <a:xfrm>
            <a:off x="658368" y="3675887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57" name="V2.1 Overview 1: PRIVATE-ID-4"/>
          <p:cNvSpPr txBox="1"/>
          <p:nvPr/>
        </p:nvSpPr>
        <p:spPr>
          <a:xfrm>
            <a:off x="3566160" y="3675887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58" name="V2.1 Overview 2: PRIVATE-ID-4"/>
          <p:cNvSpPr txBox="1"/>
          <p:nvPr/>
        </p:nvSpPr>
        <p:spPr>
          <a:xfrm>
            <a:off x="4727448" y="3675887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59" name="V2.1 Overview 3: PRIVATE-ID-4"/>
          <p:cNvSpPr txBox="1"/>
          <p:nvPr/>
        </p:nvSpPr>
        <p:spPr>
          <a:xfrm>
            <a:off x="5907024" y="3675887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60" name="V2.1 Overview 4: PRIVATE-ID-4"/>
          <p:cNvSpPr txBox="1"/>
          <p:nvPr/>
        </p:nvSpPr>
        <p:spPr>
          <a:xfrm>
            <a:off x="6922008" y="3675887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61" name="V2.1 Overview 5: PRIVATE-ID-4"/>
          <p:cNvSpPr txBox="1"/>
          <p:nvPr/>
        </p:nvSpPr>
        <p:spPr>
          <a:xfrm>
            <a:off x="7790688" y="3675887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62" name="V2.1 Overview 6: PRIVATE-ID-4"/>
          <p:cNvSpPr txBox="1"/>
          <p:nvPr/>
        </p:nvSpPr>
        <p:spPr>
          <a:xfrm>
            <a:off x="8659367" y="3675887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63" name="V2.1 Overview 7: PRIVATE-ID-4"/>
          <p:cNvSpPr txBox="1"/>
          <p:nvPr/>
        </p:nvSpPr>
        <p:spPr>
          <a:xfrm>
            <a:off x="9528047" y="3675887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64" name="V2.1 Overview 8: PRIVATE-ID-4"/>
          <p:cNvSpPr txBox="1"/>
          <p:nvPr/>
        </p:nvSpPr>
        <p:spPr>
          <a:xfrm>
            <a:off x="10396727" y="3675887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" y="4023359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erview store: PRIVATE-ID-5">
            <a:hlinkClick action="ppaction://hlinksldjump" r:id="rId7"/>
          </p:cNvPr>
          <p:cNvSpPr txBox="1"/>
          <p:nvPr/>
        </p:nvSpPr>
        <p:spPr>
          <a:xfrm>
            <a:off x="658368" y="4078223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67" name="V2.1 Overview 1: PRIVATE-ID-5"/>
          <p:cNvSpPr txBox="1"/>
          <p:nvPr/>
        </p:nvSpPr>
        <p:spPr>
          <a:xfrm>
            <a:off x="3566160" y="4078223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68" name="V2.1 Overview 2: PRIVATE-ID-5"/>
          <p:cNvSpPr txBox="1"/>
          <p:nvPr/>
        </p:nvSpPr>
        <p:spPr>
          <a:xfrm>
            <a:off x="4727448" y="4078223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69" name="V2.1 Overview 3: PRIVATE-ID-5"/>
          <p:cNvSpPr txBox="1"/>
          <p:nvPr/>
        </p:nvSpPr>
        <p:spPr>
          <a:xfrm>
            <a:off x="5907024" y="4078223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70" name="V2.1 Overview 4: PRIVATE-ID-5"/>
          <p:cNvSpPr txBox="1"/>
          <p:nvPr/>
        </p:nvSpPr>
        <p:spPr>
          <a:xfrm>
            <a:off x="6922008" y="4078223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71" name="V2.1 Overview 5: PRIVATE-ID-5"/>
          <p:cNvSpPr txBox="1"/>
          <p:nvPr/>
        </p:nvSpPr>
        <p:spPr>
          <a:xfrm>
            <a:off x="7790688" y="4078223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72" name="V2.1 Overview 6: PRIVATE-ID-5"/>
          <p:cNvSpPr txBox="1"/>
          <p:nvPr/>
        </p:nvSpPr>
        <p:spPr>
          <a:xfrm>
            <a:off x="8659367" y="4078223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73" name="V2.1 Overview 7: PRIVATE-ID-5"/>
          <p:cNvSpPr txBox="1"/>
          <p:nvPr/>
        </p:nvSpPr>
        <p:spPr>
          <a:xfrm>
            <a:off x="9528047" y="4078223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74" name="V2.1 Overview 8: PRIVATE-ID-5"/>
          <p:cNvSpPr txBox="1"/>
          <p:nvPr/>
        </p:nvSpPr>
        <p:spPr>
          <a:xfrm>
            <a:off x="10396727" y="4078223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94360" y="4425696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erview store: PRIVATE-AVAIL">
            <a:hlinkClick action="ppaction://hlinksldjump" r:id="rId8"/>
          </p:cNvPr>
          <p:cNvSpPr txBox="1"/>
          <p:nvPr/>
        </p:nvSpPr>
        <p:spPr>
          <a:xfrm>
            <a:off x="658368" y="4480559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L, Rustaveli Avenue 15</a:t>
            </a:r>
          </a:p>
        </p:txBody>
      </p:sp>
      <p:sp>
        <p:nvSpPr>
          <p:cNvPr id="77" name="V2.1 Overview 1: PRIVATE-AVAIL"/>
          <p:cNvSpPr txBox="1"/>
          <p:nvPr/>
        </p:nvSpPr>
        <p:spPr>
          <a:xfrm>
            <a:off x="3566160" y="4480559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Watch</a:t>
            </a:r>
          </a:p>
        </p:txBody>
      </p:sp>
      <p:sp>
        <p:nvSpPr>
          <p:cNvPr id="78" name="V2.1 Overview 2: PRIVATE-AVAIL"/>
          <p:cNvSpPr txBox="1"/>
          <p:nvPr/>
        </p:nvSpPr>
        <p:spPr>
          <a:xfrm>
            <a:off x="4727448" y="4480559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MONITOR</a:t>
            </a:r>
          </a:p>
        </p:txBody>
      </p:sp>
      <p:sp>
        <p:nvSpPr>
          <p:cNvPr id="79" name="V2.1 Overview 3: PRIVATE-AVAIL"/>
          <p:cNvSpPr txBox="1"/>
          <p:nvPr/>
        </p:nvSpPr>
        <p:spPr>
          <a:xfrm>
            <a:off x="5907024" y="4480559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€20</a:t>
            </a:r>
          </a:p>
        </p:txBody>
      </p:sp>
      <p:sp>
        <p:nvSpPr>
          <p:cNvPr id="80" name="V2.1 Overview 4: PRIVATE-AVAIL"/>
          <p:cNvSpPr txBox="1"/>
          <p:nvPr/>
        </p:nvSpPr>
        <p:spPr>
          <a:xfrm>
            <a:off x="6922008" y="448055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81" name="V2.1 Overview 5: PRIVATE-AVAIL"/>
          <p:cNvSpPr txBox="1"/>
          <p:nvPr/>
        </p:nvSpPr>
        <p:spPr>
          <a:xfrm>
            <a:off x="7790688" y="448055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82" name="V2.1 Overview 6: PRIVATE-AVAIL"/>
          <p:cNvSpPr txBox="1"/>
          <p:nvPr/>
        </p:nvSpPr>
        <p:spPr>
          <a:xfrm>
            <a:off x="8659367" y="448055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83" name="V2.1 Overview 7: PRIVATE-AVAIL"/>
          <p:cNvSpPr txBox="1"/>
          <p:nvPr/>
        </p:nvSpPr>
        <p:spPr>
          <a:xfrm>
            <a:off x="9528047" y="448055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88.0%</a:t>
            </a:r>
          </a:p>
        </p:txBody>
      </p:sp>
      <p:sp>
        <p:nvSpPr>
          <p:cNvPr id="84" name="V2.1 Overview 8: PRIVATE-AVAIL"/>
          <p:cNvSpPr txBox="1"/>
          <p:nvPr/>
        </p:nvSpPr>
        <p:spPr>
          <a:xfrm>
            <a:off x="10396727" y="4480559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0.18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94360" y="4828032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erview store: PRIVATE-MISSING">
            <a:hlinkClick action="ppaction://hlinksldjump" r:id="rId9"/>
          </p:cNvPr>
          <p:cNvSpPr txBox="1"/>
          <p:nvPr/>
        </p:nvSpPr>
        <p:spPr>
          <a:xfrm>
            <a:off x="658368" y="4882896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G, Rustaveli Avenue 15</a:t>
            </a:r>
          </a:p>
        </p:txBody>
      </p:sp>
      <p:sp>
        <p:nvSpPr>
          <p:cNvPr id="87" name="V2.1 Overview 1: PRIVATE-MISSING"/>
          <p:cNvSpPr txBox="1"/>
          <p:nvPr/>
        </p:nvSpPr>
        <p:spPr>
          <a:xfrm>
            <a:off x="3566160" y="4882896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Data review</a:t>
            </a:r>
          </a:p>
        </p:txBody>
      </p:sp>
      <p:sp>
        <p:nvSpPr>
          <p:cNvPr id="88" name="V2.1 Overview 2: PRIVATE-MISSING"/>
          <p:cNvSpPr txBox="1"/>
          <p:nvPr/>
        </p:nvSpPr>
        <p:spPr>
          <a:xfrm>
            <a:off x="4727448" y="4882896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UNCLASSIFIED</a:t>
            </a:r>
          </a:p>
        </p:txBody>
      </p:sp>
      <p:sp>
        <p:nvSpPr>
          <p:cNvPr id="89" name="V2.1 Overview 3: PRIVATE-MISSING"/>
          <p:cNvSpPr txBox="1"/>
          <p:nvPr/>
        </p:nvSpPr>
        <p:spPr>
          <a:xfrm>
            <a:off x="5907024" y="4882896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€2,000</a:t>
            </a:r>
          </a:p>
        </p:txBody>
      </p:sp>
      <p:sp>
        <p:nvSpPr>
          <p:cNvPr id="90" name="V2.1 Overview 4: PRIVATE-MISSING"/>
          <p:cNvSpPr txBox="1"/>
          <p:nvPr/>
        </p:nvSpPr>
        <p:spPr>
          <a:xfrm>
            <a:off x="6922008" y="4882896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20.0%</a:t>
            </a:r>
          </a:p>
        </p:txBody>
      </p:sp>
      <p:sp>
        <p:nvSpPr>
          <p:cNvPr id="91" name="V2.1 Overview 5: PRIVATE-MISSING"/>
          <p:cNvSpPr txBox="1"/>
          <p:nvPr/>
        </p:nvSpPr>
        <p:spPr>
          <a:xfrm>
            <a:off x="7790688" y="4882896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92" name="V2.1 Overview 6: PRIVATE-MISSING"/>
          <p:cNvSpPr txBox="1"/>
          <p:nvPr/>
        </p:nvSpPr>
        <p:spPr>
          <a:xfrm>
            <a:off x="8659367" y="4882896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93" name="V2.1 Overview 7: PRIVATE-MISSING"/>
          <p:cNvSpPr txBox="1"/>
          <p:nvPr/>
        </p:nvSpPr>
        <p:spPr>
          <a:xfrm>
            <a:off x="9528047" y="4882896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sp>
        <p:nvSpPr>
          <p:cNvPr id="94" name="V2.1 Overview 8: PRIVATE-MISSING"/>
          <p:cNvSpPr txBox="1"/>
          <p:nvPr/>
        </p:nvSpPr>
        <p:spPr>
          <a:xfrm>
            <a:off x="10396727" y="4882896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94360" y="5230368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erview store: PRIVATE-OLD">
            <a:hlinkClick action="ppaction://hlinksldjump" r:id="rId10"/>
          </p:cNvPr>
          <p:cNvSpPr txBox="1"/>
          <p:nvPr/>
        </p:nvSpPr>
        <p:spPr>
          <a:xfrm>
            <a:off x="658368" y="5285232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D, Rustaveli Avenue 15</a:t>
            </a:r>
          </a:p>
        </p:txBody>
      </p:sp>
      <p:sp>
        <p:nvSpPr>
          <p:cNvPr id="97" name="V2.1 Overview 1: PRIVATE-OLD"/>
          <p:cNvSpPr txBox="1"/>
          <p:nvPr/>
        </p:nvSpPr>
        <p:spPr>
          <a:xfrm>
            <a:off x="3566160" y="5285232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Unknown</a:t>
            </a:r>
          </a:p>
        </p:txBody>
      </p:sp>
      <p:sp>
        <p:nvSpPr>
          <p:cNvPr id="98" name="V2.1 Overview 2: PRIVATE-OLD"/>
          <p:cNvSpPr txBox="1"/>
          <p:nvPr/>
        </p:nvSpPr>
        <p:spPr>
          <a:xfrm>
            <a:off x="4727448" y="5285232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UNCLASSIFIED</a:t>
            </a:r>
          </a:p>
        </p:txBody>
      </p:sp>
      <p:sp>
        <p:nvSpPr>
          <p:cNvPr id="99" name="V2.1 Overview 3: PRIVATE-OLD"/>
          <p:cNvSpPr txBox="1"/>
          <p:nvPr/>
        </p:nvSpPr>
        <p:spPr>
          <a:xfrm>
            <a:off x="5907024" y="5285232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0" name="V2.1 Overview 4: PRIVATE-OLD"/>
          <p:cNvSpPr txBox="1"/>
          <p:nvPr/>
        </p:nvSpPr>
        <p:spPr>
          <a:xfrm>
            <a:off x="6922008" y="5285232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1" name="V2.1 Overview 5: PRIVATE-OLD"/>
          <p:cNvSpPr txBox="1"/>
          <p:nvPr/>
        </p:nvSpPr>
        <p:spPr>
          <a:xfrm>
            <a:off x="7790688" y="5285232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2" name="V2.1 Overview 6: PRIVATE-OLD"/>
          <p:cNvSpPr txBox="1"/>
          <p:nvPr/>
        </p:nvSpPr>
        <p:spPr>
          <a:xfrm>
            <a:off x="8659367" y="5285232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3" name="V2.1 Overview 7: PRIVATE-OLD"/>
          <p:cNvSpPr txBox="1"/>
          <p:nvPr/>
        </p:nvSpPr>
        <p:spPr>
          <a:xfrm>
            <a:off x="9528047" y="5285232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4" name="V2.1 Overview 8: PRIVATE-OLD"/>
          <p:cNvSpPr txBox="1"/>
          <p:nvPr/>
        </p:nvSpPr>
        <p:spPr>
          <a:xfrm>
            <a:off x="10396727" y="5285232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12648" y="6409944"/>
            <a:ext cx="11018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Select a store for Diagnostics. ACTION may be below Priority 5.0 through a documented V2.1 override.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L,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+13.6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3424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-6.1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5810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-2.5 pp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88.0%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-7.0 pp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305288" y="2345436"/>
            <a:ext cx="937775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8.00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2.21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0.18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PRIORITY &lt; 5.0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17% · n=30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867912" y="4453127"/>
            <a:ext cx="31394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25% · n=10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867912" y="4718303"/>
            <a:ext cx="470916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50% · n=10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3867912" y="4983479"/>
            <a:ext cx="941832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E6E6E"/>
                </a:solidFill>
                <a:latin typeface="Montserrat"/>
              </a:defRPr>
            </a:pPr>
            <a:r>
              <a:t>Assessment evidence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Current sessions or order activity · Critical observations: None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Store availability; investigate scheduling / execution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Restore availability during scheduled opening hours and verify persistent downtime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Improve uptime toward the 95% target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MONITOR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თბილისი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G,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INCOMPLETE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€2,000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-6.4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766805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-0.0 pp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525512" y="2345436"/>
            <a:ext cx="998287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At Target · +0.0 pp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305288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Leading known issue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known KPI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known exposure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87% · n=1,000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3867912" y="4453127"/>
            <a:ext cx="1637968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1520" y="4626864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PNA · Rate unavailable / not assessed · n=400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98% · n=400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867912" y="4983479"/>
            <a:ext cx="183772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Leading known issue trend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Assessment incomplete — review evidence before selecting a business action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Unavailable metrics: PNA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Required data review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incomplete assessment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Evidence: Unavailable metrics: PNA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UNCLASSIFIED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D,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UNKNOWN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MISSING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INCOMPLETE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61704" y="2679191"/>
            <a:ext cx="24323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Missing current evidence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Leading known issue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known KPI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known exposure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4361688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CVR · Rate unavailable / not assessed · n unavailable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4626864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PNA · Rate unavailable / not assessed · n unavailable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4892040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Cancels · Rate unavailable / not assessed · n unavailable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Leading known issue trend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Assessment incomplete — review evidence before selecting a business action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No store row in the reporting month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Required data review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incomplete assessment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Evidence: No store row in the reporting month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UNCLASSIFIED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 ·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pportunity store: PRIVATE-ID-0"/>
          <p:cNvSpPr txBox="1"/>
          <p:nvPr/>
        </p:nvSpPr>
        <p:spPr>
          <a:xfrm>
            <a:off x="841248" y="15270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0A082"/>
                </a:solidFill>
                <a:latin typeface="Montserrat"/>
              </a:defRPr>
            </a:pPr>
            <a:r>
              <a:t>#1 · 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8" name="V2.1 action field 0: PRIVATE-ID-0"/>
          <p:cNvSpPr txBox="1"/>
          <p:nvPr/>
        </p:nvSpPr>
        <p:spPr>
          <a:xfrm>
            <a:off x="841248" y="1911095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9" name="V2.1 action field 1: PRIVATE-ID-0"/>
          <p:cNvSpPr txBox="1"/>
          <p:nvPr/>
        </p:nvSpPr>
        <p:spPr>
          <a:xfrm>
            <a:off x="841248" y="21762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0" name="V2.1 action field 2: PRIVATE-ID-0"/>
          <p:cNvSpPr txBox="1"/>
          <p:nvPr/>
        </p:nvSpPr>
        <p:spPr>
          <a:xfrm>
            <a:off x="841248" y="24048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1" name="V2.1 action field 3: PRIVATE-ID-0"/>
          <p:cNvSpPr txBox="1"/>
          <p:nvPr/>
        </p:nvSpPr>
        <p:spPr>
          <a:xfrm>
            <a:off x="841248" y="26426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12" name="V2.1 action field 4: PRIVATE-ID-0"/>
          <p:cNvSpPr txBox="1"/>
          <p:nvPr/>
        </p:nvSpPr>
        <p:spPr>
          <a:xfrm>
            <a:off x="841248" y="3035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V2.1 action field 5: PRIVATE-ID-0"/>
          <p:cNvSpPr txBox="1"/>
          <p:nvPr/>
        </p:nvSpPr>
        <p:spPr>
          <a:xfrm>
            <a:off x="841248" y="34655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39319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pportunity store: PRIVATE-ID-1"/>
          <p:cNvSpPr txBox="1"/>
          <p:nvPr/>
        </p:nvSpPr>
        <p:spPr>
          <a:xfrm>
            <a:off x="841248" y="40416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#2 · Pet supplies branch 1, Rustaveli Avenue 15</a:t>
            </a:r>
          </a:p>
        </p:txBody>
      </p:sp>
      <p:sp>
        <p:nvSpPr>
          <p:cNvPr id="16" name="V2.1 action field 0: PRIVATE-ID-1"/>
          <p:cNvSpPr txBox="1"/>
          <p:nvPr/>
        </p:nvSpPr>
        <p:spPr>
          <a:xfrm>
            <a:off x="841248" y="4425696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17" name="V2.1 action field 1: PRIVATE-ID-1"/>
          <p:cNvSpPr txBox="1"/>
          <p:nvPr/>
        </p:nvSpPr>
        <p:spPr>
          <a:xfrm>
            <a:off x="841248" y="46908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8" name="V2.1 action field 2: PRIVATE-ID-1"/>
          <p:cNvSpPr txBox="1"/>
          <p:nvPr/>
        </p:nvSpPr>
        <p:spPr>
          <a:xfrm>
            <a:off x="841248" y="49194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9" name="V2.1 action field 3: PRIVATE-ID-1"/>
          <p:cNvSpPr txBox="1"/>
          <p:nvPr/>
        </p:nvSpPr>
        <p:spPr>
          <a:xfrm>
            <a:off x="841248" y="51572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20" name="V2.1 action field 4: PRIVATE-ID-1"/>
          <p:cNvSpPr txBox="1"/>
          <p:nvPr/>
        </p:nvSpPr>
        <p:spPr>
          <a:xfrm>
            <a:off x="841248" y="55504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21" name="V2.1 action field 5: PRIVATE-ID-1"/>
          <p:cNvSpPr txBox="1"/>
          <p:nvPr/>
        </p:nvSpPr>
        <p:spPr>
          <a:xfrm>
            <a:off x="841248" y="59801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1627632"/>
            <a:ext cx="2532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OVERALL ACTION 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65960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6 selected of 6 ACTION stores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233172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8824" y="256946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78824" y="292607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Requiring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78824" y="316382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6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78824" y="352043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Priority Range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8824" y="375818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Highest 85.30 · Lowest 85.30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411480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/ Review Items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78824" y="435254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18 items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78824" y="4745736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Review items are separate from Priority.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06256" y="5166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6256" y="553212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8" y="5532120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06256" y="579729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62288" y="579729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06256" y="606247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2288" y="606247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 ·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pportunity store: PRIVATE-ID-2"/>
          <p:cNvSpPr txBox="1"/>
          <p:nvPr/>
        </p:nvSpPr>
        <p:spPr>
          <a:xfrm>
            <a:off x="841248" y="15270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#3 · Pet supplies branch 2, Rustaveli Avenue 15</a:t>
            </a:r>
          </a:p>
        </p:txBody>
      </p:sp>
      <p:sp>
        <p:nvSpPr>
          <p:cNvPr id="8" name="V2.1 action field 0: PRIVATE-ID-2"/>
          <p:cNvSpPr txBox="1"/>
          <p:nvPr/>
        </p:nvSpPr>
        <p:spPr>
          <a:xfrm>
            <a:off x="841248" y="1911095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9" name="V2.1 action field 1: PRIVATE-ID-2"/>
          <p:cNvSpPr txBox="1"/>
          <p:nvPr/>
        </p:nvSpPr>
        <p:spPr>
          <a:xfrm>
            <a:off x="841248" y="21762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0" name="V2.1 action field 2: PRIVATE-ID-2"/>
          <p:cNvSpPr txBox="1"/>
          <p:nvPr/>
        </p:nvSpPr>
        <p:spPr>
          <a:xfrm>
            <a:off x="841248" y="24048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1" name="V2.1 action field 3: PRIVATE-ID-2"/>
          <p:cNvSpPr txBox="1"/>
          <p:nvPr/>
        </p:nvSpPr>
        <p:spPr>
          <a:xfrm>
            <a:off x="841248" y="26426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12" name="V2.1 action field 4: PRIVATE-ID-2"/>
          <p:cNvSpPr txBox="1"/>
          <p:nvPr/>
        </p:nvSpPr>
        <p:spPr>
          <a:xfrm>
            <a:off x="841248" y="3035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V2.1 action field 5: PRIVATE-ID-2"/>
          <p:cNvSpPr txBox="1"/>
          <p:nvPr/>
        </p:nvSpPr>
        <p:spPr>
          <a:xfrm>
            <a:off x="841248" y="34655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39319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pportunity store: PRIVATE-ID-3"/>
          <p:cNvSpPr txBox="1"/>
          <p:nvPr/>
        </p:nvSpPr>
        <p:spPr>
          <a:xfrm>
            <a:off x="841248" y="40416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#4 · Pet supplies branch 3, Rustaveli Avenue 15</a:t>
            </a:r>
          </a:p>
        </p:txBody>
      </p:sp>
      <p:sp>
        <p:nvSpPr>
          <p:cNvPr id="16" name="V2.1 action field 0: PRIVATE-ID-3"/>
          <p:cNvSpPr txBox="1"/>
          <p:nvPr/>
        </p:nvSpPr>
        <p:spPr>
          <a:xfrm>
            <a:off x="841248" y="4425696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17" name="V2.1 action field 1: PRIVATE-ID-3"/>
          <p:cNvSpPr txBox="1"/>
          <p:nvPr/>
        </p:nvSpPr>
        <p:spPr>
          <a:xfrm>
            <a:off x="841248" y="46908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8" name="V2.1 action field 2: PRIVATE-ID-3"/>
          <p:cNvSpPr txBox="1"/>
          <p:nvPr/>
        </p:nvSpPr>
        <p:spPr>
          <a:xfrm>
            <a:off x="841248" y="49194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9" name="V2.1 action field 3: PRIVATE-ID-3"/>
          <p:cNvSpPr txBox="1"/>
          <p:nvPr/>
        </p:nvSpPr>
        <p:spPr>
          <a:xfrm>
            <a:off x="841248" y="51572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20" name="V2.1 action field 4: PRIVATE-ID-3"/>
          <p:cNvSpPr txBox="1"/>
          <p:nvPr/>
        </p:nvSpPr>
        <p:spPr>
          <a:xfrm>
            <a:off x="841248" y="55504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21" name="V2.1 action field 5: PRIVATE-ID-3"/>
          <p:cNvSpPr txBox="1"/>
          <p:nvPr/>
        </p:nvSpPr>
        <p:spPr>
          <a:xfrm>
            <a:off x="841248" y="59801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1627632"/>
            <a:ext cx="2532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OVERALL ACTION 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65960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6 selected of 6 ACTION stores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233172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8824" y="256946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78824" y="292607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Requiring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78824" y="316382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6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78824" y="352043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Priority Range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8824" y="375818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Highest 85.30 · Lowest 85.30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411480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/ Review Items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78824" y="435254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18 items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78824" y="4745736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Review items are separate from Priority.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06256" y="5166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6256" y="553212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8" y="5532120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06256" y="579729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62288" y="579729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06256" y="606247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2288" y="606247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 ·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pportunity store: PRIVATE-ID-4"/>
          <p:cNvSpPr txBox="1"/>
          <p:nvPr/>
        </p:nvSpPr>
        <p:spPr>
          <a:xfrm>
            <a:off x="841248" y="15270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#5 · Pet supplies branch 4, Rustaveli Avenue 15</a:t>
            </a:r>
          </a:p>
        </p:txBody>
      </p:sp>
      <p:sp>
        <p:nvSpPr>
          <p:cNvPr id="8" name="V2.1 action field 0: PRIVATE-ID-4"/>
          <p:cNvSpPr txBox="1"/>
          <p:nvPr/>
        </p:nvSpPr>
        <p:spPr>
          <a:xfrm>
            <a:off x="841248" y="1911095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9" name="V2.1 action field 1: PRIVATE-ID-4"/>
          <p:cNvSpPr txBox="1"/>
          <p:nvPr/>
        </p:nvSpPr>
        <p:spPr>
          <a:xfrm>
            <a:off x="841248" y="21762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0" name="V2.1 action field 2: PRIVATE-ID-4"/>
          <p:cNvSpPr txBox="1"/>
          <p:nvPr/>
        </p:nvSpPr>
        <p:spPr>
          <a:xfrm>
            <a:off x="841248" y="24048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1" name="V2.1 action field 3: PRIVATE-ID-4"/>
          <p:cNvSpPr txBox="1"/>
          <p:nvPr/>
        </p:nvSpPr>
        <p:spPr>
          <a:xfrm>
            <a:off x="841248" y="26426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12" name="V2.1 action field 4: PRIVATE-ID-4"/>
          <p:cNvSpPr txBox="1"/>
          <p:nvPr/>
        </p:nvSpPr>
        <p:spPr>
          <a:xfrm>
            <a:off x="841248" y="3035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V2.1 action field 5: PRIVATE-ID-4"/>
          <p:cNvSpPr txBox="1"/>
          <p:nvPr/>
        </p:nvSpPr>
        <p:spPr>
          <a:xfrm>
            <a:off x="841248" y="34655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39319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pportunity store: PRIVATE-ID-5"/>
          <p:cNvSpPr txBox="1"/>
          <p:nvPr/>
        </p:nvSpPr>
        <p:spPr>
          <a:xfrm>
            <a:off x="841248" y="40416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#6 · Pet supplies branch 5, Rustaveli Avenue 15</a:t>
            </a:r>
          </a:p>
        </p:txBody>
      </p:sp>
      <p:sp>
        <p:nvSpPr>
          <p:cNvPr id="16" name="V2.1 action field 0: PRIVATE-ID-5"/>
          <p:cNvSpPr txBox="1"/>
          <p:nvPr/>
        </p:nvSpPr>
        <p:spPr>
          <a:xfrm>
            <a:off x="841248" y="4425696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17" name="V2.1 action field 1: PRIVATE-ID-5"/>
          <p:cNvSpPr txBox="1"/>
          <p:nvPr/>
        </p:nvSpPr>
        <p:spPr>
          <a:xfrm>
            <a:off x="841248" y="46908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8" name="V2.1 action field 2: PRIVATE-ID-5"/>
          <p:cNvSpPr txBox="1"/>
          <p:nvPr/>
        </p:nvSpPr>
        <p:spPr>
          <a:xfrm>
            <a:off x="841248" y="49194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9" name="V2.1 action field 3: PRIVATE-ID-5"/>
          <p:cNvSpPr txBox="1"/>
          <p:nvPr/>
        </p:nvSpPr>
        <p:spPr>
          <a:xfrm>
            <a:off x="841248" y="51572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20" name="V2.1 action field 4: PRIVATE-ID-5"/>
          <p:cNvSpPr txBox="1"/>
          <p:nvPr/>
        </p:nvSpPr>
        <p:spPr>
          <a:xfrm>
            <a:off x="841248" y="55504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21" name="V2.1 action field 5: PRIVATE-ID-5"/>
          <p:cNvSpPr txBox="1"/>
          <p:nvPr/>
        </p:nvSpPr>
        <p:spPr>
          <a:xfrm>
            <a:off x="841248" y="59801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1627632"/>
            <a:ext cx="2532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OVERALL ACTION 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65960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6 selected of 6 ACTION stores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233172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8824" y="256946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78824" y="292607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Requiring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78824" y="316382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6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78824" y="352043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Priority Range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8824" y="375818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Highest 85.30 · Lowest 85.30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411480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/ Review Items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78824" y="435254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18 items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78824" y="4745736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Review items are separate from Priority.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06256" y="5166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6256" y="553212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8" y="5532120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06256" y="579729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62288" y="579729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06256" y="606247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2288" y="606247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1/5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20</a:t>
            </a:r>
          </a:p>
        </p:txBody>
      </p:sp>
      <p:sp>
        <p:nvSpPr>
          <p:cNvPr id="7" name="Review summary label"/>
          <p:cNvSpPr txBox="1"/>
          <p:nvPr/>
        </p:nvSpPr>
        <p:spPr>
          <a:xfrm>
            <a:off x="1399032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8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8</a:t>
            </a:r>
          </a:p>
        </p:txBody>
      </p:sp>
      <p:sp>
        <p:nvSpPr>
          <p:cNvPr id="9" name="Review summary label"/>
          <p:cNvSpPr txBox="1"/>
          <p:nvPr/>
        </p:nvSpPr>
        <p:spPr>
          <a:xfrm>
            <a:off x="5065776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0" name="Review summary critical observations"/>
          <p:cNvSpPr txBox="1"/>
          <p:nvPr/>
        </p:nvSpPr>
        <p:spPr>
          <a:xfrm>
            <a:off x="8129015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18</a:t>
            </a:r>
          </a:p>
        </p:txBody>
      </p:sp>
      <p:sp>
        <p:nvSpPr>
          <p:cNvPr id="11" name="Review summary label"/>
          <p:cNvSpPr txBox="1"/>
          <p:nvPr/>
        </p:nvSpPr>
        <p:spPr>
          <a:xfrm>
            <a:off x="8732519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2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3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4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5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view 0 store"/>
          <p:cNvSpPr txBox="1"/>
          <p:nvPr/>
        </p:nvSpPr>
        <p:spPr>
          <a:xfrm>
            <a:off x="813816" y="2514600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G, Rustaveli Avenue 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86784" y="2523744"/>
            <a:ext cx="1380744" cy="402336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view 0 type"/>
          <p:cNvSpPr txBox="1"/>
          <p:nvPr/>
        </p:nvSpPr>
        <p:spPr>
          <a:xfrm>
            <a:off x="4087368" y="2587752"/>
            <a:ext cx="11612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Data quality</a:t>
            </a:r>
          </a:p>
        </p:txBody>
      </p:sp>
      <p:sp>
        <p:nvSpPr>
          <p:cNvPr id="21" name="Review 0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Missing scoring evidence: PNA</a:t>
            </a:r>
          </a:p>
        </p:txBody>
      </p:sp>
      <p:sp>
        <p:nvSpPr>
          <p:cNvPr id="22" name="Review 0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Reconcile current activity, lifecycle, missing inputs and benchmark coverage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346704"/>
            <a:ext cx="10991088" cy="9052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4360" y="3383280"/>
            <a:ext cx="41148" cy="832104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view 1 store"/>
          <p:cNvSpPr txBox="1"/>
          <p:nvPr/>
        </p:nvSpPr>
        <p:spPr>
          <a:xfrm>
            <a:off x="813816" y="3493008"/>
            <a:ext cx="30175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86784" y="3502152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view 1 type"/>
          <p:cNvSpPr txBox="1"/>
          <p:nvPr/>
        </p:nvSpPr>
        <p:spPr>
          <a:xfrm>
            <a:off x="4087368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8" name="Review 1 evidence"/>
          <p:cNvSpPr txBox="1"/>
          <p:nvPr/>
        </p:nvSpPr>
        <p:spPr>
          <a:xfrm>
            <a:off x="5577840" y="3493008"/>
            <a:ext cx="23591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29" name="Review 1 action"/>
          <p:cNvSpPr txBox="1"/>
          <p:nvPr/>
        </p:nvSpPr>
        <p:spPr>
          <a:xfrm>
            <a:off x="8147304" y="3493008"/>
            <a:ext cx="32186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334256"/>
            <a:ext cx="10991088" cy="9052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94360" y="4370832"/>
            <a:ext cx="41148" cy="832104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view 2 store"/>
          <p:cNvSpPr txBox="1"/>
          <p:nvPr/>
        </p:nvSpPr>
        <p:spPr>
          <a:xfrm>
            <a:off x="813816" y="4480560"/>
            <a:ext cx="30175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86784" y="4489704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view 2 type"/>
          <p:cNvSpPr txBox="1"/>
          <p:nvPr/>
        </p:nvSpPr>
        <p:spPr>
          <a:xfrm>
            <a:off x="4087368" y="455371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5" name="Review 2 evidence"/>
          <p:cNvSpPr txBox="1"/>
          <p:nvPr/>
        </p:nvSpPr>
        <p:spPr>
          <a:xfrm>
            <a:off x="5577840" y="4480560"/>
            <a:ext cx="23591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36" name="Review 2 action"/>
          <p:cNvSpPr txBox="1"/>
          <p:nvPr/>
        </p:nvSpPr>
        <p:spPr>
          <a:xfrm>
            <a:off x="8147304" y="4480560"/>
            <a:ext cx="32186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5321808"/>
            <a:ext cx="10991088" cy="9052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94360" y="5358384"/>
            <a:ext cx="41148" cy="832104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view 3 store"/>
          <p:cNvSpPr txBox="1"/>
          <p:nvPr/>
        </p:nvSpPr>
        <p:spPr>
          <a:xfrm>
            <a:off x="813816" y="5468112"/>
            <a:ext cx="30175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86784" y="5477256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view 3 type"/>
          <p:cNvSpPr txBox="1"/>
          <p:nvPr/>
        </p:nvSpPr>
        <p:spPr>
          <a:xfrm>
            <a:off x="4087368" y="5541264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2" name="Review 3 evidence"/>
          <p:cNvSpPr txBox="1"/>
          <p:nvPr/>
        </p:nvSpPr>
        <p:spPr>
          <a:xfrm>
            <a:off x="5577840" y="5468112"/>
            <a:ext cx="23591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43" name="Review 3 action"/>
          <p:cNvSpPr txBox="1"/>
          <p:nvPr/>
        </p:nvSpPr>
        <p:spPr>
          <a:xfrm>
            <a:off x="8147304" y="5468112"/>
            <a:ext cx="32186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2/5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20</a:t>
            </a:r>
          </a:p>
        </p:txBody>
      </p:sp>
      <p:sp>
        <p:nvSpPr>
          <p:cNvPr id="7" name="Review summary label"/>
          <p:cNvSpPr txBox="1"/>
          <p:nvPr/>
        </p:nvSpPr>
        <p:spPr>
          <a:xfrm>
            <a:off x="1399032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8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8</a:t>
            </a:r>
          </a:p>
        </p:txBody>
      </p:sp>
      <p:sp>
        <p:nvSpPr>
          <p:cNvPr id="9" name="Review summary label"/>
          <p:cNvSpPr txBox="1"/>
          <p:nvPr/>
        </p:nvSpPr>
        <p:spPr>
          <a:xfrm>
            <a:off x="5065776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0" name="Review summary critical observations"/>
          <p:cNvSpPr txBox="1"/>
          <p:nvPr/>
        </p:nvSpPr>
        <p:spPr>
          <a:xfrm>
            <a:off x="8129015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18</a:t>
            </a:r>
          </a:p>
        </p:txBody>
      </p:sp>
      <p:sp>
        <p:nvSpPr>
          <p:cNvPr id="11" name="Review summary label"/>
          <p:cNvSpPr txBox="1"/>
          <p:nvPr/>
        </p:nvSpPr>
        <p:spPr>
          <a:xfrm>
            <a:off x="8732519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2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3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4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5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view 4 store"/>
          <p:cNvSpPr txBox="1"/>
          <p:nvPr/>
        </p:nvSpPr>
        <p:spPr>
          <a:xfrm>
            <a:off x="813816" y="2514600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86784" y="2523744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view 4 type"/>
          <p:cNvSpPr txBox="1"/>
          <p:nvPr/>
        </p:nvSpPr>
        <p:spPr>
          <a:xfrm>
            <a:off x="4087368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1" name="Review 4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22" name="Review 4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346704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4360" y="3383280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view 5 store"/>
          <p:cNvSpPr txBox="1"/>
          <p:nvPr/>
        </p:nvSpPr>
        <p:spPr>
          <a:xfrm>
            <a:off x="813816" y="3493008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86784" y="3502152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view 5 type"/>
          <p:cNvSpPr txBox="1"/>
          <p:nvPr/>
        </p:nvSpPr>
        <p:spPr>
          <a:xfrm>
            <a:off x="4087368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8" name="Review 5 evidence"/>
          <p:cNvSpPr txBox="1"/>
          <p:nvPr/>
        </p:nvSpPr>
        <p:spPr>
          <a:xfrm>
            <a:off x="5577840" y="3493008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29" name="Review 5 action"/>
          <p:cNvSpPr txBox="1"/>
          <p:nvPr/>
        </p:nvSpPr>
        <p:spPr>
          <a:xfrm>
            <a:off x="8147304" y="3493008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325112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94360" y="4361688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view 6 store"/>
          <p:cNvSpPr txBox="1"/>
          <p:nvPr/>
        </p:nvSpPr>
        <p:spPr>
          <a:xfrm>
            <a:off x="813816" y="4471416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86784" y="4480560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view 6 type"/>
          <p:cNvSpPr txBox="1"/>
          <p:nvPr/>
        </p:nvSpPr>
        <p:spPr>
          <a:xfrm>
            <a:off x="4087368" y="4544568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5" name="Review 6 evidence"/>
          <p:cNvSpPr txBox="1"/>
          <p:nvPr/>
        </p:nvSpPr>
        <p:spPr>
          <a:xfrm>
            <a:off x="5577840" y="4471416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36" name="Review 6 action"/>
          <p:cNvSpPr txBox="1"/>
          <p:nvPr/>
        </p:nvSpPr>
        <p:spPr>
          <a:xfrm>
            <a:off x="8147304" y="4471416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5303520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94360" y="5340096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view 7 store"/>
          <p:cNvSpPr txBox="1"/>
          <p:nvPr/>
        </p:nvSpPr>
        <p:spPr>
          <a:xfrm>
            <a:off x="813816" y="5449824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86784" y="5458968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view 7 type"/>
          <p:cNvSpPr txBox="1"/>
          <p:nvPr/>
        </p:nvSpPr>
        <p:spPr>
          <a:xfrm>
            <a:off x="4087368" y="5522976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2" name="Review 7 evidence"/>
          <p:cNvSpPr txBox="1"/>
          <p:nvPr/>
        </p:nvSpPr>
        <p:spPr>
          <a:xfrm>
            <a:off x="5577840" y="5449824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43" name="Review 7 action"/>
          <p:cNvSpPr txBox="1"/>
          <p:nvPr/>
        </p:nvSpPr>
        <p:spPr>
          <a:xfrm>
            <a:off x="8147304" y="5449824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3/5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20</a:t>
            </a:r>
          </a:p>
        </p:txBody>
      </p:sp>
      <p:sp>
        <p:nvSpPr>
          <p:cNvPr id="7" name="Review summary label"/>
          <p:cNvSpPr txBox="1"/>
          <p:nvPr/>
        </p:nvSpPr>
        <p:spPr>
          <a:xfrm>
            <a:off x="1399032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8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8</a:t>
            </a:r>
          </a:p>
        </p:txBody>
      </p:sp>
      <p:sp>
        <p:nvSpPr>
          <p:cNvPr id="9" name="Review summary label"/>
          <p:cNvSpPr txBox="1"/>
          <p:nvPr/>
        </p:nvSpPr>
        <p:spPr>
          <a:xfrm>
            <a:off x="5065776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0" name="Review summary critical observations"/>
          <p:cNvSpPr txBox="1"/>
          <p:nvPr/>
        </p:nvSpPr>
        <p:spPr>
          <a:xfrm>
            <a:off x="8129015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18</a:t>
            </a:r>
          </a:p>
        </p:txBody>
      </p:sp>
      <p:sp>
        <p:nvSpPr>
          <p:cNvPr id="11" name="Review summary label"/>
          <p:cNvSpPr txBox="1"/>
          <p:nvPr/>
        </p:nvSpPr>
        <p:spPr>
          <a:xfrm>
            <a:off x="8732519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2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3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4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5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view 8 store"/>
          <p:cNvSpPr txBox="1"/>
          <p:nvPr/>
        </p:nvSpPr>
        <p:spPr>
          <a:xfrm>
            <a:off x="813816" y="2514600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86784" y="2523744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view 8 type"/>
          <p:cNvSpPr txBox="1"/>
          <p:nvPr/>
        </p:nvSpPr>
        <p:spPr>
          <a:xfrm>
            <a:off x="4087368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1" name="Review 8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22" name="Review 8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346704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4360" y="3383280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view 9 store"/>
          <p:cNvSpPr txBox="1"/>
          <p:nvPr/>
        </p:nvSpPr>
        <p:spPr>
          <a:xfrm>
            <a:off x="813816" y="3493008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86784" y="3502152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view 9 type"/>
          <p:cNvSpPr txBox="1"/>
          <p:nvPr/>
        </p:nvSpPr>
        <p:spPr>
          <a:xfrm>
            <a:off x="4087368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8" name="Review 9 evidence"/>
          <p:cNvSpPr txBox="1"/>
          <p:nvPr/>
        </p:nvSpPr>
        <p:spPr>
          <a:xfrm>
            <a:off x="5577840" y="3493008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29" name="Review 9 action"/>
          <p:cNvSpPr txBox="1"/>
          <p:nvPr/>
        </p:nvSpPr>
        <p:spPr>
          <a:xfrm>
            <a:off x="8147304" y="3493008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325112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94360" y="4361688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view 10 store"/>
          <p:cNvSpPr txBox="1"/>
          <p:nvPr/>
        </p:nvSpPr>
        <p:spPr>
          <a:xfrm>
            <a:off x="813816" y="4471416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86784" y="4480560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view 10 type"/>
          <p:cNvSpPr txBox="1"/>
          <p:nvPr/>
        </p:nvSpPr>
        <p:spPr>
          <a:xfrm>
            <a:off x="4087368" y="4544568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5" name="Review 10 evidence"/>
          <p:cNvSpPr txBox="1"/>
          <p:nvPr/>
        </p:nvSpPr>
        <p:spPr>
          <a:xfrm>
            <a:off x="5577840" y="4471416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36" name="Review 10 action"/>
          <p:cNvSpPr txBox="1"/>
          <p:nvPr/>
        </p:nvSpPr>
        <p:spPr>
          <a:xfrm>
            <a:off x="8147304" y="4471416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5303520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94360" y="5340096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view 11 store"/>
          <p:cNvSpPr txBox="1"/>
          <p:nvPr/>
        </p:nvSpPr>
        <p:spPr>
          <a:xfrm>
            <a:off x="813816" y="5449824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86784" y="5458968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view 11 type"/>
          <p:cNvSpPr txBox="1"/>
          <p:nvPr/>
        </p:nvSpPr>
        <p:spPr>
          <a:xfrm>
            <a:off x="4087368" y="5522976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2" name="Review 11 evidence"/>
          <p:cNvSpPr txBox="1"/>
          <p:nvPr/>
        </p:nvSpPr>
        <p:spPr>
          <a:xfrm>
            <a:off x="5577840" y="5449824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43" name="Review 11 action"/>
          <p:cNvSpPr txBox="1"/>
          <p:nvPr/>
        </p:nvSpPr>
        <p:spPr>
          <a:xfrm>
            <a:off x="8147304" y="5449824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4/5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20</a:t>
            </a:r>
          </a:p>
        </p:txBody>
      </p:sp>
      <p:sp>
        <p:nvSpPr>
          <p:cNvPr id="7" name="Review summary label"/>
          <p:cNvSpPr txBox="1"/>
          <p:nvPr/>
        </p:nvSpPr>
        <p:spPr>
          <a:xfrm>
            <a:off x="1399032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8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8</a:t>
            </a:r>
          </a:p>
        </p:txBody>
      </p:sp>
      <p:sp>
        <p:nvSpPr>
          <p:cNvPr id="9" name="Review summary label"/>
          <p:cNvSpPr txBox="1"/>
          <p:nvPr/>
        </p:nvSpPr>
        <p:spPr>
          <a:xfrm>
            <a:off x="5065776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0" name="Review summary critical observations"/>
          <p:cNvSpPr txBox="1"/>
          <p:nvPr/>
        </p:nvSpPr>
        <p:spPr>
          <a:xfrm>
            <a:off x="8129015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18</a:t>
            </a:r>
          </a:p>
        </p:txBody>
      </p:sp>
      <p:sp>
        <p:nvSpPr>
          <p:cNvPr id="11" name="Review summary label"/>
          <p:cNvSpPr txBox="1"/>
          <p:nvPr/>
        </p:nvSpPr>
        <p:spPr>
          <a:xfrm>
            <a:off x="8732519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2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3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4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5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view 12 store"/>
          <p:cNvSpPr txBox="1"/>
          <p:nvPr/>
        </p:nvSpPr>
        <p:spPr>
          <a:xfrm>
            <a:off x="813816" y="2514600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86784" y="2523744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view 12 type"/>
          <p:cNvSpPr txBox="1"/>
          <p:nvPr/>
        </p:nvSpPr>
        <p:spPr>
          <a:xfrm>
            <a:off x="4087368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1" name="Review 12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22" name="Review 12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346704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4360" y="3383280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view 13 store"/>
          <p:cNvSpPr txBox="1"/>
          <p:nvPr/>
        </p:nvSpPr>
        <p:spPr>
          <a:xfrm>
            <a:off x="813816" y="3493008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86784" y="3502152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view 13 type"/>
          <p:cNvSpPr txBox="1"/>
          <p:nvPr/>
        </p:nvSpPr>
        <p:spPr>
          <a:xfrm>
            <a:off x="4087368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8" name="Review 13 evidence"/>
          <p:cNvSpPr txBox="1"/>
          <p:nvPr/>
        </p:nvSpPr>
        <p:spPr>
          <a:xfrm>
            <a:off x="5577840" y="3493008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29" name="Review 13 action"/>
          <p:cNvSpPr txBox="1"/>
          <p:nvPr/>
        </p:nvSpPr>
        <p:spPr>
          <a:xfrm>
            <a:off x="8147304" y="3493008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325112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94360" y="4361688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view 14 store"/>
          <p:cNvSpPr txBox="1"/>
          <p:nvPr/>
        </p:nvSpPr>
        <p:spPr>
          <a:xfrm>
            <a:off x="813816" y="4471416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86784" y="4480560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view 14 type"/>
          <p:cNvSpPr txBox="1"/>
          <p:nvPr/>
        </p:nvSpPr>
        <p:spPr>
          <a:xfrm>
            <a:off x="4087368" y="4544568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5" name="Review 14 evidence"/>
          <p:cNvSpPr txBox="1"/>
          <p:nvPr/>
        </p:nvSpPr>
        <p:spPr>
          <a:xfrm>
            <a:off x="5577840" y="4471416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36" name="Review 14 action"/>
          <p:cNvSpPr txBox="1"/>
          <p:nvPr/>
        </p:nvSpPr>
        <p:spPr>
          <a:xfrm>
            <a:off x="8147304" y="4471416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5303520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94360" y="5340096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view 15 store"/>
          <p:cNvSpPr txBox="1"/>
          <p:nvPr/>
        </p:nvSpPr>
        <p:spPr>
          <a:xfrm>
            <a:off x="813816" y="5449824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86784" y="5458968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view 15 type"/>
          <p:cNvSpPr txBox="1"/>
          <p:nvPr/>
        </p:nvSpPr>
        <p:spPr>
          <a:xfrm>
            <a:off x="4087368" y="5522976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2" name="Review 15 evidence"/>
          <p:cNvSpPr txBox="1"/>
          <p:nvPr/>
        </p:nvSpPr>
        <p:spPr>
          <a:xfrm>
            <a:off x="5577840" y="5449824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43" name="Review 15 action"/>
          <p:cNvSpPr txBox="1"/>
          <p:nvPr/>
        </p:nvSpPr>
        <p:spPr>
          <a:xfrm>
            <a:off x="8147304" y="5449824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5/5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20</a:t>
            </a:r>
          </a:p>
        </p:txBody>
      </p:sp>
      <p:sp>
        <p:nvSpPr>
          <p:cNvPr id="7" name="Review summary label"/>
          <p:cNvSpPr txBox="1"/>
          <p:nvPr/>
        </p:nvSpPr>
        <p:spPr>
          <a:xfrm>
            <a:off x="1399032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8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8</a:t>
            </a:r>
          </a:p>
        </p:txBody>
      </p:sp>
      <p:sp>
        <p:nvSpPr>
          <p:cNvPr id="9" name="Review summary label"/>
          <p:cNvSpPr txBox="1"/>
          <p:nvPr/>
        </p:nvSpPr>
        <p:spPr>
          <a:xfrm>
            <a:off x="5065776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0" name="Review summary critical observations"/>
          <p:cNvSpPr txBox="1"/>
          <p:nvPr/>
        </p:nvSpPr>
        <p:spPr>
          <a:xfrm>
            <a:off x="8129015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18</a:t>
            </a:r>
          </a:p>
        </p:txBody>
      </p:sp>
      <p:sp>
        <p:nvSpPr>
          <p:cNvPr id="11" name="Review summary label"/>
          <p:cNvSpPr txBox="1"/>
          <p:nvPr/>
        </p:nvSpPr>
        <p:spPr>
          <a:xfrm>
            <a:off x="8732519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2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3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4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5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view 16 store"/>
          <p:cNvSpPr txBox="1"/>
          <p:nvPr/>
        </p:nvSpPr>
        <p:spPr>
          <a:xfrm>
            <a:off x="813816" y="2514600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86784" y="2523744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view 16 type"/>
          <p:cNvSpPr txBox="1"/>
          <p:nvPr/>
        </p:nvSpPr>
        <p:spPr>
          <a:xfrm>
            <a:off x="4087368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1" name="Review 16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22" name="Review 16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346704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4360" y="3383280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view 17 store"/>
          <p:cNvSpPr txBox="1"/>
          <p:nvPr/>
        </p:nvSpPr>
        <p:spPr>
          <a:xfrm>
            <a:off x="813816" y="3493008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86784" y="3502152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view 17 type"/>
          <p:cNvSpPr txBox="1"/>
          <p:nvPr/>
        </p:nvSpPr>
        <p:spPr>
          <a:xfrm>
            <a:off x="4087368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8" name="Review 17 evidence"/>
          <p:cNvSpPr txBox="1"/>
          <p:nvPr/>
        </p:nvSpPr>
        <p:spPr>
          <a:xfrm>
            <a:off x="5577840" y="3493008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29" name="Review 17 action"/>
          <p:cNvSpPr txBox="1"/>
          <p:nvPr/>
        </p:nvSpPr>
        <p:spPr>
          <a:xfrm>
            <a:off x="8147304" y="3493008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325112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94360" y="4361688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view 18 store"/>
          <p:cNvSpPr txBox="1"/>
          <p:nvPr/>
        </p:nvSpPr>
        <p:spPr>
          <a:xfrm>
            <a:off x="813816" y="4471416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86784" y="4480560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view 18 type"/>
          <p:cNvSpPr txBox="1"/>
          <p:nvPr/>
        </p:nvSpPr>
        <p:spPr>
          <a:xfrm>
            <a:off x="4087368" y="4544568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5" name="Review 18 evidence"/>
          <p:cNvSpPr txBox="1"/>
          <p:nvPr/>
        </p:nvSpPr>
        <p:spPr>
          <a:xfrm>
            <a:off x="5577840" y="4471416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36" name="Review 18 action"/>
          <p:cNvSpPr txBox="1"/>
          <p:nvPr/>
        </p:nvSpPr>
        <p:spPr>
          <a:xfrm>
            <a:off x="8147304" y="4471416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5303520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94360" y="5340096"/>
            <a:ext cx="41148" cy="822960"/>
          </a:xfrm>
          <a:prstGeom prst="roundRect">
            <a:avLst>
              <a:gd name="adj" fmla="val 8000"/>
            </a:avLst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view 19 store"/>
          <p:cNvSpPr txBox="1"/>
          <p:nvPr/>
        </p:nvSpPr>
        <p:spPr>
          <a:xfrm>
            <a:off x="813816" y="5449824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L, Rustaveli Avenue 15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86784" y="5458968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view 19 type"/>
          <p:cNvSpPr txBox="1"/>
          <p:nvPr/>
        </p:nvSpPr>
        <p:spPr>
          <a:xfrm>
            <a:off x="4087368" y="5522976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Availability review</a:t>
            </a:r>
          </a:p>
        </p:txBody>
      </p:sp>
      <p:sp>
        <p:nvSpPr>
          <p:cNvPr id="42" name="Review 19 evidence"/>
          <p:cNvSpPr txBox="1"/>
          <p:nvPr/>
        </p:nvSpPr>
        <p:spPr>
          <a:xfrm>
            <a:off x="5577840" y="5449824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Uptime 88.0% vs target 95.0%</a:t>
            </a:r>
          </a:p>
        </p:txBody>
      </p:sp>
      <p:sp>
        <p:nvSpPr>
          <p:cNvPr id="43" name="Review 19 action"/>
          <p:cNvSpPr txBox="1"/>
          <p:nvPr/>
        </p:nvSpPr>
        <p:spPr>
          <a:xfrm>
            <a:off x="8147304" y="5449824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Restore availability during scheduled opening hours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 ·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actions, owners and dates during the business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lan action 1 rank"/>
          <p:cNvSpPr txBox="1"/>
          <p:nvPr/>
        </p:nvSpPr>
        <p:spPr>
          <a:xfrm>
            <a:off x="777240" y="1618488"/>
            <a:ext cx="30815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1</a:t>
            </a:r>
          </a:p>
        </p:txBody>
      </p:sp>
      <p:sp>
        <p:nvSpPr>
          <p:cNvPr id="7" name="Plan action 1 priority"/>
          <p:cNvSpPr txBox="1"/>
          <p:nvPr/>
        </p:nvSpPr>
        <p:spPr>
          <a:xfrm>
            <a:off x="429768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8" name="Plan action 1 store"/>
          <p:cNvSpPr txBox="1"/>
          <p:nvPr/>
        </p:nvSpPr>
        <p:spPr>
          <a:xfrm>
            <a:off x="77724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9" name="Plan action 1 primary label"/>
          <p:cNvSpPr txBox="1"/>
          <p:nvPr/>
        </p:nvSpPr>
        <p:spPr>
          <a:xfrm>
            <a:off x="77724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10" name="Plan action 1 primary"/>
          <p:cNvSpPr txBox="1"/>
          <p:nvPr/>
        </p:nvSpPr>
        <p:spPr>
          <a:xfrm>
            <a:off x="242316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11" name="Plan action 1 recommendation label"/>
          <p:cNvSpPr txBox="1"/>
          <p:nvPr/>
        </p:nvSpPr>
        <p:spPr>
          <a:xfrm>
            <a:off x="77724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12" name="Plan action 1 recommendation"/>
          <p:cNvSpPr txBox="1"/>
          <p:nvPr/>
        </p:nvSpPr>
        <p:spPr>
          <a:xfrm>
            <a:off x="77724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lan action 1 agreed label"/>
          <p:cNvSpPr txBox="1"/>
          <p:nvPr/>
        </p:nvSpPr>
        <p:spPr>
          <a:xfrm>
            <a:off x="850392" y="4325112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15" name="Plan action 1 agreed"/>
          <p:cNvSpPr txBox="1"/>
          <p:nvPr/>
        </p:nvSpPr>
        <p:spPr>
          <a:xfrm>
            <a:off x="85039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6" name="Plan action 1 Owner label"/>
          <p:cNvSpPr txBox="1"/>
          <p:nvPr/>
        </p:nvSpPr>
        <p:spPr>
          <a:xfrm>
            <a:off x="77724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7" name="Plan action 1 Owner"/>
          <p:cNvSpPr txBox="1"/>
          <p:nvPr/>
        </p:nvSpPr>
        <p:spPr>
          <a:xfrm>
            <a:off x="147218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Plan action 1 Contact label"/>
          <p:cNvSpPr txBox="1"/>
          <p:nvPr/>
        </p:nvSpPr>
        <p:spPr>
          <a:xfrm>
            <a:off x="346100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19" name="Plan action 1 Contact"/>
          <p:cNvSpPr txBox="1"/>
          <p:nvPr/>
        </p:nvSpPr>
        <p:spPr>
          <a:xfrm>
            <a:off x="415594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Plan action 1 ETA label"/>
          <p:cNvSpPr txBox="1"/>
          <p:nvPr/>
        </p:nvSpPr>
        <p:spPr>
          <a:xfrm>
            <a:off x="77724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21" name="Plan action 1 ETA"/>
          <p:cNvSpPr txBox="1"/>
          <p:nvPr/>
        </p:nvSpPr>
        <p:spPr>
          <a:xfrm>
            <a:off x="147218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Plan action 1 Follow-up KPI label"/>
          <p:cNvSpPr txBox="1"/>
          <p:nvPr/>
        </p:nvSpPr>
        <p:spPr>
          <a:xfrm>
            <a:off x="346100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3" name="Plan action 1 Follow-up KPI"/>
          <p:cNvSpPr txBox="1"/>
          <p:nvPr/>
        </p:nvSpPr>
        <p:spPr>
          <a:xfrm>
            <a:off x="467715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lan action 2 rank"/>
          <p:cNvSpPr txBox="1"/>
          <p:nvPr/>
        </p:nvSpPr>
        <p:spPr>
          <a:xfrm>
            <a:off x="6400800" y="1618488"/>
            <a:ext cx="30815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2</a:t>
            </a:r>
          </a:p>
        </p:txBody>
      </p:sp>
      <p:sp>
        <p:nvSpPr>
          <p:cNvPr id="26" name="Plan action 2 priority"/>
          <p:cNvSpPr txBox="1"/>
          <p:nvPr/>
        </p:nvSpPr>
        <p:spPr>
          <a:xfrm>
            <a:off x="992124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27" name="Plan action 2 store"/>
          <p:cNvSpPr txBox="1"/>
          <p:nvPr/>
        </p:nvSpPr>
        <p:spPr>
          <a:xfrm>
            <a:off x="640080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28" name="Plan action 2 primary label"/>
          <p:cNvSpPr txBox="1"/>
          <p:nvPr/>
        </p:nvSpPr>
        <p:spPr>
          <a:xfrm>
            <a:off x="640080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9" name="Plan action 2 primary"/>
          <p:cNvSpPr txBox="1"/>
          <p:nvPr/>
        </p:nvSpPr>
        <p:spPr>
          <a:xfrm>
            <a:off x="804672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30" name="Plan action 2 recommendation label"/>
          <p:cNvSpPr txBox="1"/>
          <p:nvPr/>
        </p:nvSpPr>
        <p:spPr>
          <a:xfrm>
            <a:off x="640080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31" name="Plan action 2 recommendation"/>
          <p:cNvSpPr txBox="1"/>
          <p:nvPr/>
        </p:nvSpPr>
        <p:spPr>
          <a:xfrm>
            <a:off x="640080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lan action 2 agreed label"/>
          <p:cNvSpPr txBox="1"/>
          <p:nvPr/>
        </p:nvSpPr>
        <p:spPr>
          <a:xfrm>
            <a:off x="6473952" y="4325112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34" name="Plan action 2 agreed"/>
          <p:cNvSpPr txBox="1"/>
          <p:nvPr/>
        </p:nvSpPr>
        <p:spPr>
          <a:xfrm>
            <a:off x="647395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5" name="Plan action 2 Owner label"/>
          <p:cNvSpPr txBox="1"/>
          <p:nvPr/>
        </p:nvSpPr>
        <p:spPr>
          <a:xfrm>
            <a:off x="640080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36" name="Plan action 2 Owner"/>
          <p:cNvSpPr txBox="1"/>
          <p:nvPr/>
        </p:nvSpPr>
        <p:spPr>
          <a:xfrm>
            <a:off x="709574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7" name="Plan action 2 Contact label"/>
          <p:cNvSpPr txBox="1"/>
          <p:nvPr/>
        </p:nvSpPr>
        <p:spPr>
          <a:xfrm>
            <a:off x="908456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38" name="Plan action 2 Contact"/>
          <p:cNvSpPr txBox="1"/>
          <p:nvPr/>
        </p:nvSpPr>
        <p:spPr>
          <a:xfrm>
            <a:off x="977950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Plan action 2 ETA label"/>
          <p:cNvSpPr txBox="1"/>
          <p:nvPr/>
        </p:nvSpPr>
        <p:spPr>
          <a:xfrm>
            <a:off x="640080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40" name="Plan action 2 ETA"/>
          <p:cNvSpPr txBox="1"/>
          <p:nvPr/>
        </p:nvSpPr>
        <p:spPr>
          <a:xfrm>
            <a:off x="709574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1" name="Plan action 2 Follow-up KPI label"/>
          <p:cNvSpPr txBox="1"/>
          <p:nvPr/>
        </p:nvSpPr>
        <p:spPr>
          <a:xfrm>
            <a:off x="908456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42" name="Plan action 2 Follow-up KPI"/>
          <p:cNvSpPr txBox="1"/>
          <p:nvPr/>
        </p:nvSpPr>
        <p:spPr>
          <a:xfrm>
            <a:off x="1030071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Next check-in label"/>
          <p:cNvSpPr txBox="1"/>
          <p:nvPr/>
        </p:nvSpPr>
        <p:spPr>
          <a:xfrm>
            <a:off x="804672" y="624535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45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 ·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actions, owners and dates during the business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lan action 3 rank"/>
          <p:cNvSpPr txBox="1"/>
          <p:nvPr/>
        </p:nvSpPr>
        <p:spPr>
          <a:xfrm>
            <a:off x="777240" y="1618488"/>
            <a:ext cx="30815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3</a:t>
            </a:r>
          </a:p>
        </p:txBody>
      </p:sp>
      <p:sp>
        <p:nvSpPr>
          <p:cNvPr id="7" name="Plan action 3 priority"/>
          <p:cNvSpPr txBox="1"/>
          <p:nvPr/>
        </p:nvSpPr>
        <p:spPr>
          <a:xfrm>
            <a:off x="429768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8" name="Plan action 3 store"/>
          <p:cNvSpPr txBox="1"/>
          <p:nvPr/>
        </p:nvSpPr>
        <p:spPr>
          <a:xfrm>
            <a:off x="77724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9" name="Plan action 3 primary label"/>
          <p:cNvSpPr txBox="1"/>
          <p:nvPr/>
        </p:nvSpPr>
        <p:spPr>
          <a:xfrm>
            <a:off x="77724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10" name="Plan action 3 primary"/>
          <p:cNvSpPr txBox="1"/>
          <p:nvPr/>
        </p:nvSpPr>
        <p:spPr>
          <a:xfrm>
            <a:off x="242316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11" name="Plan action 3 recommendation label"/>
          <p:cNvSpPr txBox="1"/>
          <p:nvPr/>
        </p:nvSpPr>
        <p:spPr>
          <a:xfrm>
            <a:off x="77724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12" name="Plan action 3 recommendation"/>
          <p:cNvSpPr txBox="1"/>
          <p:nvPr/>
        </p:nvSpPr>
        <p:spPr>
          <a:xfrm>
            <a:off x="77724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lan action 3 agreed label"/>
          <p:cNvSpPr txBox="1"/>
          <p:nvPr/>
        </p:nvSpPr>
        <p:spPr>
          <a:xfrm>
            <a:off x="850392" y="4325112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15" name="Plan action 3 agreed"/>
          <p:cNvSpPr txBox="1"/>
          <p:nvPr/>
        </p:nvSpPr>
        <p:spPr>
          <a:xfrm>
            <a:off x="85039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6" name="Plan action 3 Owner label"/>
          <p:cNvSpPr txBox="1"/>
          <p:nvPr/>
        </p:nvSpPr>
        <p:spPr>
          <a:xfrm>
            <a:off x="77724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7" name="Plan action 3 Owner"/>
          <p:cNvSpPr txBox="1"/>
          <p:nvPr/>
        </p:nvSpPr>
        <p:spPr>
          <a:xfrm>
            <a:off x="147218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Plan action 3 Contact label"/>
          <p:cNvSpPr txBox="1"/>
          <p:nvPr/>
        </p:nvSpPr>
        <p:spPr>
          <a:xfrm>
            <a:off x="346100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19" name="Plan action 3 Contact"/>
          <p:cNvSpPr txBox="1"/>
          <p:nvPr/>
        </p:nvSpPr>
        <p:spPr>
          <a:xfrm>
            <a:off x="415594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Plan action 3 ETA label"/>
          <p:cNvSpPr txBox="1"/>
          <p:nvPr/>
        </p:nvSpPr>
        <p:spPr>
          <a:xfrm>
            <a:off x="77724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21" name="Plan action 3 ETA"/>
          <p:cNvSpPr txBox="1"/>
          <p:nvPr/>
        </p:nvSpPr>
        <p:spPr>
          <a:xfrm>
            <a:off x="147218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Plan action 3 Follow-up KPI label"/>
          <p:cNvSpPr txBox="1"/>
          <p:nvPr/>
        </p:nvSpPr>
        <p:spPr>
          <a:xfrm>
            <a:off x="346100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3" name="Plan action 3 Follow-up KPI"/>
          <p:cNvSpPr txBox="1"/>
          <p:nvPr/>
        </p:nvSpPr>
        <p:spPr>
          <a:xfrm>
            <a:off x="467715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lan action 4 rank"/>
          <p:cNvSpPr txBox="1"/>
          <p:nvPr/>
        </p:nvSpPr>
        <p:spPr>
          <a:xfrm>
            <a:off x="6400800" y="1618488"/>
            <a:ext cx="30815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4</a:t>
            </a:r>
          </a:p>
        </p:txBody>
      </p:sp>
      <p:sp>
        <p:nvSpPr>
          <p:cNvPr id="26" name="Plan action 4 priority"/>
          <p:cNvSpPr txBox="1"/>
          <p:nvPr/>
        </p:nvSpPr>
        <p:spPr>
          <a:xfrm>
            <a:off x="992124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27" name="Plan action 4 store"/>
          <p:cNvSpPr txBox="1"/>
          <p:nvPr/>
        </p:nvSpPr>
        <p:spPr>
          <a:xfrm>
            <a:off x="640080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28" name="Plan action 4 primary label"/>
          <p:cNvSpPr txBox="1"/>
          <p:nvPr/>
        </p:nvSpPr>
        <p:spPr>
          <a:xfrm>
            <a:off x="640080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9" name="Plan action 4 primary"/>
          <p:cNvSpPr txBox="1"/>
          <p:nvPr/>
        </p:nvSpPr>
        <p:spPr>
          <a:xfrm>
            <a:off x="804672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30" name="Plan action 4 recommendation label"/>
          <p:cNvSpPr txBox="1"/>
          <p:nvPr/>
        </p:nvSpPr>
        <p:spPr>
          <a:xfrm>
            <a:off x="640080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31" name="Plan action 4 recommendation"/>
          <p:cNvSpPr txBox="1"/>
          <p:nvPr/>
        </p:nvSpPr>
        <p:spPr>
          <a:xfrm>
            <a:off x="640080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lan action 4 agreed label"/>
          <p:cNvSpPr txBox="1"/>
          <p:nvPr/>
        </p:nvSpPr>
        <p:spPr>
          <a:xfrm>
            <a:off x="6473952" y="4325112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34" name="Plan action 4 agreed"/>
          <p:cNvSpPr txBox="1"/>
          <p:nvPr/>
        </p:nvSpPr>
        <p:spPr>
          <a:xfrm>
            <a:off x="647395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5" name="Plan action 4 Owner label"/>
          <p:cNvSpPr txBox="1"/>
          <p:nvPr/>
        </p:nvSpPr>
        <p:spPr>
          <a:xfrm>
            <a:off x="640080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36" name="Plan action 4 Owner"/>
          <p:cNvSpPr txBox="1"/>
          <p:nvPr/>
        </p:nvSpPr>
        <p:spPr>
          <a:xfrm>
            <a:off x="709574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7" name="Plan action 4 Contact label"/>
          <p:cNvSpPr txBox="1"/>
          <p:nvPr/>
        </p:nvSpPr>
        <p:spPr>
          <a:xfrm>
            <a:off x="908456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38" name="Plan action 4 Contact"/>
          <p:cNvSpPr txBox="1"/>
          <p:nvPr/>
        </p:nvSpPr>
        <p:spPr>
          <a:xfrm>
            <a:off x="977950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Plan action 4 ETA label"/>
          <p:cNvSpPr txBox="1"/>
          <p:nvPr/>
        </p:nvSpPr>
        <p:spPr>
          <a:xfrm>
            <a:off x="640080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40" name="Plan action 4 ETA"/>
          <p:cNvSpPr txBox="1"/>
          <p:nvPr/>
        </p:nvSpPr>
        <p:spPr>
          <a:xfrm>
            <a:off x="709574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1" name="Plan action 4 Follow-up KPI label"/>
          <p:cNvSpPr txBox="1"/>
          <p:nvPr/>
        </p:nvSpPr>
        <p:spPr>
          <a:xfrm>
            <a:off x="908456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42" name="Plan action 4 Follow-up KPI"/>
          <p:cNvSpPr txBox="1"/>
          <p:nvPr/>
        </p:nvSpPr>
        <p:spPr>
          <a:xfrm>
            <a:off x="1030071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Next check-in label"/>
          <p:cNvSpPr txBox="1"/>
          <p:nvPr/>
        </p:nvSpPr>
        <p:spPr>
          <a:xfrm>
            <a:off x="804672" y="624535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45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 ·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actions, owners and dates during the business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lan action 5 rank"/>
          <p:cNvSpPr txBox="1"/>
          <p:nvPr/>
        </p:nvSpPr>
        <p:spPr>
          <a:xfrm>
            <a:off x="777240" y="1618488"/>
            <a:ext cx="30815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5</a:t>
            </a:r>
          </a:p>
        </p:txBody>
      </p:sp>
      <p:sp>
        <p:nvSpPr>
          <p:cNvPr id="7" name="Plan action 5 priority"/>
          <p:cNvSpPr txBox="1"/>
          <p:nvPr/>
        </p:nvSpPr>
        <p:spPr>
          <a:xfrm>
            <a:off x="429768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8" name="Plan action 5 store"/>
          <p:cNvSpPr txBox="1"/>
          <p:nvPr/>
        </p:nvSpPr>
        <p:spPr>
          <a:xfrm>
            <a:off x="77724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9" name="Plan action 5 primary label"/>
          <p:cNvSpPr txBox="1"/>
          <p:nvPr/>
        </p:nvSpPr>
        <p:spPr>
          <a:xfrm>
            <a:off x="77724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10" name="Plan action 5 primary"/>
          <p:cNvSpPr txBox="1"/>
          <p:nvPr/>
        </p:nvSpPr>
        <p:spPr>
          <a:xfrm>
            <a:off x="242316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11" name="Plan action 5 recommendation label"/>
          <p:cNvSpPr txBox="1"/>
          <p:nvPr/>
        </p:nvSpPr>
        <p:spPr>
          <a:xfrm>
            <a:off x="77724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12" name="Plan action 5 recommendation"/>
          <p:cNvSpPr txBox="1"/>
          <p:nvPr/>
        </p:nvSpPr>
        <p:spPr>
          <a:xfrm>
            <a:off x="77724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lan action 5 agreed label"/>
          <p:cNvSpPr txBox="1"/>
          <p:nvPr/>
        </p:nvSpPr>
        <p:spPr>
          <a:xfrm>
            <a:off x="850392" y="4325112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15" name="Plan action 5 agreed"/>
          <p:cNvSpPr txBox="1"/>
          <p:nvPr/>
        </p:nvSpPr>
        <p:spPr>
          <a:xfrm>
            <a:off x="85039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6" name="Plan action 5 Owner label"/>
          <p:cNvSpPr txBox="1"/>
          <p:nvPr/>
        </p:nvSpPr>
        <p:spPr>
          <a:xfrm>
            <a:off x="77724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7" name="Plan action 5 Owner"/>
          <p:cNvSpPr txBox="1"/>
          <p:nvPr/>
        </p:nvSpPr>
        <p:spPr>
          <a:xfrm>
            <a:off x="147218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Plan action 5 Contact label"/>
          <p:cNvSpPr txBox="1"/>
          <p:nvPr/>
        </p:nvSpPr>
        <p:spPr>
          <a:xfrm>
            <a:off x="346100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19" name="Plan action 5 Contact"/>
          <p:cNvSpPr txBox="1"/>
          <p:nvPr/>
        </p:nvSpPr>
        <p:spPr>
          <a:xfrm>
            <a:off x="415594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Plan action 5 ETA label"/>
          <p:cNvSpPr txBox="1"/>
          <p:nvPr/>
        </p:nvSpPr>
        <p:spPr>
          <a:xfrm>
            <a:off x="77724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21" name="Plan action 5 ETA"/>
          <p:cNvSpPr txBox="1"/>
          <p:nvPr/>
        </p:nvSpPr>
        <p:spPr>
          <a:xfrm>
            <a:off x="147218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Plan action 5 Follow-up KPI label"/>
          <p:cNvSpPr txBox="1"/>
          <p:nvPr/>
        </p:nvSpPr>
        <p:spPr>
          <a:xfrm>
            <a:off x="346100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3" name="Plan action 5 Follow-up KPI"/>
          <p:cNvSpPr txBox="1"/>
          <p:nvPr/>
        </p:nvSpPr>
        <p:spPr>
          <a:xfrm>
            <a:off x="467715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lan action 6 rank"/>
          <p:cNvSpPr txBox="1"/>
          <p:nvPr/>
        </p:nvSpPr>
        <p:spPr>
          <a:xfrm>
            <a:off x="6400800" y="1618488"/>
            <a:ext cx="30815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6</a:t>
            </a:r>
          </a:p>
        </p:txBody>
      </p:sp>
      <p:sp>
        <p:nvSpPr>
          <p:cNvPr id="26" name="Plan action 6 priority"/>
          <p:cNvSpPr txBox="1"/>
          <p:nvPr/>
        </p:nvSpPr>
        <p:spPr>
          <a:xfrm>
            <a:off x="992124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27" name="Plan action 6 store"/>
          <p:cNvSpPr txBox="1"/>
          <p:nvPr/>
        </p:nvSpPr>
        <p:spPr>
          <a:xfrm>
            <a:off x="640080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28" name="Plan action 6 primary label"/>
          <p:cNvSpPr txBox="1"/>
          <p:nvPr/>
        </p:nvSpPr>
        <p:spPr>
          <a:xfrm>
            <a:off x="640080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9" name="Plan action 6 primary"/>
          <p:cNvSpPr txBox="1"/>
          <p:nvPr/>
        </p:nvSpPr>
        <p:spPr>
          <a:xfrm>
            <a:off x="804672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30" name="Plan action 6 recommendation label"/>
          <p:cNvSpPr txBox="1"/>
          <p:nvPr/>
        </p:nvSpPr>
        <p:spPr>
          <a:xfrm>
            <a:off x="640080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31" name="Plan action 6 recommendation"/>
          <p:cNvSpPr txBox="1"/>
          <p:nvPr/>
        </p:nvSpPr>
        <p:spPr>
          <a:xfrm>
            <a:off x="640080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lan action 6 agreed label"/>
          <p:cNvSpPr txBox="1"/>
          <p:nvPr/>
        </p:nvSpPr>
        <p:spPr>
          <a:xfrm>
            <a:off x="6473952" y="4325112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34" name="Plan action 6 agreed"/>
          <p:cNvSpPr txBox="1"/>
          <p:nvPr/>
        </p:nvSpPr>
        <p:spPr>
          <a:xfrm>
            <a:off x="647395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5" name="Plan action 6 Owner label"/>
          <p:cNvSpPr txBox="1"/>
          <p:nvPr/>
        </p:nvSpPr>
        <p:spPr>
          <a:xfrm>
            <a:off x="640080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36" name="Plan action 6 Owner"/>
          <p:cNvSpPr txBox="1"/>
          <p:nvPr/>
        </p:nvSpPr>
        <p:spPr>
          <a:xfrm>
            <a:off x="709574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7" name="Plan action 6 Contact label"/>
          <p:cNvSpPr txBox="1"/>
          <p:nvPr/>
        </p:nvSpPr>
        <p:spPr>
          <a:xfrm>
            <a:off x="908456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38" name="Plan action 6 Contact"/>
          <p:cNvSpPr txBox="1"/>
          <p:nvPr/>
        </p:nvSpPr>
        <p:spPr>
          <a:xfrm>
            <a:off x="977950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Plan action 6 ETA label"/>
          <p:cNvSpPr txBox="1"/>
          <p:nvPr/>
        </p:nvSpPr>
        <p:spPr>
          <a:xfrm>
            <a:off x="640080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40" name="Plan action 6 ETA"/>
          <p:cNvSpPr txBox="1"/>
          <p:nvPr/>
        </p:nvSpPr>
        <p:spPr>
          <a:xfrm>
            <a:off x="709574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1" name="Plan action 6 Follow-up KPI label"/>
          <p:cNvSpPr txBox="1"/>
          <p:nvPr/>
        </p:nvSpPr>
        <p:spPr>
          <a:xfrm>
            <a:off x="908456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42" name="Plan action 6 Follow-up KPI"/>
          <p:cNvSpPr txBox="1"/>
          <p:nvPr/>
        </p:nvSpPr>
        <p:spPr>
          <a:xfrm>
            <a:off x="1030071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Next check-in label"/>
          <p:cNvSpPr txBox="1"/>
          <p:nvPr/>
        </p:nvSpPr>
        <p:spPr>
          <a:xfrm>
            <a:off x="804672" y="624535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45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Additional agreed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dditional action 1"/>
          <p:cNvSpPr txBox="1"/>
          <p:nvPr/>
        </p:nvSpPr>
        <p:spPr>
          <a:xfrm>
            <a:off x="77724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1</a:t>
            </a:r>
          </a:p>
        </p:txBody>
      </p:sp>
      <p:sp>
        <p:nvSpPr>
          <p:cNvPr id="7" name="Additional action 1Action / Topic label"/>
          <p:cNvSpPr txBox="1"/>
          <p:nvPr/>
        </p:nvSpPr>
        <p:spPr>
          <a:xfrm>
            <a:off x="77724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dditional action 1Action / Topic"/>
          <p:cNvSpPr txBox="1"/>
          <p:nvPr/>
        </p:nvSpPr>
        <p:spPr>
          <a:xfrm>
            <a:off x="85039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0" name="Additional action 1Agreed Action label"/>
          <p:cNvSpPr txBox="1"/>
          <p:nvPr/>
        </p:nvSpPr>
        <p:spPr>
          <a:xfrm>
            <a:off x="777240" y="315468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dditional action 1Agreed Action"/>
          <p:cNvSpPr txBox="1"/>
          <p:nvPr/>
        </p:nvSpPr>
        <p:spPr>
          <a:xfrm>
            <a:off x="85039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3" name="Additional action 1Owner label"/>
          <p:cNvSpPr txBox="1"/>
          <p:nvPr/>
        </p:nvSpPr>
        <p:spPr>
          <a:xfrm>
            <a:off x="77724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4" name="Additional action 1Owner"/>
          <p:cNvSpPr txBox="1"/>
          <p:nvPr/>
        </p:nvSpPr>
        <p:spPr>
          <a:xfrm>
            <a:off x="77724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5" name="Additional action 1Contact label"/>
          <p:cNvSpPr txBox="1"/>
          <p:nvPr/>
        </p:nvSpPr>
        <p:spPr>
          <a:xfrm>
            <a:off x="346100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16" name="Additional action 1Contact"/>
          <p:cNvSpPr txBox="1"/>
          <p:nvPr/>
        </p:nvSpPr>
        <p:spPr>
          <a:xfrm>
            <a:off x="346100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7" name="Additional action 1ETA label"/>
          <p:cNvSpPr txBox="1"/>
          <p:nvPr/>
        </p:nvSpPr>
        <p:spPr>
          <a:xfrm>
            <a:off x="77724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18" name="Additional action 1ETA"/>
          <p:cNvSpPr txBox="1"/>
          <p:nvPr/>
        </p:nvSpPr>
        <p:spPr>
          <a:xfrm>
            <a:off x="77724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9" name="Additional action 1Follow-up KPI label"/>
          <p:cNvSpPr txBox="1"/>
          <p:nvPr/>
        </p:nvSpPr>
        <p:spPr>
          <a:xfrm>
            <a:off x="346100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0" name="Additional action 1Follow-up KPI"/>
          <p:cNvSpPr txBox="1"/>
          <p:nvPr/>
        </p:nvSpPr>
        <p:spPr>
          <a:xfrm>
            <a:off x="346100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dditional action 2"/>
          <p:cNvSpPr txBox="1"/>
          <p:nvPr/>
        </p:nvSpPr>
        <p:spPr>
          <a:xfrm>
            <a:off x="640080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2</a:t>
            </a:r>
          </a:p>
        </p:txBody>
      </p:sp>
      <p:sp>
        <p:nvSpPr>
          <p:cNvPr id="23" name="Additional action 2Action / Topic label"/>
          <p:cNvSpPr txBox="1"/>
          <p:nvPr/>
        </p:nvSpPr>
        <p:spPr>
          <a:xfrm>
            <a:off x="640080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dditional action 2Action / Topic"/>
          <p:cNvSpPr txBox="1"/>
          <p:nvPr/>
        </p:nvSpPr>
        <p:spPr>
          <a:xfrm>
            <a:off x="647395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6" name="Additional action 2Agreed Action label"/>
          <p:cNvSpPr txBox="1"/>
          <p:nvPr/>
        </p:nvSpPr>
        <p:spPr>
          <a:xfrm>
            <a:off x="6400800" y="315468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dditional action 2Agreed Action"/>
          <p:cNvSpPr txBox="1"/>
          <p:nvPr/>
        </p:nvSpPr>
        <p:spPr>
          <a:xfrm>
            <a:off x="647395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9" name="Additional action 2Owner label"/>
          <p:cNvSpPr txBox="1"/>
          <p:nvPr/>
        </p:nvSpPr>
        <p:spPr>
          <a:xfrm>
            <a:off x="640080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30" name="Additional action 2Owner"/>
          <p:cNvSpPr txBox="1"/>
          <p:nvPr/>
        </p:nvSpPr>
        <p:spPr>
          <a:xfrm>
            <a:off x="640080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1" name="Additional action 2Contact label"/>
          <p:cNvSpPr txBox="1"/>
          <p:nvPr/>
        </p:nvSpPr>
        <p:spPr>
          <a:xfrm>
            <a:off x="908456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32" name="Additional action 2Contact"/>
          <p:cNvSpPr txBox="1"/>
          <p:nvPr/>
        </p:nvSpPr>
        <p:spPr>
          <a:xfrm>
            <a:off x="908456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3" name="Additional action 2ETA label"/>
          <p:cNvSpPr txBox="1"/>
          <p:nvPr/>
        </p:nvSpPr>
        <p:spPr>
          <a:xfrm>
            <a:off x="640080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34" name="Additional action 2ETA"/>
          <p:cNvSpPr txBox="1"/>
          <p:nvPr/>
        </p:nvSpPr>
        <p:spPr>
          <a:xfrm>
            <a:off x="640080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5" name="Additional action 2Follow-up KPI label"/>
          <p:cNvSpPr txBox="1"/>
          <p:nvPr/>
        </p:nvSpPr>
        <p:spPr>
          <a:xfrm>
            <a:off x="908456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36" name="Additional action 2Follow-up KPI"/>
          <p:cNvSpPr txBox="1"/>
          <p:nvPr/>
        </p:nvSpPr>
        <p:spPr>
          <a:xfrm>
            <a:off x="908456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Next check-in label"/>
          <p:cNvSpPr txBox="1"/>
          <p:nvPr/>
        </p:nvSpPr>
        <p:spPr>
          <a:xfrm>
            <a:off x="804672" y="624535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39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პეტფუდი — საერთაშორისო პარტნიორი და შინაური ცხოველების მომსახურების ცენტრი Business Review</dc:title>
  <dc:subject>პეტფუდი — საერთაშორისო პარტნიორი და შინაური ცხოველების მომსახურების ცენტრი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
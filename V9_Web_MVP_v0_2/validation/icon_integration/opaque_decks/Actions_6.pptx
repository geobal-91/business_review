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99" r:id="rId33"/>
    <p:sldId id="260" r:id="rId11"/>
    <p:sldId id="300" r:id="rId23"/>
    <p:sldId id="261" r:id="rId12"/>
    <p:sldId id="301" r:id="rId22"/>
    <p:sldId id="266" r:id="rId17"/>
    <p:sldId id="268" r:id="rId19"/>
    <p:sldId id="292" r:id="rId44"/>
    <p:sldId id="302" r:id="rId21"/>
    <p:sldId id="303" r:id="rId20"/>
    <p:sldId id="304" r:id="rId18"/>
    <p:sldId id="305" r:id="rId16"/>
    <p:sldId id="306" r:id="rId15"/>
    <p:sldId id="307" r:id="rId14"/>
    <p:sldId id="308" r:id="rId13"/>
    <p:sldId id="309" r:id="rId51"/>
    <p:sldId id="278" r:id="rId29"/>
    <p:sldId id="279" r:id="rId30"/>
    <p:sldId id="310" r:id="rId52"/>
    <p:sldId id="311" r:id="rId53"/>
    <p:sldId id="312" r:id="rId54"/>
    <p:sldId id="313" r:id="rId55"/>
    <p:sldId id="280" r:id="rId31"/>
    <p:sldId id="281" r:id="rId32"/>
    <p:sldId id="298" r:id="rId50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6.xml"/><Relationship Id="rId12" Type="http://schemas.openxmlformats.org/officeDocument/2006/relationships/slide" Target="slides/slide8.xml"/><Relationship Id="rId13" Type="http://schemas.openxmlformats.org/officeDocument/2006/relationships/slide" Target="slides/slide43.xml"/><Relationship Id="rId14" Type="http://schemas.openxmlformats.org/officeDocument/2006/relationships/slide" Target="slides/slide42.xml"/><Relationship Id="rId15" Type="http://schemas.openxmlformats.org/officeDocument/2006/relationships/slide" Target="slides/slide41.xml"/><Relationship Id="rId16" Type="http://schemas.openxmlformats.org/officeDocument/2006/relationships/slide" Target="slides/slide40.xml"/><Relationship Id="rId17" Type="http://schemas.openxmlformats.org/officeDocument/2006/relationships/slide" Target="slides/slide10.xml"/><Relationship Id="rId18" Type="http://schemas.openxmlformats.org/officeDocument/2006/relationships/slide" Target="slides/slide39.xml"/><Relationship Id="rId19" Type="http://schemas.openxmlformats.org/officeDocument/2006/relationships/slide" Target="slides/slide11.xml"/><Relationship Id="rId20" Type="http://schemas.openxmlformats.org/officeDocument/2006/relationships/slide" Target="slides/slide38.xml"/><Relationship Id="rId21" Type="http://schemas.openxmlformats.org/officeDocument/2006/relationships/slide" Target="slides/slide37.xml"/><Relationship Id="rId22" Type="http://schemas.openxmlformats.org/officeDocument/2006/relationships/slide" Target="slides/slide9.xml"/><Relationship Id="rId23" Type="http://schemas.openxmlformats.org/officeDocument/2006/relationships/slide" Target="slides/slide7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5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notesMaster" Target="notesMasters/notesMaster1.xml"/><Relationship Id="rId44" Type="http://schemas.openxmlformats.org/officeDocument/2006/relationships/slide" Target="slides/slide12.xml"/><Relationship Id="rId50" Type="http://schemas.openxmlformats.org/officeDocument/2006/relationships/slide" Target="slides/slide27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€#,##0.00</c:formatCode>
                <c:ptCount val="2"/>
                <c:pt idx="0">
                  <c:v>32.32298136645963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€#,##0.00</c:formatCode>
                <c:ptCount val="2"/>
                <c:pt idx="1">
                  <c:v>16.710824014275204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42.01987577639752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0.03244107071514183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0.2640490936985056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3432638218080573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0.76875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0.9130246652046374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1869320647660286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0.06141932746366819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7984512570276865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0.20748829953198128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0.025352710300201548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2697347893915757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+0.0%;-0.0%;0.0%</c:formatCode>
                <c:ptCount val="2"/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+0.0%;-0.0%;0.0%</c:formatCode>
                <c:ptCount val="2"/>
                <c:pt idx="1">
                  <c:v>0.05342537960078331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694529934810183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+0.0%;-0.0%;0.0%</c:formatCode>
                <c:ptCount val="2"/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+0.0%;-0.0%;0.0%</c:formatCode>
                <c:ptCount val="2"/>
                <c:pt idx="1">
                  <c:v>0.03524329240563895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694529934810183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+0.0%;-0.0%;0.0%</c:formatCode>
                <c:ptCount val="2"/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+0.0%;-0.0%;0.0%</c:formatCode>
                <c:ptCount val="2"/>
                <c:pt idx="1">
                  <c:v>0.017563105531351875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694529934810183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GMV (€)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Jun 26</c:v>
                </c:pt>
                <c:pt idx="1">
                  <c:v>Jul 26</c:v>
                </c:pt>
                <c:pt idx="2">
                  <c:v>Aug 26</c:v>
                </c:pt>
              </c:strCache>
            </c:strRef>
          </c:cat>
          <c:val>
            <c:numRef>
              <c:f>Sheet1!$B$2:$B$4</c:f>
              <c:numCache>
                <c:formatCode>#,##0</c:formatCode>
                <c:ptCount val="3"/>
                <c:pt idx="0">
                  <c:v>26000.0</c:v>
                </c:pt>
                <c:pt idx="1">
                  <c:v>24000.0</c:v>
                </c:pt>
                <c:pt idx="2">
                  <c:v>26020.0</c:v>
                </c:pt>
              </c:numCache>
            </c:numRef>
          </c:val>
        </c:ser>
        <c:gapWidth val="85"/>
        <c:axId val="-2068027336"/>
        <c:axId val="-2113994440"/>
      </c:barChart>
      <c:lineChart>
        <c:grouping val="standard"/>
        <c:ser>
          <c:idx val="1"/>
          <c:order val="1"/>
          <c:tx>
            <c:strRef>
              <c:f>Sheet1!$C$1</c:f>
              <c:strCache>
                <c:ptCount val="1"/>
                <c:pt idx="0">
                  <c:v>Orders</c:v>
                </c:pt>
              </c:strCache>
            </c:strRef>
          </c:tx>
          <c:spPr>
            <a:ln w="31750">
              <a:solidFill>
                <a:srgbClr val="00A082"/>
              </a:solidFill>
            </a:ln>
          </c:spPr>
          <c:marker>
            <c:symbol val="circle"/>
            <c:size val="5"/>
            <c:spPr>
              <a:solidFill>
                <a:srgbClr val="00A082"/>
              </a:solidFill>
              <a:ln>
                <a:solidFill>
                  <a:srgbClr val="00A082"/>
                </a:solidFill>
              </a:ln>
            </c:spPr>
          </c:marker>
          <c:cat>
            <c:strRef>
              <c:f>Sheet1!$A$2:$A$4</c:f>
              <c:strCache>
                <c:ptCount val="3"/>
                <c:pt idx="0">
                  <c:v>Jun 26</c:v>
                </c:pt>
                <c:pt idx="1">
                  <c:v>Jul 26</c:v>
                </c:pt>
                <c:pt idx="2">
                  <c:v>Aug 26</c:v>
                </c:pt>
              </c:strCache>
            </c:strRef>
          </c:cat>
          <c:val>
            <c:numRef>
              <c:f>Sheet1!$C$2:$C$4</c:f>
              <c:numCache>
                <c:formatCode>#,##0</c:formatCode>
                <c:ptCount val="3"/>
                <c:pt idx="0">
                  <c:v>800.0</c:v>
                </c:pt>
                <c:pt idx="1">
                  <c:v>600.0</c:v>
                </c:pt>
                <c:pt idx="2">
                  <c:v>805.0</c:v>
                </c:pt>
              </c:numCache>
            </c:numRef>
          </c:val>
          <c:smooth val="0"/>
        </c:ser>
        <c:marker val="1"/>
        <c:smooth val="0"/>
        <c:axId val="901001"/>
        <c:axId val="901002"/>
      </c:line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numFmt formatCode="#,##0" sourceLinked="0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  <c:catAx>
        <c:axId val="901001"/>
        <c:scaling>
          <c:orientation val="minMax"/>
        </c:scaling>
        <c:delete val="1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901002"/>
        <c:crosses val="max"/>
        <c:auto val="1"/>
        <c:lblAlgn val="ctr"/>
        <c:lblOffset val="100"/>
        <c:noMultiLvlLbl val="0"/>
      </c:catAx>
      <c:valAx>
        <c:axId val="901002"/>
        <c:scaling>
          <c:min val="0.0"/>
        </c:scaling>
        <c:delete val="0"/>
        <c:axPos val="r"/>
        <c:numFmt formatCode="#,##0" sourceLinked="0"/>
        <c:majorTickMark val="none"/>
        <c:minorTickMark val="none"/>
        <c:tickLblPos val="high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901001"/>
        <c:crosses val="autoZero"/>
      </c:valAx>
    </c:plotArea>
    <c:legend>
      <c:legendPos val="t"/>
      <c:overlay val="0"/>
      <c:txPr>
        <a:bodyPr/>
        <a:lstStyle/>
        <a:p>
          <a:pPr>
            <a:defRPr sz="900">
              <a:latin typeface="Montserrat"/>
            </a:defRPr>
          </a:pPr>
        </a:p>
      </c:txPr>
    </c:legend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 Sessions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Jun 26</c:v>
                </c:pt>
                <c:pt idx="1">
                  <c:v>Jul 26</c:v>
                </c:pt>
                <c:pt idx="2">
                  <c:v>Aug 26</c:v>
                </c:pt>
              </c:strCache>
            </c:strRef>
          </c:cat>
          <c:val>
            <c:numRef>
              <c:f>Sheet1!$B$2:$B$4</c:f>
              <c:numCache>
                <c:formatCode>#,##0</c:formatCode>
                <c:ptCount val="3"/>
                <c:pt idx="0">
                  <c:v>25000.0</c:v>
                </c:pt>
                <c:pt idx="1">
                  <c:v>24000.0</c:v>
                </c:pt>
                <c:pt idx="2">
                  <c:v>25030.0</c:v>
                </c:pt>
              </c:numCache>
            </c:numRef>
          </c:val>
        </c:ser>
        <c:gapWidth val="85"/>
        <c:axId val="-2068027336"/>
        <c:axId val="-2113994440"/>
      </c:barChart>
      <c:lineChart>
        <c:grouping val="standard"/>
        <c:ser>
          <c:idx val="1"/>
          <c:order val="1"/>
          <c:tx>
            <c:strRef>
              <c:f>Sheet1!$C$1</c:f>
              <c:strCache>
                <c:ptCount val="1"/>
                <c:pt idx="0">
                  <c:v>Partner CVR</c:v>
                </c:pt>
              </c:strCache>
            </c:strRef>
          </c:tx>
          <c:spPr>
            <a:ln w="31750">
              <a:solidFill>
                <a:srgbClr val="00A082"/>
              </a:solidFill>
            </a:ln>
          </c:spPr>
          <c:marker>
            <c:symbol val="circle"/>
            <c:size val="5"/>
            <c:spPr>
              <a:solidFill>
                <a:srgbClr val="00A082"/>
              </a:solidFill>
              <a:ln>
                <a:solidFill>
                  <a:srgbClr val="00A082"/>
                </a:solidFill>
              </a:ln>
            </c:spPr>
          </c:marker>
          <c:cat>
            <c:strRef>
              <c:f>Sheet1!$A$2:$A$4</c:f>
              <c:strCache>
                <c:ptCount val="3"/>
                <c:pt idx="0">
                  <c:v>Jun 26</c:v>
                </c:pt>
                <c:pt idx="1">
                  <c:v>Jul 26</c:v>
                </c:pt>
                <c:pt idx="2">
                  <c:v>Aug 26</c:v>
                </c:pt>
              </c:strCache>
            </c:strRef>
          </c:cat>
          <c:val>
            <c:numRef>
              <c:f>Sheet1!$C$2:$C$4</c:f>
              <c:numCache>
                <c:formatCode>0.0%</c:formatCode>
                <c:ptCount val="3"/>
                <c:pt idx="0">
                  <c:v>0.032</c:v>
                </c:pt>
                <c:pt idx="1">
                  <c:v>0.025</c:v>
                </c:pt>
                <c:pt idx="2">
                  <c:v>0.03244107071514183</c:v>
                </c:pt>
              </c:numCache>
            </c:numRef>
          </c:val>
          <c:smooth val="0"/>
        </c:ser>
        <c:marker val="1"/>
        <c:smooth val="0"/>
        <c:axId val="901001"/>
        <c:axId val="901002"/>
      </c:line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numFmt formatCode="#,##0" sourceLinked="0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  <c:catAx>
        <c:axId val="901001"/>
        <c:scaling>
          <c:orientation val="minMax"/>
        </c:scaling>
        <c:delete val="1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901002"/>
        <c:crosses val="max"/>
        <c:auto val="1"/>
        <c:lblAlgn val="ctr"/>
        <c:lblOffset val="100"/>
        <c:noMultiLvlLbl val="0"/>
      </c:catAx>
      <c:valAx>
        <c:axId val="901002"/>
        <c:scaling>
          <c:min val="0.0"/>
        </c:scaling>
        <c:delete val="0"/>
        <c:axPos val="r"/>
        <c:numFmt formatCode="0%" sourceLinked="0"/>
        <c:majorTickMark val="none"/>
        <c:minorTickMark val="none"/>
        <c:tickLblPos val="high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901001"/>
        <c:crosses val="autoZero"/>
      </c:valAx>
    </c:plotArea>
    <c:legend>
      <c:legendPos val="t"/>
      <c:overlay val="0"/>
      <c:txPr>
        <a:bodyPr/>
        <a:lstStyle/>
        <a:p>
          <a:pPr>
            <a:defRPr sz="900">
              <a:latin typeface="Montserrat"/>
            </a:defRPr>
          </a:pPr>
        </a:p>
      </c:txPr>
    </c:legend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95% target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0.76875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95% target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95% target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0.95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2349999999999999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0.06141932746366819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7984512570276865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0.20748829953198128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0.025352710300201548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2697347893915757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Existing Beta2 analysis output and presentation.context; input hashes in the unchanged audit export.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Existing Beta2 analysis output and presentation.context; input hashes in the unchanged audit export.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Existing Beta2 analysis output and presentation.context; input hashes in the unchanged audit export.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  <a:p>
            <a:r>
              <a:t>V2.1 business triage:</a:t>
            </a:r>
          </a:p>
          <a:p>
            <a:r>
              <a:t>{"Business Classification": "MONITOR", "Action Reason": "", "Supporting Rule Matches": [], "Primary Action KPI": "Uptime", "Likely Operational Driver": "Store availability; investigate scheduling / execution", "Operational/Data State": ["COMPLETE"]}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  <a:p>
            <a:r>
              <a:t>V2.1 business triage:</a:t>
            </a:r>
          </a:p>
          <a:p>
            <a:r>
              <a:t>{"Business Classification": "ACTION", "Action Reason": "BASE_PRIORITY", "Supporting Rule Matches": [], "Primary Action KPI": "PNA", "Likely Operational Driver": "Availability / stock synchronization; possible contributing factor", "Operational/Data State": ["COMPLETE"]}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  <a:p>
            <a:r>
              <a:t>V2.1 business triage:</a:t>
            </a:r>
          </a:p>
          <a:p>
            <a:r>
              <a:t>{"Business Classification": "ACTION", "Action Reason": "BASE_PRIORITY", "Supporting Rule Matches": [], "Primary Action KPI": "PNA", "Likely Operational Driver": "Availability / stock synchronization; possible contributing factor", "Operational/Data State": ["COMPLETE"]}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  <a:p>
            <a:r>
              <a:t>V2.1 business triage:</a:t>
            </a:r>
          </a:p>
          <a:p>
            <a:r>
              <a:t>{"Business Classification": "ACTION", "Action Reason": "BASE_PRIORITY", "Supporting Rule Matches": [], "Primary Action KPI": "PNA", "Likely Operational Driver": "Availability / stock synchronization; possible contributing factor", "Operational/Data State": ["COMPLETE"]}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  <a:p>
            <a:r>
              <a:t>V2.1 business triage:</a:t>
            </a:r>
          </a:p>
          <a:p>
            <a:r>
              <a:t>{"Business Classification": "ACTION", "Action Reason": "BASE_PRIORITY", "Supporting Rule Matches": [], "Primary Action KPI": "PNA", "Likely Operational Driver": "Availability / stock synchronization; possible contributing factor", "Operational/Data State": ["COMPLETE"]}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  <a:p>
            <a:r>
              <a:t>V2.1 business triage:</a:t>
            </a:r>
          </a:p>
          <a:p>
            <a:r>
              <a:t>{"Business Classification": "ACTION", "Action Reason": "BASE_PRIORITY", "Supporting Rule Matches": [], "Primary Action KPI": "PNA", "Likely Operational Driver": "Availability / stock synchronization; possible contributing factor", "Operational/Data State": ["COMPLETE"]}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  <a:p>
            <a:r>
              <a:t>V2.1 business triage:</a:t>
            </a:r>
          </a:p>
          <a:p>
            <a:r>
              <a:t>{"Business Classification": "ACTION", "Action Reason": "BASE_PRIORITY", "Supporting Rule Matches": [], "Primary Action KPI": "PNA", "Likely Operational Driver": "Availability / stock synchronization; possible contributing factor", "Operational/Data State": ["COMPLETE"]}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  <a:p>
            <a:r>
              <a:t>V2.1 business triage:</a:t>
            </a:r>
          </a:p>
          <a:p>
            <a:r>
              <a:t>{"Business Classification": "UNCLASSIFIED", "Action Reason": "", "Supporting Rule Matches": [], "Primary Action KPI": "CVR", "Likely Operational Driver": "Not assessed; review lifecycle / data evidence", "Operational/Data State": ["DATA_REVIEW"]}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  <a:p>
            <a:r>
              <a:t>V2.1 business triage:</a:t>
            </a:r>
          </a:p>
          <a:p>
            <a:r>
              <a:t>{"Business Classification": "UNCLASSIFIED", "Action Reason": "", "Supporting Rule Matches": [], "Primary Action KPI": "None", "Likely Operational Driver": "Not assessed; review lifecycle / data evidence", "Operational/Data State": ["MISSING_CURRENT"]}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Relationship Id="rId5" Type="http://schemas.openxmlformats.org/officeDocument/2006/relationships/chart" Target="../charts/chart4.xml"/><Relationship Id="rId6" Type="http://schemas.openxmlformats.org/officeDocument/2006/relationships/chart" Target="../charts/chart5.xml"/><Relationship Id="rId7" Type="http://schemas.openxmlformats.org/officeDocument/2006/relationships/notesSlide" Target="../notesSlides/notesSlide2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Relationship Id="rId3" Type="http://schemas.openxmlformats.org/officeDocument/2006/relationships/chart" Target="../charts/chart7.xml"/><Relationship Id="rId4" Type="http://schemas.openxmlformats.org/officeDocument/2006/relationships/chart" Target="../charts/chart8.xml"/><Relationship Id="rId5" Type="http://schemas.openxmlformats.org/officeDocument/2006/relationships/notesSlide" Target="../notesSlides/notesSlide1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Relationship Id="rId3" Type="http://schemas.openxmlformats.org/officeDocument/2006/relationships/chart" Target="../charts/chart10.xml"/><Relationship Id="rId4" Type="http://schemas.openxmlformats.org/officeDocument/2006/relationships/notesSlide" Target="../notesSlides/notesSlide1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chart" Target="../charts/chart11.xml"/><Relationship Id="rId4" Type="http://schemas.openxmlformats.org/officeDocument/2006/relationships/chart" Target="../charts/chart12.xml"/><Relationship Id="rId5" Type="http://schemas.openxmlformats.org/officeDocument/2006/relationships/chart" Target="../charts/chart1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9.xml"/><Relationship Id="rId3" Type="http://schemas.openxmlformats.org/officeDocument/2006/relationships/slide" Target="slide30.xml"/><Relationship Id="rId4" Type="http://schemas.openxmlformats.org/officeDocument/2006/relationships/slide" Target="slide31.xml"/><Relationship Id="rId5" Type="http://schemas.openxmlformats.org/officeDocument/2006/relationships/slide" Target="slide32.xml"/><Relationship Id="rId6" Type="http://schemas.openxmlformats.org/officeDocument/2006/relationships/slide" Target="slide33.xml"/><Relationship Id="rId7" Type="http://schemas.openxmlformats.org/officeDocument/2006/relationships/slide" Target="slide34.xml"/><Relationship Id="rId8" Type="http://schemas.openxmlformats.org/officeDocument/2006/relationships/slide" Target="slide28.xml"/><Relationship Id="rId9" Type="http://schemas.openxmlformats.org/officeDocument/2006/relationships/slide" Target="slide35.xml"/><Relationship Id="rId10" Type="http://schemas.openxmlformats.org/officeDocument/2006/relationships/slide" Target="slide3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1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9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8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3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notesSlide" Target="../notesSlides/notesSlide38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notesSlide" Target="../notesSlides/notesSlide39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notesSlide" Target="../notesSlides/notesSlide40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CC3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307969"/>
            <a:ext cx="2331720" cy="76480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485632" y="256032"/>
            <a:ext cx="22860" cy="841248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artn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8479" y="274320"/>
            <a:ext cx="2509024" cy="822960"/>
          </a:xfrm>
          <a:prstGeom prst="rect">
            <a:avLst/>
          </a:prstGeom>
        </p:spPr>
      </p:pic>
      <p:sp>
        <p:nvSpPr>
          <p:cNvPr id="5" name="Presentation identity title"/>
          <p:cNvSpPr txBox="1"/>
          <p:nvPr/>
        </p:nvSpPr>
        <p:spPr>
          <a:xfrm>
            <a:off x="731520" y="214884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232323"/>
                </a:solidFill>
                <a:latin typeface="Montserrat"/>
              </a:defRPr>
            </a:pPr>
            <a:r>
              <a:t>პეტფუდი — საერთაშორისო პარტნიორი და შინაური ცხოველების მომსახურების ცენტრი Business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97180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232323"/>
                </a:solidFill>
                <a:latin typeface="Montserrat"/>
              </a:defRPr>
            </a:pPr>
            <a:r>
              <a:t>August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4290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232323"/>
                </a:solidFill>
                <a:latin typeface="Montserrat"/>
              </a:defRPr>
            </a:pPr>
            <a:r>
              <a:t>Sub-Business Unit: PETS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PETS Business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Latest SBU performance —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GMV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€152,169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5.3% vs prev. month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Orders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9,106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3.5% vs prev. month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932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20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AOV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€16.71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1.8% vs prev. month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7824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19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CVR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19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26.4%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19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0.3 pp vs prev. month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333756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Composition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3730752"/>
            <a:ext cx="5120640" cy="196596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3977639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3977639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00A082"/>
                </a:solidFill>
                <a:latin typeface="Montserrat"/>
              </a:defRPr>
            </a:pPr>
            <a:r>
              <a:t>+5.3%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63240" y="4050791"/>
            <a:ext cx="732782" cy="146304"/>
          </a:xfrm>
          <a:prstGeom prst="roundRect">
            <a:avLst/>
          </a:prstGeom>
          <a:solidFill>
            <a:srgbClr val="00A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4462272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Orders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4462272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00A082"/>
                </a:solidFill>
                <a:latin typeface="Montserrat"/>
              </a:defRPr>
            </a:pPr>
            <a:r>
              <a:t>+3.5%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063240" y="4535424"/>
            <a:ext cx="483396" cy="146304"/>
          </a:xfrm>
          <a:prstGeom prst="roundRect">
            <a:avLst/>
          </a:prstGeom>
          <a:solidFill>
            <a:srgbClr val="00A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4946904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AOV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57400" y="4946904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00A082"/>
                </a:solidFill>
                <a:latin typeface="Montserrat"/>
              </a:defRPr>
            </a:pPr>
            <a:r>
              <a:t>+1.8%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063240" y="5020056"/>
            <a:ext cx="240895" cy="146304"/>
          </a:xfrm>
          <a:prstGeom prst="roundRect">
            <a:avLst/>
          </a:prstGeom>
          <a:solidFill>
            <a:srgbClr val="00A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72200" y="333756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Key Takeaways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72200" y="3730752"/>
            <a:ext cx="5394960" cy="196596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46520" y="3995928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• GMV increased 5.3% vs previous month.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4498848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• Both order volume and average basket supported growth.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5001768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• CVR improved by 0.3 pp to 26.4%.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PETS Performance Trend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Last 12 available months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bu_performance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10789920" cy="43434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85800" y="5961888"/>
            <a:ext cx="10835640" cy="50292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609904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1">
                <a:solidFill>
                  <a:srgbClr val="232323"/>
                </a:solidFill>
                <a:latin typeface="Montserrat"/>
              </a:defRPr>
            </a:pPr>
            <a:r>
              <a:t>Across the displayed period, PETS GMV changed +100.4%, while orders changed +73.2%.</a:t>
            </a:r>
          </a:p>
        </p:txBody>
      </p:sp>
      <p:pic>
        <p:nvPicPr>
          <p:cNvPr id="8" name="Picture 7" descr="sbu_pe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551308"/>
            <a:ext cx="1371600" cy="136626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32323"/>
                </a:solidFill>
                <a:latin typeface="Montserrat"/>
              </a:defRPr>
            </a:pPr>
            <a:r>
              <a:t>პეტფუდი — საერთაშორისო პარტნიორი და შინაური ცხოველების მომსახურების ცენტრი vs PETS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Reporting period: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1225295"/>
            <a:ext cx="10460736" cy="521207"/>
          </a:xfrm>
          <a:prstGeom prst="roundRect">
            <a:avLst/>
          </a:prstGeom>
          <a:solidFill>
            <a:srgbClr val="EBEBEB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98448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KPI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Partner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1298448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Gap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719072"/>
            <a:ext cx="10241280" cy="13716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9933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19933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€32.32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19933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€16.71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1993392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Not assessed — incomplete store coverage.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6791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6791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3.2%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26791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26.4%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2679192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Not assessed — incomplete store coverage.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3649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3649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76.9%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0" y="33649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91.3%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3364992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Not assessed — incomplete store coverage.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050791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4050791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60" y="4050791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6.1%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4050791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Not assessed — incomplete store coverage.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7365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47365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20.7%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52160" y="47365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4736592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Not assessed — incomplete store coverage.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5961888"/>
            <a:ext cx="10835640" cy="50292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609904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1">
                <a:solidFill>
                  <a:srgbClr val="232323"/>
                </a:solidFill>
                <a:latin typeface="Montserrat"/>
              </a:defRPr>
            </a:pPr>
            <a:r>
              <a:t>Not assessed — incomplete store coverage. Raw values use August 2026.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პეტფუდი — საერთაშორისო პარტნიორი და შინაური ცხოველების მომსახურების ცენტრი vs PETS · Visual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August 2026 · Comparable performance metrics · Each metric uses its own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27632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 (€)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423160" y="1426464"/>
          <a:ext cx="5257800" cy="81381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26679" y="152933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€32.32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26679" y="1936242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€16.71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15400" y="1563624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Not assessed — incomplete store coverage.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487168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CVR (%)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2423160" y="2286000"/>
          <a:ext cx="5257800" cy="813816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726679" y="238887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3.2%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2795778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26.4%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400" y="2423160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Not assessed — incomplete store coverage.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346704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Uptime (%)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2423160" y="3145536"/>
          <a:ext cx="5257800" cy="813816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7726679" y="3248406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76.9%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679" y="365531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91.3%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400" y="3282696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Not assessed — incomplete store coverage.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2062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PNA (%)</a:t>
            </a:r>
          </a:p>
        </p:txBody>
      </p:sp>
      <p:graphicFrame>
        <p:nvGraphicFramePr>
          <p:cNvPr id="21" name="Chart 20"/>
          <p:cNvGraphicFramePr>
            <a:graphicFrameLocks noGrp="1"/>
          </p:cNvGraphicFramePr>
          <p:nvPr/>
        </p:nvGraphicFramePr>
        <p:xfrm>
          <a:off x="2423160" y="4005072"/>
          <a:ext cx="5257800" cy="813816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7726679" y="41079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26679" y="4514849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6.1%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15400" y="4142232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Not assessed — incomplete store coverage.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065776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Cancels (%)</a:t>
            </a:r>
          </a:p>
        </p:txBody>
      </p:sp>
      <p:graphicFrame>
        <p:nvGraphicFramePr>
          <p:cNvPr id="26" name="Chart 25"/>
          <p:cNvGraphicFramePr>
            <a:graphicFrameLocks noGrp="1"/>
          </p:cNvGraphicFramePr>
          <p:nvPr/>
        </p:nvGraphicFramePr>
        <p:xfrm>
          <a:off x="2423160" y="4864608"/>
          <a:ext cx="5257800" cy="813816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7726679" y="4967478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20.7%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26679" y="5374386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15400" y="5001768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Not assessed — incomplete store coverage.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989320"/>
            <a:ext cx="10652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Not assessed — incomplete store coverage. Raw values shown.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პეტფუდი — საერთაშორისო პარტნიორი და შინაური ცხოველების მომსახურების ცენტრი Growth vs PETS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MoM growth comparison —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1225295"/>
            <a:ext cx="10460736" cy="521207"/>
          </a:xfrm>
          <a:prstGeom prst="roundRect">
            <a:avLst/>
          </a:prstGeom>
          <a:solidFill>
            <a:srgbClr val="EBEBEB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98448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KPI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Partner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1298448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719072"/>
            <a:ext cx="10241280" cy="13716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01168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GMV Growth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201168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+5.3%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78892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Orders Growth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278892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+3.5%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56616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 Growth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356616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+1.8%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608076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6E6E6E"/>
                </a:solidFill>
                <a:latin typeface="Montserrat"/>
              </a:defRPr>
            </a:pPr>
            <a:r>
              <a:t>Partner MoM: Not comparable — incomplete store coverage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პეტფუდი — საერთაშორისო პარტნიორი და შინაური ცხოველების მომსახურების ცენტრი Growth vs PETS · Visual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MoM growth comparison — August 2026 · Shared percentage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4767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GMV Growth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514600" y="1554480"/>
          <a:ext cx="5120640" cy="112471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680960" y="1735073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229743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+5.3%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1819656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  <a:br/>
            <a:r>
              <a:t>Comparison unavailable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31927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Orders Growth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2514600" y="2926080"/>
          <a:ext cx="5120640" cy="112471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680960" y="310667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366903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+3.5%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0" y="3191256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  <a:br/>
            <a:r>
              <a:t>Comparison unavailable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69087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 Growth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2514600" y="4297680"/>
          <a:ext cx="5120640" cy="1124712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7680960" y="447827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504063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+1.8%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4562856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  <a:br/>
            <a:r>
              <a:t>Comparison unavailable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08076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6E6E6E"/>
                </a:solidFill>
                <a:latin typeface="Montserrat"/>
              </a:defRPr>
            </a:pPr>
            <a:r>
              <a:t>Partner MoM: Not comparable — incomplete store coverage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პეტფუდი — საერთაშორისო პარტნიორი და შინაური ცხოველების მომსახურების ცენტრი Share of PETS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Partner GMV as a share of PETS GMV —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291840" cy="18288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91056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Share of PETS GMV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83664"/>
            <a:ext cx="29260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17.1%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29260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15184"/>
            <a:ext cx="29260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pic>
        <p:nvPicPr>
          <p:cNvPr id="10" name="Picture 9" descr="partner_sbu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325880"/>
            <a:ext cx="6949440" cy="42062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80644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Share comparisons involving incomplete store coverage are not comparable.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პეტფუდი — საერთაშორისო პარტნიორი და შინაური ცხოველების მომსახურების ცენტრი Performance &amp; Conversion Evolution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Monthly GMV and delivered orders · Partner sessions and conversion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GMV &amp; Orders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31520" y="1682496"/>
          <a:ext cx="5852160" cy="194767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" y="3877056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Partner Sessions × Partner CVR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31520" y="4187952"/>
          <a:ext cx="5852160" cy="194767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Meeting KPI GMV 0"/>
          <p:cNvSpPr/>
          <p:nvPr/>
        </p:nvSpPr>
        <p:spPr>
          <a:xfrm>
            <a:off x="6812280" y="1508760"/>
            <a:ext cx="233172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Meeting KPI GMV 1"/>
          <p:cNvSpPr txBox="1"/>
          <p:nvPr/>
        </p:nvSpPr>
        <p:spPr>
          <a:xfrm>
            <a:off x="6995160" y="1636776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1" name="Meeting KPI GMV 2"/>
          <p:cNvSpPr txBox="1"/>
          <p:nvPr/>
        </p:nvSpPr>
        <p:spPr>
          <a:xfrm>
            <a:off x="6995160" y="1929384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€26,020</a:t>
            </a:r>
          </a:p>
        </p:txBody>
      </p:sp>
      <p:sp>
        <p:nvSpPr>
          <p:cNvPr id="12" name="Meeting KPI GMV 3"/>
          <p:cNvSpPr txBox="1"/>
          <p:nvPr/>
        </p:nvSpPr>
        <p:spPr>
          <a:xfrm>
            <a:off x="6995160" y="2377439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3" name="Meeting KPI Orders 0"/>
          <p:cNvSpPr/>
          <p:nvPr/>
        </p:nvSpPr>
        <p:spPr>
          <a:xfrm>
            <a:off x="9464040" y="1508760"/>
            <a:ext cx="233172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Meeting KPI Orders 1"/>
          <p:cNvSpPr txBox="1"/>
          <p:nvPr/>
        </p:nvSpPr>
        <p:spPr>
          <a:xfrm>
            <a:off x="9646919" y="1636776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Orders</a:t>
            </a:r>
          </a:p>
        </p:txBody>
      </p:sp>
      <p:sp>
        <p:nvSpPr>
          <p:cNvPr id="15" name="Meeting KPI Orders 2"/>
          <p:cNvSpPr txBox="1"/>
          <p:nvPr/>
        </p:nvSpPr>
        <p:spPr>
          <a:xfrm>
            <a:off x="9646919" y="1929384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805</a:t>
            </a:r>
          </a:p>
        </p:txBody>
      </p:sp>
      <p:sp>
        <p:nvSpPr>
          <p:cNvPr id="16" name="Meeting KPI Orders 3"/>
          <p:cNvSpPr txBox="1"/>
          <p:nvPr/>
        </p:nvSpPr>
        <p:spPr>
          <a:xfrm>
            <a:off x="9646919" y="2377439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7" name="Meeting KPI Partner Sessions 0"/>
          <p:cNvSpPr/>
          <p:nvPr/>
        </p:nvSpPr>
        <p:spPr>
          <a:xfrm>
            <a:off x="6812280" y="4023360"/>
            <a:ext cx="233172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Meeting KPI Partner Sessions 1"/>
          <p:cNvSpPr txBox="1"/>
          <p:nvPr/>
        </p:nvSpPr>
        <p:spPr>
          <a:xfrm>
            <a:off x="6995160" y="4151376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Sessions</a:t>
            </a:r>
          </a:p>
        </p:txBody>
      </p:sp>
      <p:sp>
        <p:nvSpPr>
          <p:cNvPr id="19" name="Meeting KPI Partner Sessions 2"/>
          <p:cNvSpPr txBox="1"/>
          <p:nvPr/>
        </p:nvSpPr>
        <p:spPr>
          <a:xfrm>
            <a:off x="6995160" y="4443984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25,030</a:t>
            </a:r>
          </a:p>
        </p:txBody>
      </p:sp>
      <p:sp>
        <p:nvSpPr>
          <p:cNvPr id="20" name="Meeting KPI Partner Sessions 3"/>
          <p:cNvSpPr txBox="1"/>
          <p:nvPr/>
        </p:nvSpPr>
        <p:spPr>
          <a:xfrm>
            <a:off x="6995160" y="4892040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21" name="Meeting KPI Partner CVR 0"/>
          <p:cNvSpPr/>
          <p:nvPr/>
        </p:nvSpPr>
        <p:spPr>
          <a:xfrm>
            <a:off x="9464040" y="4023360"/>
            <a:ext cx="233172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Meeting KPI Partner CVR 1"/>
          <p:cNvSpPr txBox="1"/>
          <p:nvPr/>
        </p:nvSpPr>
        <p:spPr>
          <a:xfrm>
            <a:off x="9646919" y="4151376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CVR</a:t>
            </a:r>
          </a:p>
        </p:txBody>
      </p:sp>
      <p:sp>
        <p:nvSpPr>
          <p:cNvPr id="23" name="Meeting KPI Partner CVR 2"/>
          <p:cNvSpPr txBox="1"/>
          <p:nvPr/>
        </p:nvSpPr>
        <p:spPr>
          <a:xfrm>
            <a:off x="9646919" y="4443984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3.2%</a:t>
            </a:r>
          </a:p>
        </p:txBody>
      </p:sp>
      <p:sp>
        <p:nvSpPr>
          <p:cNvPr id="24" name="Meeting KPI Partner CVR 3"/>
          <p:cNvSpPr txBox="1"/>
          <p:nvPr/>
        </p:nvSpPr>
        <p:spPr>
          <a:xfrm>
            <a:off x="9646919" y="4892040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25" name="Meeting KPI Partner CVR 4"/>
          <p:cNvSpPr txBox="1"/>
          <p:nvPr/>
        </p:nvSpPr>
        <p:spPr>
          <a:xfrm>
            <a:off x="9646919" y="5230368"/>
            <a:ext cx="19659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Not assessed — incomplete store coverage.</a:t>
            </a:r>
          </a:p>
        </p:txBody>
      </p:sp>
      <p:sp>
        <p:nvSpPr>
          <p:cNvPr id="26" name="Meeting interpretation top 0"/>
          <p:cNvSpPr txBox="1"/>
          <p:nvPr/>
        </p:nvSpPr>
        <p:spPr>
          <a:xfrm>
            <a:off x="6812280" y="3273552"/>
            <a:ext cx="4983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• GMV MoM comparison unavailable.</a:t>
            </a:r>
          </a:p>
        </p:txBody>
      </p:sp>
      <p:sp>
        <p:nvSpPr>
          <p:cNvPr id="27" name="Meeting interpretation conversion"/>
          <p:cNvSpPr txBox="1"/>
          <p:nvPr/>
        </p:nvSpPr>
        <p:spPr>
          <a:xfrm>
            <a:off x="6812280" y="5843016"/>
            <a:ext cx="4983480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• Partner CVR: Not assessed — incomplete store coverage.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Operational Health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Latest partner performance — Uptime vs 95% target; PNA/Cancels vs PETS (August 2026)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338328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9961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Operating Store Uptime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92224"/>
            <a:ext cx="30175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76.9%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40280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MoM: Not comparable — incomplete store coverage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23744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Target: 95.0%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71600"/>
            <a:ext cx="338328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49961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PNA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792224"/>
            <a:ext cx="30175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240280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MoM: Not comparable — incomplete store coverage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523744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SBU PNA: 6.1%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371600"/>
            <a:ext cx="338328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19" y="149961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Cancels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9" y="1792224"/>
            <a:ext cx="30175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20.7%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19" y="2240280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MoM: Not comparable — incomplete store coverage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19" y="2523744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SBU Cancels: 2.5%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154680"/>
            <a:ext cx="10241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6E6E6E"/>
                </a:solidFill>
                <a:latin typeface="Montserrat"/>
              </a:defRPr>
            </a:pPr>
            <a:r>
              <a:t>Partner benchmark / target comparisons: Not assessed — incomplete store coverage.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422392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Interpretation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797296"/>
            <a:ext cx="102412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Raw rates reflect stores with current data. Uptime coverage: 8/8 operating stores. Missing current store records: 1.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  <p:graphicFrame>
        <p:nvGraphicFramePr>
          <p:cNvPr id="24" name="Chart 23"/>
          <p:cNvGraphicFramePr>
            <a:graphicFrameLocks noGrp="1"/>
          </p:cNvGraphicFramePr>
          <p:nvPr/>
        </p:nvGraphicFramePr>
        <p:xfrm>
          <a:off x="685800" y="3584448"/>
          <a:ext cx="2423160" cy="158191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3154680" y="38793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76.9%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54680" y="4670297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95.0%</a:t>
            </a:r>
          </a:p>
        </p:txBody>
      </p:sp>
      <p:graphicFrame>
        <p:nvGraphicFramePr>
          <p:cNvPr id="27" name="Chart 26"/>
          <p:cNvGraphicFramePr>
            <a:graphicFrameLocks noGrp="1"/>
          </p:cNvGraphicFramePr>
          <p:nvPr/>
        </p:nvGraphicFramePr>
        <p:xfrm>
          <a:off x="4389120" y="3584448"/>
          <a:ext cx="2423160" cy="1581912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6858000" y="38793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4670297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6.1%</a:t>
            </a:r>
          </a:p>
        </p:txBody>
      </p:sp>
      <p:graphicFrame>
        <p:nvGraphicFramePr>
          <p:cNvPr id="30" name="Chart 29"/>
          <p:cNvGraphicFramePr>
            <a:graphicFrameLocks noGrp="1"/>
          </p:cNvGraphicFramePr>
          <p:nvPr/>
        </p:nvGraphicFramePr>
        <p:xfrm>
          <a:off x="8092440" y="3584448"/>
          <a:ext cx="2423160" cy="1581912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10561320" y="38793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20.7%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61320" y="4670297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Top GMV Stores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2648" y="1417320"/>
            <a:ext cx="7818120" cy="448056"/>
          </a:xfrm>
          <a:prstGeom prst="roundRect">
            <a:avLst>
              <a:gd name="adj" fmla="val 9000"/>
            </a:avLst>
          </a:prstGeom>
          <a:solidFill>
            <a:srgbClr val="FFFB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36192"/>
            <a:ext cx="24505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Store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93592" y="1536192"/>
            <a:ext cx="9418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81728" y="1536192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Commercial status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0256" y="1536192"/>
            <a:ext cx="16642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Operational status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" y="1965960"/>
            <a:ext cx="7818120" cy="649224"/>
          </a:xfrm>
          <a:prstGeom prst="roundRect">
            <a:avLst>
              <a:gd name="adj" fmla="val 9000"/>
            </a:avLst>
          </a:prstGeom>
          <a:solidFill>
            <a:srgbClr val="F7F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093976"/>
            <a:ext cx="21945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039112"/>
            <a:ext cx="245059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პეტფუდი — შინაური ცხოველების კვებისა და ვეტერინარული მომსახურების ცენტრი, ჭავჭავაძის გამზირი 123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3592" y="2039112"/>
            <a:ext cx="9418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1728" y="2039112"/>
            <a:ext cx="1783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Conversion Opportunity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0256" y="2039112"/>
            <a:ext cx="166420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Operational Risk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" y="2670048"/>
            <a:ext cx="7818120" cy="64922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798064"/>
            <a:ext cx="21945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2743200"/>
            <a:ext cx="245059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Pet supplies branch 1, Rustaveli Avenue 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93592" y="2743200"/>
            <a:ext cx="9418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81728" y="2743200"/>
            <a:ext cx="1783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Conversion Opportunity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0256" y="2743200"/>
            <a:ext cx="166420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Operational Risk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8" y="3374136"/>
            <a:ext cx="7818120" cy="649224"/>
          </a:xfrm>
          <a:prstGeom prst="roundRect">
            <a:avLst>
              <a:gd name="adj" fmla="val 9000"/>
            </a:avLst>
          </a:prstGeom>
          <a:solidFill>
            <a:srgbClr val="F7F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502152"/>
            <a:ext cx="21945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3447288"/>
            <a:ext cx="245059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Pet supplies branch 2, Rustaveli Avenue 15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93592" y="3447288"/>
            <a:ext cx="9418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81728" y="3447288"/>
            <a:ext cx="1783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Conversion Opportunity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0256" y="3447288"/>
            <a:ext cx="166420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Operational Risk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2648" y="4078224"/>
            <a:ext cx="7818120" cy="64922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4206240"/>
            <a:ext cx="21945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4151376"/>
            <a:ext cx="245059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Pet supplies branch 3, Rustaveli Avenue 15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93592" y="4151376"/>
            <a:ext cx="9418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81728" y="4151376"/>
            <a:ext cx="1783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Conversion Opportunity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20256" y="4151376"/>
            <a:ext cx="166420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Operational Risk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2648" y="4782312"/>
            <a:ext cx="7818120" cy="649224"/>
          </a:xfrm>
          <a:prstGeom prst="roundRect">
            <a:avLst>
              <a:gd name="adj" fmla="val 9000"/>
            </a:avLst>
          </a:prstGeom>
          <a:solidFill>
            <a:srgbClr val="F7F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4910328"/>
            <a:ext cx="21945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" y="4855464"/>
            <a:ext cx="245059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Pet supplies branch 4, Rustaveli Avenue 15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93592" y="4855464"/>
            <a:ext cx="9418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81728" y="4855464"/>
            <a:ext cx="1783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Conversion Opportunity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20256" y="4855464"/>
            <a:ext cx="166420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Operational Risk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12648" y="5486400"/>
            <a:ext cx="7818120" cy="64922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1520" y="5614416"/>
            <a:ext cx="21945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5840" y="5559551"/>
            <a:ext cx="245059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Pet supplies branch 5, Rustaveli Avenue 15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93592" y="5559551"/>
            <a:ext cx="9418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81728" y="5559551"/>
            <a:ext cx="1783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Conversion Opportunity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20256" y="5559551"/>
            <a:ext cx="166420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Operational Risk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668512" y="1417320"/>
            <a:ext cx="2916936" cy="4873752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869680" y="1618488"/>
            <a:ext cx="2468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Top Stores</a:t>
            </a:r>
          </a:p>
        </p:txBody>
      </p:sp>
      <p:pic>
        <p:nvPicPr>
          <p:cNvPr id="48" name="Picture 47" descr="goldCrownCeleb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0388" y="1965960"/>
            <a:ext cx="1716607" cy="1709928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8869680" y="3813048"/>
            <a:ext cx="2487168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1">
                <a:solidFill>
                  <a:srgbClr val="00A082"/>
                </a:solidFill>
                <a:latin typeface="Montserrat"/>
              </a:defRPr>
            </a:pPr>
            <a:r>
              <a:t>6 stores displayed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869680" y="4608576"/>
            <a:ext cx="2487168" cy="987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232323"/>
                </a:solidFill>
                <a:latin typeface="Montserrat"/>
              </a:defRPr>
            </a:pPr>
            <a:r>
              <a:t>GMV share not assessed — incomplete store coverage.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869680" y="5815584"/>
            <a:ext cx="24871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Reported partner GMV: €26,020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How We Prioritize Opportunities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Higher Priority = stronger case for 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389888"/>
            <a:ext cx="3529584" cy="29992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1537028"/>
            <a:ext cx="429768" cy="42809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89304" y="1618488"/>
            <a:ext cx="2670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A082"/>
                </a:solidFill>
                <a:latin typeface="Montserrat"/>
              </a:defRPr>
            </a:pPr>
            <a:r>
              <a:t>SEVERITY — 0–100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84831"/>
            <a:ext cx="31638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How large is the KPI problem?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34056"/>
            <a:ext cx="3163824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Compared with the relevant SBU benchmark or operating target.</a:t>
            </a:r>
            <a:br/>
            <a:br/>
            <a:r>
              <a:t>Evidence volume and confidence are considered. Larger reliable negative gaps create higher Severity.</a:t>
            </a:r>
            <a:br/>
            <a:br/>
            <a:r>
              <a:t>Dominant-KPI protection keeps a major problem from being hidden by healthy KPIs.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1389888"/>
            <a:ext cx="3529584" cy="29992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9704" y="1537028"/>
            <a:ext cx="429768" cy="42809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20056" y="1618488"/>
            <a:ext cx="2670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A082"/>
                </a:solidFill>
                <a:latin typeface="Montserrat"/>
              </a:defRPr>
            </a:pPr>
            <a:r>
              <a:t>IMPACT — 0–100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7992" y="2084831"/>
            <a:ext cx="31638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How much business exposure</a:t>
            </a:r>
            <a:br/>
            <a:r>
              <a:t>sits behind the problem?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7992" y="2734056"/>
            <a:ext cx="3163824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Order-related exposure behind the KPI gap. Higher-volume problems generally create higher Impact.</a:t>
            </a:r>
            <a:br/>
            <a:br/>
            <a:r>
              <a:t>Not euros. Not guaranteed recovered orders. Not a financial forecast.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55864" y="1389888"/>
            <a:ext cx="3529584" cy="2999232"/>
          </a:xfrm>
          <a:prstGeom prst="roundRect">
            <a:avLst>
              <a:gd name="adj" fmla="val 9000"/>
            </a:avLst>
          </a:prstGeom>
          <a:solidFill>
            <a:srgbClr val="FFFBED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0456" y="1537028"/>
            <a:ext cx="429768" cy="42809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750808" y="1618488"/>
            <a:ext cx="2670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A082"/>
                </a:solidFill>
                <a:latin typeface="Montserrat"/>
              </a:defRPr>
            </a:pPr>
            <a:r>
              <a:t>PRIORITY — 0–100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8744" y="2084831"/>
            <a:ext cx="31638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Where should we act first?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38744" y="2734056"/>
            <a:ext cx="3163824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Metric Priority =</a:t>
            </a:r>
            <a:br/>
            <a:r>
              <a:t>KPI Severity × KPI Impact / 100</a:t>
            </a:r>
            <a:br/>
            <a:br/>
            <a:r>
              <a:t>Store Priority combines eligible KPI-level priorities, with dominant-KPI protection so one major issue cannot be diluted.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544568"/>
            <a:ext cx="5440680" cy="9601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681728"/>
            <a:ext cx="50566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038344"/>
            <a:ext cx="505663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232323"/>
                </a:solidFill>
                <a:latin typeface="Montserrat"/>
              </a:defRPr>
            </a:pPr>
            <a:r>
              <a:t>The KPI with the strongest paired business case for action at that store.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27064" y="4544568"/>
            <a:ext cx="5486400" cy="960120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9944" y="4681728"/>
            <a:ext cx="51023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BASE ACTION RULE · Priority ≥ 5.0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9944" y="5038344"/>
            <a:ext cx="510235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50" b="0">
                <a:solidFill>
                  <a:srgbClr val="232323"/>
                </a:solidFill>
                <a:latin typeface="Montserrat"/>
              </a:defRPr>
            </a:pPr>
            <a:r>
              <a:t>The 5.0 threshold remains provisional. V2.1 overrides can classify lower-score stores ACTION.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" y="5650992"/>
            <a:ext cx="11064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6E6E6E"/>
                </a:solidFill>
                <a:latin typeface="Montserrat"/>
              </a:defRPr>
            </a:pPr>
            <a:r>
              <a:t>Priority ranks stores. Separate V2.1 triage assigns ACTION / MONITOR / HEALTHY / UNCLASSIFIED (six ACTION stores shown by default).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" y="5971032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Missing evidence → incomplete assessment, not zero. Critical observations are reviewed separately from business Priority.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45352" y="5971032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Uptime: 95% target; restoration exposure uses healthy history where available.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" y="6327648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Exposure components may overlap; headline exposure uses the largest. An opportunity signal, not a recovery promise.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45352" y="6327648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Benchmark: 2026-08. SBU peer composition is not available.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Operational &amp; Data Review · Store Coverage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Raw totals are retained. Incomplete-period growth comparisons are suppressed.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July 2026 · Partial Store Coverage · Expected 7 · Present 6 · Missing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232323"/>
                </a:solidFill>
                <a:latin typeface="Montserrat"/>
              </a:defRPr>
            </a:pPr>
            <a:r>
              <a:t>Missing: Pet supplies branch D, Rustaveli Avenue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6032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August 2026 · Partial Store Coverage · Expected 9 · Present 8 · Missing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71800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232323"/>
                </a:solidFill>
                <a:latin typeface="Montserrat"/>
              </a:defRPr>
            </a:pPr>
            <a:r>
              <a:t>Missing: Pet supplies branch D, Rustaveli Avenue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Confirm actions, responsibilities and the next review date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800" b="1">
                <a:solidFill>
                  <a:srgbClr val="232323"/>
                </a:solidFill>
                <a:latin typeface="Montserrat"/>
              </a:defRPr>
            </a:pPr>
            <a:r>
              <a:t>Which interventions should we start first?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Partner Business Review · V9_Beta2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600" b="1">
                <a:solidFill>
                  <a:srgbClr val="00A082"/>
                </a:solidFill>
                <a:latin typeface="Montserrat"/>
              </a:defRPr>
            </a:pPr>
            <a:r>
              <a:t>Let’s turn the agreed actions into measurable progress.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APPENDIX — 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9 stores · Reference section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800" b="1">
                <a:solidFill>
                  <a:srgbClr val="00A082"/>
                </a:solidFill>
                <a:latin typeface="Montserrat"/>
              </a:defRPr>
            </a:pPr>
            <a:r>
              <a:t>Store-level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4612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0">
                <a:solidFill>
                  <a:srgbClr val="232323"/>
                </a:solidFill>
                <a:latin typeface="Montserrat"/>
              </a:defRPr>
            </a:pPr>
            <a:r>
              <a:t>Lifecycle, KPI evidence and recommendations for each store.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Store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Operational state and business classification are separate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35608"/>
            <a:ext cx="10972800" cy="356616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36192"/>
            <a:ext cx="279806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Store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0" y="1536192"/>
            <a:ext cx="1051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Status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27448" y="1536192"/>
            <a:ext cx="10698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Business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07024" y="1536192"/>
            <a:ext cx="90525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22008" y="1536192"/>
            <a:ext cx="7589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90688" y="1536192"/>
            <a:ext cx="7589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59367" y="1536192"/>
            <a:ext cx="7589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28047" y="1536192"/>
            <a:ext cx="7589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96727" y="1536192"/>
            <a:ext cx="11247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Priority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1856231"/>
            <a:ext cx="10972800" cy="53492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erview store: PRIVATE-ID-0">
            <a:hlinkClick action="ppaction://hlinksldjump" r:id="rId2"/>
          </p:cNvPr>
          <p:cNvSpPr txBox="1"/>
          <p:nvPr/>
        </p:nvSpPr>
        <p:spPr>
          <a:xfrm>
            <a:off x="658368" y="1911095"/>
            <a:ext cx="2798064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00A082"/>
                </a:solidFill>
                <a:latin typeface="Montserrat"/>
              </a:defRPr>
            </a:pPr>
            <a:r>
              <a:t>პეტფუდი — შინაური ცხოველების კვებისა და ვეტერინარული მომსახურების ცენტრი, ჭავჭავაძის გამზირი 123</a:t>
            </a:r>
          </a:p>
        </p:txBody>
      </p:sp>
      <p:sp>
        <p:nvSpPr>
          <p:cNvPr id="17" name="V2.1 Overview 1: PRIVATE-ID-0"/>
          <p:cNvSpPr txBox="1"/>
          <p:nvPr/>
        </p:nvSpPr>
        <p:spPr>
          <a:xfrm>
            <a:off x="3566160" y="1911095"/>
            <a:ext cx="1051560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Operational Risk</a:t>
            </a:r>
          </a:p>
        </p:txBody>
      </p:sp>
      <p:sp>
        <p:nvSpPr>
          <p:cNvPr id="18" name="V2.1 Overview 2: PRIVATE-ID-0"/>
          <p:cNvSpPr txBox="1"/>
          <p:nvPr/>
        </p:nvSpPr>
        <p:spPr>
          <a:xfrm>
            <a:off x="4727448" y="1911095"/>
            <a:ext cx="1069848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00A082"/>
                </a:solidFill>
                <a:latin typeface="Montserrat"/>
              </a:defRPr>
            </a:pPr>
            <a:r>
              <a:t>ACTION</a:t>
            </a:r>
          </a:p>
        </p:txBody>
      </p:sp>
      <p:sp>
        <p:nvSpPr>
          <p:cNvPr id="19" name="V2.1 Overview 3: PRIVATE-ID-0"/>
          <p:cNvSpPr txBox="1"/>
          <p:nvPr/>
        </p:nvSpPr>
        <p:spPr>
          <a:xfrm>
            <a:off x="5907024" y="1911095"/>
            <a:ext cx="905256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20" name="V2.1 Overview 4: PRIVATE-ID-0"/>
          <p:cNvSpPr txBox="1"/>
          <p:nvPr/>
        </p:nvSpPr>
        <p:spPr>
          <a:xfrm>
            <a:off x="6922008" y="1911095"/>
            <a:ext cx="758952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21" name="V2.1 Overview 5: PRIVATE-ID-0"/>
          <p:cNvSpPr txBox="1"/>
          <p:nvPr/>
        </p:nvSpPr>
        <p:spPr>
          <a:xfrm>
            <a:off x="7790688" y="1911095"/>
            <a:ext cx="758952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45.0%</a:t>
            </a:r>
          </a:p>
        </p:txBody>
      </p:sp>
      <p:sp>
        <p:nvSpPr>
          <p:cNvPr id="22" name="V2.1 Overview 6: PRIVATE-ID-0"/>
          <p:cNvSpPr txBox="1"/>
          <p:nvPr/>
        </p:nvSpPr>
        <p:spPr>
          <a:xfrm>
            <a:off x="8659367" y="1911095"/>
            <a:ext cx="758952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22.0%</a:t>
            </a:r>
          </a:p>
        </p:txBody>
      </p:sp>
      <p:sp>
        <p:nvSpPr>
          <p:cNvPr id="23" name="V2.1 Overview 7: PRIVATE-ID-0"/>
          <p:cNvSpPr txBox="1"/>
          <p:nvPr/>
        </p:nvSpPr>
        <p:spPr>
          <a:xfrm>
            <a:off x="9528047" y="1911095"/>
            <a:ext cx="758952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72.0%</a:t>
            </a:r>
          </a:p>
        </p:txBody>
      </p:sp>
      <p:sp>
        <p:nvSpPr>
          <p:cNvPr id="24" name="V2.1 Overview 8: PRIVATE-ID-0"/>
          <p:cNvSpPr txBox="1"/>
          <p:nvPr/>
        </p:nvSpPr>
        <p:spPr>
          <a:xfrm>
            <a:off x="10396727" y="1911095"/>
            <a:ext cx="1124712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85.30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2414015"/>
            <a:ext cx="10972800" cy="37947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erview store: PRIVATE-ID-1">
            <a:hlinkClick action="ppaction://hlinksldjump" r:id="rId3"/>
          </p:cNvPr>
          <p:cNvSpPr txBox="1"/>
          <p:nvPr/>
        </p:nvSpPr>
        <p:spPr>
          <a:xfrm>
            <a:off x="658368" y="2468879"/>
            <a:ext cx="279806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00A082"/>
                </a:solidFill>
                <a:latin typeface="Montserrat"/>
              </a:defRPr>
            </a:pPr>
            <a:r>
              <a:t>Pet supplies branch 1, Rustaveli Avenue 15</a:t>
            </a:r>
          </a:p>
        </p:txBody>
      </p:sp>
      <p:sp>
        <p:nvSpPr>
          <p:cNvPr id="27" name="V2.1 Overview 1: PRIVATE-ID-1"/>
          <p:cNvSpPr txBox="1"/>
          <p:nvPr/>
        </p:nvSpPr>
        <p:spPr>
          <a:xfrm>
            <a:off x="3566160" y="2468879"/>
            <a:ext cx="10515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Operational Risk</a:t>
            </a:r>
          </a:p>
        </p:txBody>
      </p:sp>
      <p:sp>
        <p:nvSpPr>
          <p:cNvPr id="28" name="V2.1 Overview 2: PRIVATE-ID-1"/>
          <p:cNvSpPr txBox="1"/>
          <p:nvPr/>
        </p:nvSpPr>
        <p:spPr>
          <a:xfrm>
            <a:off x="4727448" y="2468879"/>
            <a:ext cx="106984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00A082"/>
                </a:solidFill>
                <a:latin typeface="Montserrat"/>
              </a:defRPr>
            </a:pPr>
            <a:r>
              <a:t>ACTION</a:t>
            </a:r>
          </a:p>
        </p:txBody>
      </p:sp>
      <p:sp>
        <p:nvSpPr>
          <p:cNvPr id="29" name="V2.1 Overview 3: PRIVATE-ID-1"/>
          <p:cNvSpPr txBox="1"/>
          <p:nvPr/>
        </p:nvSpPr>
        <p:spPr>
          <a:xfrm>
            <a:off x="5907024" y="2468879"/>
            <a:ext cx="90525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30" name="V2.1 Overview 4: PRIVATE-ID-1"/>
          <p:cNvSpPr txBox="1"/>
          <p:nvPr/>
        </p:nvSpPr>
        <p:spPr>
          <a:xfrm>
            <a:off x="6922008" y="2468879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31" name="V2.1 Overview 5: PRIVATE-ID-1"/>
          <p:cNvSpPr txBox="1"/>
          <p:nvPr/>
        </p:nvSpPr>
        <p:spPr>
          <a:xfrm>
            <a:off x="7790688" y="2468879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45.0%</a:t>
            </a:r>
          </a:p>
        </p:txBody>
      </p:sp>
      <p:sp>
        <p:nvSpPr>
          <p:cNvPr id="32" name="V2.1 Overview 6: PRIVATE-ID-1"/>
          <p:cNvSpPr txBox="1"/>
          <p:nvPr/>
        </p:nvSpPr>
        <p:spPr>
          <a:xfrm>
            <a:off x="8659367" y="2468879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22.0%</a:t>
            </a:r>
          </a:p>
        </p:txBody>
      </p:sp>
      <p:sp>
        <p:nvSpPr>
          <p:cNvPr id="33" name="V2.1 Overview 7: PRIVATE-ID-1"/>
          <p:cNvSpPr txBox="1"/>
          <p:nvPr/>
        </p:nvSpPr>
        <p:spPr>
          <a:xfrm>
            <a:off x="9528047" y="2468879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72.0%</a:t>
            </a:r>
          </a:p>
        </p:txBody>
      </p:sp>
      <p:sp>
        <p:nvSpPr>
          <p:cNvPr id="34" name="V2.1 Overview 8: PRIVATE-ID-1"/>
          <p:cNvSpPr txBox="1"/>
          <p:nvPr/>
        </p:nvSpPr>
        <p:spPr>
          <a:xfrm>
            <a:off x="10396727" y="2468879"/>
            <a:ext cx="112471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85.30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94360" y="2816351"/>
            <a:ext cx="10972800" cy="37947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erview store: PRIVATE-ID-2">
            <a:hlinkClick action="ppaction://hlinksldjump" r:id="rId4"/>
          </p:cNvPr>
          <p:cNvSpPr txBox="1"/>
          <p:nvPr/>
        </p:nvSpPr>
        <p:spPr>
          <a:xfrm>
            <a:off x="658368" y="2871215"/>
            <a:ext cx="279806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00A082"/>
                </a:solidFill>
                <a:latin typeface="Montserrat"/>
              </a:defRPr>
            </a:pPr>
            <a:r>
              <a:t>Pet supplies branch 2, Rustaveli Avenue 15</a:t>
            </a:r>
          </a:p>
        </p:txBody>
      </p:sp>
      <p:sp>
        <p:nvSpPr>
          <p:cNvPr id="37" name="V2.1 Overview 1: PRIVATE-ID-2"/>
          <p:cNvSpPr txBox="1"/>
          <p:nvPr/>
        </p:nvSpPr>
        <p:spPr>
          <a:xfrm>
            <a:off x="3566160" y="2871215"/>
            <a:ext cx="10515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Operational Risk</a:t>
            </a:r>
          </a:p>
        </p:txBody>
      </p:sp>
      <p:sp>
        <p:nvSpPr>
          <p:cNvPr id="38" name="V2.1 Overview 2: PRIVATE-ID-2"/>
          <p:cNvSpPr txBox="1"/>
          <p:nvPr/>
        </p:nvSpPr>
        <p:spPr>
          <a:xfrm>
            <a:off x="4727448" y="2871215"/>
            <a:ext cx="106984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00A082"/>
                </a:solidFill>
                <a:latin typeface="Montserrat"/>
              </a:defRPr>
            </a:pPr>
            <a:r>
              <a:t>ACTION</a:t>
            </a:r>
          </a:p>
        </p:txBody>
      </p:sp>
      <p:sp>
        <p:nvSpPr>
          <p:cNvPr id="39" name="V2.1 Overview 3: PRIVATE-ID-2"/>
          <p:cNvSpPr txBox="1"/>
          <p:nvPr/>
        </p:nvSpPr>
        <p:spPr>
          <a:xfrm>
            <a:off x="5907024" y="2871215"/>
            <a:ext cx="90525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40" name="V2.1 Overview 4: PRIVATE-ID-2"/>
          <p:cNvSpPr txBox="1"/>
          <p:nvPr/>
        </p:nvSpPr>
        <p:spPr>
          <a:xfrm>
            <a:off x="6922008" y="2871215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41" name="V2.1 Overview 5: PRIVATE-ID-2"/>
          <p:cNvSpPr txBox="1"/>
          <p:nvPr/>
        </p:nvSpPr>
        <p:spPr>
          <a:xfrm>
            <a:off x="7790688" y="2871215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45.0%</a:t>
            </a:r>
          </a:p>
        </p:txBody>
      </p:sp>
      <p:sp>
        <p:nvSpPr>
          <p:cNvPr id="42" name="V2.1 Overview 6: PRIVATE-ID-2"/>
          <p:cNvSpPr txBox="1"/>
          <p:nvPr/>
        </p:nvSpPr>
        <p:spPr>
          <a:xfrm>
            <a:off x="8659367" y="2871215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22.0%</a:t>
            </a:r>
          </a:p>
        </p:txBody>
      </p:sp>
      <p:sp>
        <p:nvSpPr>
          <p:cNvPr id="43" name="V2.1 Overview 7: PRIVATE-ID-2"/>
          <p:cNvSpPr txBox="1"/>
          <p:nvPr/>
        </p:nvSpPr>
        <p:spPr>
          <a:xfrm>
            <a:off x="9528047" y="2871215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72.0%</a:t>
            </a:r>
          </a:p>
        </p:txBody>
      </p:sp>
      <p:sp>
        <p:nvSpPr>
          <p:cNvPr id="44" name="V2.1 Overview 8: PRIVATE-ID-2"/>
          <p:cNvSpPr txBox="1"/>
          <p:nvPr/>
        </p:nvSpPr>
        <p:spPr>
          <a:xfrm>
            <a:off x="10396727" y="2871215"/>
            <a:ext cx="112471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85.30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94360" y="3218687"/>
            <a:ext cx="10972800" cy="37947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erview store: PRIVATE-ID-3">
            <a:hlinkClick action="ppaction://hlinksldjump" r:id="rId5"/>
          </p:cNvPr>
          <p:cNvSpPr txBox="1"/>
          <p:nvPr/>
        </p:nvSpPr>
        <p:spPr>
          <a:xfrm>
            <a:off x="658368" y="3273551"/>
            <a:ext cx="279806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00A082"/>
                </a:solidFill>
                <a:latin typeface="Montserrat"/>
              </a:defRPr>
            </a:pPr>
            <a:r>
              <a:t>Pet supplies branch 3, Rustaveli Avenue 15</a:t>
            </a:r>
          </a:p>
        </p:txBody>
      </p:sp>
      <p:sp>
        <p:nvSpPr>
          <p:cNvPr id="47" name="V2.1 Overview 1: PRIVATE-ID-3"/>
          <p:cNvSpPr txBox="1"/>
          <p:nvPr/>
        </p:nvSpPr>
        <p:spPr>
          <a:xfrm>
            <a:off x="3566160" y="3273551"/>
            <a:ext cx="10515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Operational Risk</a:t>
            </a:r>
          </a:p>
        </p:txBody>
      </p:sp>
      <p:sp>
        <p:nvSpPr>
          <p:cNvPr id="48" name="V2.1 Overview 2: PRIVATE-ID-3"/>
          <p:cNvSpPr txBox="1"/>
          <p:nvPr/>
        </p:nvSpPr>
        <p:spPr>
          <a:xfrm>
            <a:off x="4727448" y="3273551"/>
            <a:ext cx="106984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00A082"/>
                </a:solidFill>
                <a:latin typeface="Montserrat"/>
              </a:defRPr>
            </a:pPr>
            <a:r>
              <a:t>ACTION</a:t>
            </a:r>
          </a:p>
        </p:txBody>
      </p:sp>
      <p:sp>
        <p:nvSpPr>
          <p:cNvPr id="49" name="V2.1 Overview 3: PRIVATE-ID-3"/>
          <p:cNvSpPr txBox="1"/>
          <p:nvPr/>
        </p:nvSpPr>
        <p:spPr>
          <a:xfrm>
            <a:off x="5907024" y="3273551"/>
            <a:ext cx="90525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50" name="V2.1 Overview 4: PRIVATE-ID-3"/>
          <p:cNvSpPr txBox="1"/>
          <p:nvPr/>
        </p:nvSpPr>
        <p:spPr>
          <a:xfrm>
            <a:off x="6922008" y="3273551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51" name="V2.1 Overview 5: PRIVATE-ID-3"/>
          <p:cNvSpPr txBox="1"/>
          <p:nvPr/>
        </p:nvSpPr>
        <p:spPr>
          <a:xfrm>
            <a:off x="7790688" y="3273551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45.0%</a:t>
            </a:r>
          </a:p>
        </p:txBody>
      </p:sp>
      <p:sp>
        <p:nvSpPr>
          <p:cNvPr id="52" name="V2.1 Overview 6: PRIVATE-ID-3"/>
          <p:cNvSpPr txBox="1"/>
          <p:nvPr/>
        </p:nvSpPr>
        <p:spPr>
          <a:xfrm>
            <a:off x="8659367" y="3273551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22.0%</a:t>
            </a:r>
          </a:p>
        </p:txBody>
      </p:sp>
      <p:sp>
        <p:nvSpPr>
          <p:cNvPr id="53" name="V2.1 Overview 7: PRIVATE-ID-3"/>
          <p:cNvSpPr txBox="1"/>
          <p:nvPr/>
        </p:nvSpPr>
        <p:spPr>
          <a:xfrm>
            <a:off x="9528047" y="3273551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72.0%</a:t>
            </a:r>
          </a:p>
        </p:txBody>
      </p:sp>
      <p:sp>
        <p:nvSpPr>
          <p:cNvPr id="54" name="V2.1 Overview 8: PRIVATE-ID-3"/>
          <p:cNvSpPr txBox="1"/>
          <p:nvPr/>
        </p:nvSpPr>
        <p:spPr>
          <a:xfrm>
            <a:off x="10396727" y="3273551"/>
            <a:ext cx="112471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85.30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94360" y="3621023"/>
            <a:ext cx="10972800" cy="37947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erview store: PRIVATE-ID-4">
            <a:hlinkClick action="ppaction://hlinksldjump" r:id="rId6"/>
          </p:cNvPr>
          <p:cNvSpPr txBox="1"/>
          <p:nvPr/>
        </p:nvSpPr>
        <p:spPr>
          <a:xfrm>
            <a:off x="658368" y="3675887"/>
            <a:ext cx="279806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00A082"/>
                </a:solidFill>
                <a:latin typeface="Montserrat"/>
              </a:defRPr>
            </a:pPr>
            <a:r>
              <a:t>Pet supplies branch 4, Rustaveli Avenue 15</a:t>
            </a:r>
          </a:p>
        </p:txBody>
      </p:sp>
      <p:sp>
        <p:nvSpPr>
          <p:cNvPr id="57" name="V2.1 Overview 1: PRIVATE-ID-4"/>
          <p:cNvSpPr txBox="1"/>
          <p:nvPr/>
        </p:nvSpPr>
        <p:spPr>
          <a:xfrm>
            <a:off x="3566160" y="3675887"/>
            <a:ext cx="10515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Operational Risk</a:t>
            </a:r>
          </a:p>
        </p:txBody>
      </p:sp>
      <p:sp>
        <p:nvSpPr>
          <p:cNvPr id="58" name="V2.1 Overview 2: PRIVATE-ID-4"/>
          <p:cNvSpPr txBox="1"/>
          <p:nvPr/>
        </p:nvSpPr>
        <p:spPr>
          <a:xfrm>
            <a:off x="4727448" y="3675887"/>
            <a:ext cx="106984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00A082"/>
                </a:solidFill>
                <a:latin typeface="Montserrat"/>
              </a:defRPr>
            </a:pPr>
            <a:r>
              <a:t>ACTION</a:t>
            </a:r>
          </a:p>
        </p:txBody>
      </p:sp>
      <p:sp>
        <p:nvSpPr>
          <p:cNvPr id="59" name="V2.1 Overview 3: PRIVATE-ID-4"/>
          <p:cNvSpPr txBox="1"/>
          <p:nvPr/>
        </p:nvSpPr>
        <p:spPr>
          <a:xfrm>
            <a:off x="5907024" y="3675887"/>
            <a:ext cx="90525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60" name="V2.1 Overview 4: PRIVATE-ID-4"/>
          <p:cNvSpPr txBox="1"/>
          <p:nvPr/>
        </p:nvSpPr>
        <p:spPr>
          <a:xfrm>
            <a:off x="6922008" y="3675887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61" name="V2.1 Overview 5: PRIVATE-ID-4"/>
          <p:cNvSpPr txBox="1"/>
          <p:nvPr/>
        </p:nvSpPr>
        <p:spPr>
          <a:xfrm>
            <a:off x="7790688" y="3675887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45.0%</a:t>
            </a:r>
          </a:p>
        </p:txBody>
      </p:sp>
      <p:sp>
        <p:nvSpPr>
          <p:cNvPr id="62" name="V2.1 Overview 6: PRIVATE-ID-4"/>
          <p:cNvSpPr txBox="1"/>
          <p:nvPr/>
        </p:nvSpPr>
        <p:spPr>
          <a:xfrm>
            <a:off x="8659367" y="3675887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22.0%</a:t>
            </a:r>
          </a:p>
        </p:txBody>
      </p:sp>
      <p:sp>
        <p:nvSpPr>
          <p:cNvPr id="63" name="V2.1 Overview 7: PRIVATE-ID-4"/>
          <p:cNvSpPr txBox="1"/>
          <p:nvPr/>
        </p:nvSpPr>
        <p:spPr>
          <a:xfrm>
            <a:off x="9528047" y="3675887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72.0%</a:t>
            </a:r>
          </a:p>
        </p:txBody>
      </p:sp>
      <p:sp>
        <p:nvSpPr>
          <p:cNvPr id="64" name="V2.1 Overview 8: PRIVATE-ID-4"/>
          <p:cNvSpPr txBox="1"/>
          <p:nvPr/>
        </p:nvSpPr>
        <p:spPr>
          <a:xfrm>
            <a:off x="10396727" y="3675887"/>
            <a:ext cx="112471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85.30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94360" y="4023359"/>
            <a:ext cx="10972800" cy="37947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erview store: PRIVATE-ID-5">
            <a:hlinkClick action="ppaction://hlinksldjump" r:id="rId7"/>
          </p:cNvPr>
          <p:cNvSpPr txBox="1"/>
          <p:nvPr/>
        </p:nvSpPr>
        <p:spPr>
          <a:xfrm>
            <a:off x="658368" y="4078223"/>
            <a:ext cx="279806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00A082"/>
                </a:solidFill>
                <a:latin typeface="Montserrat"/>
              </a:defRPr>
            </a:pPr>
            <a:r>
              <a:t>Pet supplies branch 5, Rustaveli Avenue 15</a:t>
            </a:r>
          </a:p>
        </p:txBody>
      </p:sp>
      <p:sp>
        <p:nvSpPr>
          <p:cNvPr id="67" name="V2.1 Overview 1: PRIVATE-ID-5"/>
          <p:cNvSpPr txBox="1"/>
          <p:nvPr/>
        </p:nvSpPr>
        <p:spPr>
          <a:xfrm>
            <a:off x="3566160" y="4078223"/>
            <a:ext cx="10515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Operational Risk</a:t>
            </a:r>
          </a:p>
        </p:txBody>
      </p:sp>
      <p:sp>
        <p:nvSpPr>
          <p:cNvPr id="68" name="V2.1 Overview 2: PRIVATE-ID-5"/>
          <p:cNvSpPr txBox="1"/>
          <p:nvPr/>
        </p:nvSpPr>
        <p:spPr>
          <a:xfrm>
            <a:off x="4727448" y="4078223"/>
            <a:ext cx="106984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00A082"/>
                </a:solidFill>
                <a:latin typeface="Montserrat"/>
              </a:defRPr>
            </a:pPr>
            <a:r>
              <a:t>ACTION</a:t>
            </a:r>
          </a:p>
        </p:txBody>
      </p:sp>
      <p:sp>
        <p:nvSpPr>
          <p:cNvPr id="69" name="V2.1 Overview 3: PRIVATE-ID-5"/>
          <p:cNvSpPr txBox="1"/>
          <p:nvPr/>
        </p:nvSpPr>
        <p:spPr>
          <a:xfrm>
            <a:off x="5907024" y="4078223"/>
            <a:ext cx="90525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70" name="V2.1 Overview 4: PRIVATE-ID-5"/>
          <p:cNvSpPr txBox="1"/>
          <p:nvPr/>
        </p:nvSpPr>
        <p:spPr>
          <a:xfrm>
            <a:off x="6922008" y="4078223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71" name="V2.1 Overview 5: PRIVATE-ID-5"/>
          <p:cNvSpPr txBox="1"/>
          <p:nvPr/>
        </p:nvSpPr>
        <p:spPr>
          <a:xfrm>
            <a:off x="7790688" y="4078223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45.0%</a:t>
            </a:r>
          </a:p>
        </p:txBody>
      </p:sp>
      <p:sp>
        <p:nvSpPr>
          <p:cNvPr id="72" name="V2.1 Overview 6: PRIVATE-ID-5"/>
          <p:cNvSpPr txBox="1"/>
          <p:nvPr/>
        </p:nvSpPr>
        <p:spPr>
          <a:xfrm>
            <a:off x="8659367" y="4078223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22.0%</a:t>
            </a:r>
          </a:p>
        </p:txBody>
      </p:sp>
      <p:sp>
        <p:nvSpPr>
          <p:cNvPr id="73" name="V2.1 Overview 7: PRIVATE-ID-5"/>
          <p:cNvSpPr txBox="1"/>
          <p:nvPr/>
        </p:nvSpPr>
        <p:spPr>
          <a:xfrm>
            <a:off x="9528047" y="4078223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72.0%</a:t>
            </a:r>
          </a:p>
        </p:txBody>
      </p:sp>
      <p:sp>
        <p:nvSpPr>
          <p:cNvPr id="74" name="V2.1 Overview 8: PRIVATE-ID-5"/>
          <p:cNvSpPr txBox="1"/>
          <p:nvPr/>
        </p:nvSpPr>
        <p:spPr>
          <a:xfrm>
            <a:off x="10396727" y="4078223"/>
            <a:ext cx="112471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85.30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594360" y="4425696"/>
            <a:ext cx="10972800" cy="37947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erview store: PRIVATE-AVAIL">
            <a:hlinkClick action="ppaction://hlinksldjump" r:id="rId8"/>
          </p:cNvPr>
          <p:cNvSpPr txBox="1"/>
          <p:nvPr/>
        </p:nvSpPr>
        <p:spPr>
          <a:xfrm>
            <a:off x="658368" y="4480559"/>
            <a:ext cx="279806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00A082"/>
                </a:solidFill>
                <a:latin typeface="Montserrat"/>
              </a:defRPr>
            </a:pPr>
            <a:r>
              <a:t>Pet supplies branch L, Rustaveli Avenue 15</a:t>
            </a:r>
          </a:p>
        </p:txBody>
      </p:sp>
      <p:sp>
        <p:nvSpPr>
          <p:cNvPr id="77" name="V2.1 Overview 1: PRIVATE-AVAIL"/>
          <p:cNvSpPr txBox="1"/>
          <p:nvPr/>
        </p:nvSpPr>
        <p:spPr>
          <a:xfrm>
            <a:off x="3566160" y="4480559"/>
            <a:ext cx="10515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Watch</a:t>
            </a:r>
          </a:p>
        </p:txBody>
      </p:sp>
      <p:sp>
        <p:nvSpPr>
          <p:cNvPr id="78" name="V2.1 Overview 2: PRIVATE-AVAIL"/>
          <p:cNvSpPr txBox="1"/>
          <p:nvPr/>
        </p:nvSpPr>
        <p:spPr>
          <a:xfrm>
            <a:off x="4727448" y="4480559"/>
            <a:ext cx="106984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00A082"/>
                </a:solidFill>
                <a:latin typeface="Montserrat"/>
              </a:defRPr>
            </a:pPr>
            <a:r>
              <a:t>MONITOR</a:t>
            </a:r>
          </a:p>
        </p:txBody>
      </p:sp>
      <p:sp>
        <p:nvSpPr>
          <p:cNvPr id="79" name="V2.1 Overview 3: PRIVATE-AVAIL"/>
          <p:cNvSpPr txBox="1"/>
          <p:nvPr/>
        </p:nvSpPr>
        <p:spPr>
          <a:xfrm>
            <a:off x="5907024" y="4480559"/>
            <a:ext cx="90525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€20</a:t>
            </a:r>
          </a:p>
        </p:txBody>
      </p:sp>
      <p:sp>
        <p:nvSpPr>
          <p:cNvPr id="80" name="V2.1 Overview 4: PRIVATE-AVAIL"/>
          <p:cNvSpPr txBox="1"/>
          <p:nvPr/>
        </p:nvSpPr>
        <p:spPr>
          <a:xfrm>
            <a:off x="6922008" y="4480559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40.0%</a:t>
            </a:r>
          </a:p>
        </p:txBody>
      </p:sp>
      <p:sp>
        <p:nvSpPr>
          <p:cNvPr id="81" name="V2.1 Overview 5: PRIVATE-AVAIL"/>
          <p:cNvSpPr txBox="1"/>
          <p:nvPr/>
        </p:nvSpPr>
        <p:spPr>
          <a:xfrm>
            <a:off x="7790688" y="4480559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82" name="V2.1 Overview 6: PRIVATE-AVAIL"/>
          <p:cNvSpPr txBox="1"/>
          <p:nvPr/>
        </p:nvSpPr>
        <p:spPr>
          <a:xfrm>
            <a:off x="8659367" y="4480559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83" name="V2.1 Overview 7: PRIVATE-AVAIL"/>
          <p:cNvSpPr txBox="1"/>
          <p:nvPr/>
        </p:nvSpPr>
        <p:spPr>
          <a:xfrm>
            <a:off x="9528047" y="4480559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88.0%</a:t>
            </a:r>
          </a:p>
        </p:txBody>
      </p:sp>
      <p:sp>
        <p:nvSpPr>
          <p:cNvPr id="84" name="V2.1 Overview 8: PRIVATE-AVAIL"/>
          <p:cNvSpPr txBox="1"/>
          <p:nvPr/>
        </p:nvSpPr>
        <p:spPr>
          <a:xfrm>
            <a:off x="10396727" y="4480559"/>
            <a:ext cx="112471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0.18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594360" y="4828032"/>
            <a:ext cx="10972800" cy="37947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erview store: PRIVATE-MISSING">
            <a:hlinkClick action="ppaction://hlinksldjump" r:id="rId9"/>
          </p:cNvPr>
          <p:cNvSpPr txBox="1"/>
          <p:nvPr/>
        </p:nvSpPr>
        <p:spPr>
          <a:xfrm>
            <a:off x="658368" y="4882896"/>
            <a:ext cx="279806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00A082"/>
                </a:solidFill>
                <a:latin typeface="Montserrat"/>
              </a:defRPr>
            </a:pPr>
            <a:r>
              <a:t>Pet supplies branch G, Rustaveli Avenue 15</a:t>
            </a:r>
          </a:p>
        </p:txBody>
      </p:sp>
      <p:sp>
        <p:nvSpPr>
          <p:cNvPr id="87" name="V2.1 Overview 1: PRIVATE-MISSING"/>
          <p:cNvSpPr txBox="1"/>
          <p:nvPr/>
        </p:nvSpPr>
        <p:spPr>
          <a:xfrm>
            <a:off x="3566160" y="4882896"/>
            <a:ext cx="10515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Data review</a:t>
            </a:r>
          </a:p>
        </p:txBody>
      </p:sp>
      <p:sp>
        <p:nvSpPr>
          <p:cNvPr id="88" name="V2.1 Overview 2: PRIVATE-MISSING"/>
          <p:cNvSpPr txBox="1"/>
          <p:nvPr/>
        </p:nvSpPr>
        <p:spPr>
          <a:xfrm>
            <a:off x="4727448" y="4882896"/>
            <a:ext cx="106984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00A082"/>
                </a:solidFill>
                <a:latin typeface="Montserrat"/>
              </a:defRPr>
            </a:pPr>
            <a:r>
              <a:t>UNCLASSIFIED</a:t>
            </a:r>
          </a:p>
        </p:txBody>
      </p:sp>
      <p:sp>
        <p:nvSpPr>
          <p:cNvPr id="89" name="V2.1 Overview 3: PRIVATE-MISSING"/>
          <p:cNvSpPr txBox="1"/>
          <p:nvPr/>
        </p:nvSpPr>
        <p:spPr>
          <a:xfrm>
            <a:off x="5907024" y="4882896"/>
            <a:ext cx="90525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€2,000</a:t>
            </a:r>
          </a:p>
        </p:txBody>
      </p:sp>
      <p:sp>
        <p:nvSpPr>
          <p:cNvPr id="90" name="V2.1 Overview 4: PRIVATE-MISSING"/>
          <p:cNvSpPr txBox="1"/>
          <p:nvPr/>
        </p:nvSpPr>
        <p:spPr>
          <a:xfrm>
            <a:off x="6922008" y="4882896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20.0%</a:t>
            </a:r>
          </a:p>
        </p:txBody>
      </p:sp>
      <p:sp>
        <p:nvSpPr>
          <p:cNvPr id="91" name="V2.1 Overview 5: PRIVATE-MISSING"/>
          <p:cNvSpPr txBox="1"/>
          <p:nvPr/>
        </p:nvSpPr>
        <p:spPr>
          <a:xfrm>
            <a:off x="7790688" y="4882896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92" name="V2.1 Overview 6: PRIVATE-MISSING"/>
          <p:cNvSpPr txBox="1"/>
          <p:nvPr/>
        </p:nvSpPr>
        <p:spPr>
          <a:xfrm>
            <a:off x="8659367" y="4882896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93" name="V2.1 Overview 7: PRIVATE-MISSING"/>
          <p:cNvSpPr txBox="1"/>
          <p:nvPr/>
        </p:nvSpPr>
        <p:spPr>
          <a:xfrm>
            <a:off x="9528047" y="4882896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95.0%</a:t>
            </a:r>
          </a:p>
        </p:txBody>
      </p:sp>
      <p:sp>
        <p:nvSpPr>
          <p:cNvPr id="94" name="V2.1 Overview 8: PRIVATE-MISSING"/>
          <p:cNvSpPr txBox="1"/>
          <p:nvPr/>
        </p:nvSpPr>
        <p:spPr>
          <a:xfrm>
            <a:off x="10396727" y="4882896"/>
            <a:ext cx="112471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594360" y="5230368"/>
            <a:ext cx="10972800" cy="37947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erview store: PRIVATE-OLD">
            <a:hlinkClick action="ppaction://hlinksldjump" r:id="rId10"/>
          </p:cNvPr>
          <p:cNvSpPr txBox="1"/>
          <p:nvPr/>
        </p:nvSpPr>
        <p:spPr>
          <a:xfrm>
            <a:off x="658368" y="5285232"/>
            <a:ext cx="279806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00A082"/>
                </a:solidFill>
                <a:latin typeface="Montserrat"/>
              </a:defRPr>
            </a:pPr>
            <a:r>
              <a:t>Pet supplies branch D, Rustaveli Avenue 15</a:t>
            </a:r>
          </a:p>
        </p:txBody>
      </p:sp>
      <p:sp>
        <p:nvSpPr>
          <p:cNvPr id="97" name="V2.1 Overview 1: PRIVATE-OLD"/>
          <p:cNvSpPr txBox="1"/>
          <p:nvPr/>
        </p:nvSpPr>
        <p:spPr>
          <a:xfrm>
            <a:off x="3566160" y="5285232"/>
            <a:ext cx="10515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Unknown</a:t>
            </a:r>
          </a:p>
        </p:txBody>
      </p:sp>
      <p:sp>
        <p:nvSpPr>
          <p:cNvPr id="98" name="V2.1 Overview 2: PRIVATE-OLD"/>
          <p:cNvSpPr txBox="1"/>
          <p:nvPr/>
        </p:nvSpPr>
        <p:spPr>
          <a:xfrm>
            <a:off x="4727448" y="5285232"/>
            <a:ext cx="106984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00A082"/>
                </a:solidFill>
                <a:latin typeface="Montserrat"/>
              </a:defRPr>
            </a:pPr>
            <a:r>
              <a:t>UNCLASSIFIED</a:t>
            </a:r>
          </a:p>
        </p:txBody>
      </p:sp>
      <p:sp>
        <p:nvSpPr>
          <p:cNvPr id="99" name="V2.1 Overview 3: PRIVATE-OLD"/>
          <p:cNvSpPr txBox="1"/>
          <p:nvPr/>
        </p:nvSpPr>
        <p:spPr>
          <a:xfrm>
            <a:off x="5907024" y="5285232"/>
            <a:ext cx="90525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00" name="V2.1 Overview 4: PRIVATE-OLD"/>
          <p:cNvSpPr txBox="1"/>
          <p:nvPr/>
        </p:nvSpPr>
        <p:spPr>
          <a:xfrm>
            <a:off x="6922008" y="5285232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01" name="V2.1 Overview 5: PRIVATE-OLD"/>
          <p:cNvSpPr txBox="1"/>
          <p:nvPr/>
        </p:nvSpPr>
        <p:spPr>
          <a:xfrm>
            <a:off x="7790688" y="5285232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02" name="V2.1 Overview 6: PRIVATE-OLD"/>
          <p:cNvSpPr txBox="1"/>
          <p:nvPr/>
        </p:nvSpPr>
        <p:spPr>
          <a:xfrm>
            <a:off x="8659367" y="5285232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03" name="V2.1 Overview 7: PRIVATE-OLD"/>
          <p:cNvSpPr txBox="1"/>
          <p:nvPr/>
        </p:nvSpPr>
        <p:spPr>
          <a:xfrm>
            <a:off x="9528047" y="5285232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04" name="V2.1 Overview 8: PRIVATE-OLD"/>
          <p:cNvSpPr txBox="1"/>
          <p:nvPr/>
        </p:nvSpPr>
        <p:spPr>
          <a:xfrm>
            <a:off x="10396727" y="5285232"/>
            <a:ext cx="112471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12648" y="6409944"/>
            <a:ext cx="1101852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Select a store for Diagnostics. ACTION may be below Priority 5.0 through a documented V2.1 override.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93776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 supplies branch L, Rustaveli Avenue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23544"/>
            <a:ext cx="5577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Tbilisi · August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07008"/>
            <a:ext cx="120700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239012"/>
            <a:ext cx="10607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ACTIVE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92808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65960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DATA 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8728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COMPLETE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€20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DELIVERED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07808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7696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SESSIONS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7696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30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87584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ATTEMPTS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87584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40.0%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26.4%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SBU · +13.6 pp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65960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965960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634249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374136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02152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2152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2152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6.1%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2152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SBU · -6.1 pp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45736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758107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153912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81928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81928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81928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2.5%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81928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SBU · -2.5 pp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525512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537883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933688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61704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61704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88.0%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61704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Target 95.0%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61704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Target · -7.0 pp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305288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10305288" y="2345436"/>
            <a:ext cx="937775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1317659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5943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132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Severity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132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8.00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1945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3134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Impact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3134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2.21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794760" y="2962656"/>
            <a:ext cx="2148840" cy="82296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913632" y="3054096"/>
            <a:ext cx="19110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Priority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913632" y="3273552"/>
            <a:ext cx="1911095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0.18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913632" y="3639312"/>
            <a:ext cx="1911095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50" b="1">
                <a:solidFill>
                  <a:srgbClr val="232323"/>
                </a:solidFill>
                <a:latin typeface="Montserrat"/>
              </a:defRPr>
            </a:pPr>
            <a:r>
              <a:t>PRIORITY &lt; 5.0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45352" y="299008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180576" y="299008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45352" y="326440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Worst KPI / Severity Driver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80576" y="326440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45352" y="353872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Largest Exposure KPI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80576" y="353872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94360" y="3913632"/>
            <a:ext cx="5349240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31520" y="4023360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Confidence / evidence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31520" y="4361688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CVR 17% · n=30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3867912" y="4453127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3867912" y="4453127"/>
            <a:ext cx="313944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31520" y="4626864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PNA 25% · n=10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3867912" y="4718303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3867912" y="4718303"/>
            <a:ext cx="470916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31520" y="4892040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Cancels 50% · n=10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3867912" y="4983479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3867912" y="4983479"/>
            <a:ext cx="941832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6108192" y="3913632"/>
            <a:ext cx="5568696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254496" y="402336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Main KPI trend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254496" y="448056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6E6E6E"/>
                </a:solidFill>
                <a:latin typeface="Montserrat"/>
              </a:defRPr>
            </a:pPr>
            <a:r>
              <a:t>Trend unavailable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85800" y="5358384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6E6E6E"/>
                </a:solidFill>
                <a:latin typeface="Montserrat"/>
              </a:defRPr>
            </a:pPr>
            <a:r>
              <a:t>Assessment evidence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85800" y="5586984"/>
            <a:ext cx="108813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Current sessions or order activity · Critical observations: None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594360" y="5925312"/>
            <a:ext cx="11082528" cy="749808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31520" y="6007608"/>
            <a:ext cx="10698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Likely operational driver: Store availability; investigate scheduling / execution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31520" y="6208776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Restore availability during scheduled opening hours and verify persistent downtime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31520" y="6464808"/>
            <a:ext cx="106984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Intended effect: Improve uptime toward the 95% target</a:t>
            </a:r>
          </a:p>
        </p:txBody>
      </p:sp>
      <p:sp>
        <p:nvSpPr>
          <p:cNvPr id="85" name="Rectangle 84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94360" y="1458468"/>
            <a:ext cx="11064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80" b="1">
                <a:solidFill>
                  <a:srgbClr val="00A082"/>
                </a:solidFill>
                <a:latin typeface="Montserrat"/>
              </a:defRPr>
            </a:pPr>
            <a:r>
              <a:t>Business: MONITOR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93776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პეტფუდი — შინაური ცხოველების კვებისა და ვეტერინარული მომსახურების ცენტრი, ჭავჭავაძის გამზირი 123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23544"/>
            <a:ext cx="5577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თბილისი · August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07008"/>
            <a:ext cx="120700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239012"/>
            <a:ext cx="10607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ACTIVE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92808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65960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DATA 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8728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COMPLETE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DELIVERED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07808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7696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SESSIONS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7696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4,000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87584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ATTEMPTS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87584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1,000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26.4%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SBU · -23.9 pp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65960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965960" y="2345436"/>
            <a:ext cx="9585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78331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374136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02152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2152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45.0%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2152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6.1%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2152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SBU · +38.9 pp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45736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745736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883911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153912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81928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81928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22.0%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81928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2.5%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81928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SBU · +19.5 pp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525512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525512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642177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933688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61704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61704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72.0%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61704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Target 95.0%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61704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Target · -23.0 pp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305288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10305288" y="2345436"/>
            <a:ext cx="76727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1317659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5943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132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Severity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32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90.74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1945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3134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Impact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3134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100.00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794760" y="2962656"/>
            <a:ext cx="2148840" cy="822960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913632" y="3054096"/>
            <a:ext cx="19110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Montserrat"/>
              </a:defRPr>
            </a:pPr>
            <a:r>
              <a:t>Priority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913632" y="3273552"/>
            <a:ext cx="1911095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Montserrat"/>
              </a:defRPr>
            </a:pPr>
            <a:r>
              <a:t>85.30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913632" y="3639312"/>
            <a:ext cx="1911095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50" b="1">
                <a:solidFill>
                  <a:srgbClr val="FFFFFF"/>
                </a:solidFill>
                <a:latin typeface="Montserrat"/>
              </a:defRPr>
            </a:pPr>
            <a:r>
              <a:t>PRIORITY ≥ 5.0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45352" y="299008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80576" y="299008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45352" y="326440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Worst KPI / Severity Driver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80576" y="326440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245352" y="353872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Largest Exposure KPI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180576" y="353872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594360" y="3913632"/>
            <a:ext cx="5349240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31520" y="4023360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Confidence / evidence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31520" y="4361688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CVR 96% · n=4,000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3867912" y="4453127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3867912" y="4453127"/>
            <a:ext cx="1815579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31520" y="4626864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PNA 97% · n=1,000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3867912" y="4718303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3867912" y="4718303"/>
            <a:ext cx="182880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31520" y="4892040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Cancels 99% · n=1,000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3867912" y="4983479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3867912" y="4983479"/>
            <a:ext cx="1865013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6108192" y="3913632"/>
            <a:ext cx="5568696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254496" y="402336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Main KPI trend</a:t>
            </a:r>
          </a:p>
        </p:txBody>
      </p:sp>
      <p:pic>
        <p:nvPicPr>
          <p:cNvPr id="80" name="Picture 79" descr="diagnostic_1cfe316ef6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7648" y="4379976"/>
            <a:ext cx="5148072" cy="786384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685800" y="5358384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Critical Review — raw observations; separate from business materiality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85800" y="5586984"/>
            <a:ext cx="108813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CVR 2.5% · n=4,000 | PNA 45.0% · n=1,000 | Cancels 22.0% · n=1,000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594360" y="5925312"/>
            <a:ext cx="11082528" cy="749808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31520" y="6007608"/>
            <a:ext cx="10698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Likely operational driver: Availability / stock synchronization; possible contributing factor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31520" y="6208776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31520" y="6464808"/>
            <a:ext cx="106984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Intended effect: Reduce PNA-affected demand</a:t>
            </a:r>
          </a:p>
        </p:txBody>
      </p:sp>
      <p:sp>
        <p:nvSpPr>
          <p:cNvPr id="87" name="Rectangle 86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94360" y="1458468"/>
            <a:ext cx="11064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80" b="1">
                <a:solidFill>
                  <a:srgbClr val="00A082"/>
                </a:solidFill>
                <a:latin typeface="Montserrat"/>
              </a:defRPr>
            </a:pPr>
            <a:r>
              <a:t>Business: ACTION · Base Priority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93776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 supplies branch 1, Rustaveli Avenue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23544"/>
            <a:ext cx="5577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Tbilisi · August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07008"/>
            <a:ext cx="120700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239012"/>
            <a:ext cx="10607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ACTIVE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92808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65960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DATA 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8728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COMPLETE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DELIVERED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07808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7696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SESSIONS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7696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4,000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87584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ATTEMPTS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87584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1,000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26.4%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SBU · -23.9 pp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65960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965960" y="2345436"/>
            <a:ext cx="9585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78331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374136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02152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2152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45.0%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2152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6.1%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2152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SBU · +38.9 pp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45736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745736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883911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153912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81928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81928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22.0%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81928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2.5%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81928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SBU · +19.5 pp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525512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525512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642177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933688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61704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61704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72.0%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61704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Target 95.0%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61704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Target · -23.0 pp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305288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10305288" y="2345436"/>
            <a:ext cx="76727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1317659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5943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132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Severity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32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90.74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1945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3134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Impact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3134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100.00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794760" y="2962656"/>
            <a:ext cx="2148840" cy="822960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913632" y="3054096"/>
            <a:ext cx="19110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Montserrat"/>
              </a:defRPr>
            </a:pPr>
            <a:r>
              <a:t>Priority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913632" y="3273552"/>
            <a:ext cx="1911095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Montserrat"/>
              </a:defRPr>
            </a:pPr>
            <a:r>
              <a:t>85.30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913632" y="3639312"/>
            <a:ext cx="1911095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50" b="1">
                <a:solidFill>
                  <a:srgbClr val="FFFFFF"/>
                </a:solidFill>
                <a:latin typeface="Montserrat"/>
              </a:defRPr>
            </a:pPr>
            <a:r>
              <a:t>PRIORITY ≥ 5.0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45352" y="299008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80576" y="299008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45352" y="326440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Worst KPI / Severity Driver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80576" y="326440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245352" y="353872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Largest Exposure KPI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180576" y="353872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594360" y="3913632"/>
            <a:ext cx="5349240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31520" y="4023360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Confidence / evidence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31520" y="4361688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CVR 96% · n=4,000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3867912" y="4453127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3867912" y="4453127"/>
            <a:ext cx="1815579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31520" y="4626864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PNA 97% · n=1,000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3867912" y="4718303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3867912" y="4718303"/>
            <a:ext cx="182880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31520" y="4892040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Cancels 99% · n=1,000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3867912" y="4983479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3867912" y="4983479"/>
            <a:ext cx="1865013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6108192" y="3913632"/>
            <a:ext cx="5568696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254496" y="402336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Main KPI trend</a:t>
            </a:r>
          </a:p>
        </p:txBody>
      </p:sp>
      <p:pic>
        <p:nvPicPr>
          <p:cNvPr id="80" name="Picture 79" descr="diagnostic_1cfe316ef6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7648" y="4379976"/>
            <a:ext cx="5148072" cy="786384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685800" y="5358384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Critical Review — raw observations; separate from business materiality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85800" y="5586984"/>
            <a:ext cx="108813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CVR 2.5% · n=4,000 | PNA 45.0% · n=1,000 | Cancels 22.0% · n=1,000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594360" y="5925312"/>
            <a:ext cx="11082528" cy="749808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31520" y="6007608"/>
            <a:ext cx="10698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Likely operational driver: Availability / stock synchronization; possible contributing factor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31520" y="6208776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31520" y="6464808"/>
            <a:ext cx="106984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Intended effect: Reduce PNA-affected demand</a:t>
            </a:r>
          </a:p>
        </p:txBody>
      </p:sp>
      <p:sp>
        <p:nvSpPr>
          <p:cNvPr id="87" name="Rectangle 86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94360" y="1458468"/>
            <a:ext cx="11064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80" b="1">
                <a:solidFill>
                  <a:srgbClr val="00A082"/>
                </a:solidFill>
                <a:latin typeface="Montserrat"/>
              </a:defRPr>
            </a:pPr>
            <a:r>
              <a:t>Business: ACTION · Base Priority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93776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 supplies branch 2, Rustaveli Avenue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23544"/>
            <a:ext cx="5577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Tbilisi · August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07008"/>
            <a:ext cx="120700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239012"/>
            <a:ext cx="10607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ACTIVE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92808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65960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DATA 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8728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COMPLETE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DELIVERED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07808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7696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SESSIONS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7696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4,000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87584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ATTEMPTS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87584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1,000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26.4%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SBU · -23.9 pp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65960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965960" y="2345436"/>
            <a:ext cx="9585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78331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374136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02152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2152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45.0%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2152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6.1%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2152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SBU · +38.9 pp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45736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745736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883911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153912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81928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81928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22.0%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81928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2.5%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81928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SBU · +19.5 pp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525512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525512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642177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933688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61704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61704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72.0%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61704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Target 95.0%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61704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Target · -23.0 pp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305288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10305288" y="2345436"/>
            <a:ext cx="76727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1317659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5943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132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Severity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32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90.74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1945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3134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Impact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3134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100.00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794760" y="2962656"/>
            <a:ext cx="2148840" cy="822960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913632" y="3054096"/>
            <a:ext cx="19110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Montserrat"/>
              </a:defRPr>
            </a:pPr>
            <a:r>
              <a:t>Priority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913632" y="3273552"/>
            <a:ext cx="1911095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Montserrat"/>
              </a:defRPr>
            </a:pPr>
            <a:r>
              <a:t>85.30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913632" y="3639312"/>
            <a:ext cx="1911095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50" b="1">
                <a:solidFill>
                  <a:srgbClr val="FFFFFF"/>
                </a:solidFill>
                <a:latin typeface="Montserrat"/>
              </a:defRPr>
            </a:pPr>
            <a:r>
              <a:t>PRIORITY ≥ 5.0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45352" y="299008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80576" y="299008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45352" y="326440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Worst KPI / Severity Driver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80576" y="326440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245352" y="353872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Largest Exposure KPI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180576" y="353872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594360" y="3913632"/>
            <a:ext cx="5349240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31520" y="4023360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Confidence / evidence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31520" y="4361688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CVR 96% · n=4,000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3867912" y="4453127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3867912" y="4453127"/>
            <a:ext cx="1815579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31520" y="4626864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PNA 97% · n=1,000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3867912" y="4718303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3867912" y="4718303"/>
            <a:ext cx="182880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31520" y="4892040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Cancels 99% · n=1,000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3867912" y="4983479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3867912" y="4983479"/>
            <a:ext cx="1865013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6108192" y="3913632"/>
            <a:ext cx="5568696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254496" y="402336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Main KPI trend</a:t>
            </a:r>
          </a:p>
        </p:txBody>
      </p:sp>
      <p:pic>
        <p:nvPicPr>
          <p:cNvPr id="80" name="Picture 79" descr="diagnostic_1cfe316ef6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7648" y="4379976"/>
            <a:ext cx="5148072" cy="786384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685800" y="5358384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Critical Review — raw observations; separate from business materiality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85800" y="5586984"/>
            <a:ext cx="108813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CVR 2.5% · n=4,000 | PNA 45.0% · n=1,000 | Cancels 22.0% · n=1,000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594360" y="5925312"/>
            <a:ext cx="11082528" cy="749808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31520" y="6007608"/>
            <a:ext cx="10698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Likely operational driver: Availability / stock synchronization; possible contributing factor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31520" y="6208776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31520" y="6464808"/>
            <a:ext cx="106984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Intended effect: Reduce PNA-affected demand</a:t>
            </a:r>
          </a:p>
        </p:txBody>
      </p:sp>
      <p:sp>
        <p:nvSpPr>
          <p:cNvPr id="87" name="Rectangle 86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94360" y="1458468"/>
            <a:ext cx="11064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80" b="1">
                <a:solidFill>
                  <a:srgbClr val="00A082"/>
                </a:solidFill>
                <a:latin typeface="Montserrat"/>
              </a:defRPr>
            </a:pPr>
            <a:r>
              <a:t>Business: ACTION · Base Priority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93776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 supplies branch 3, Rustaveli Avenue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23544"/>
            <a:ext cx="5577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Tbilisi · August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07008"/>
            <a:ext cx="120700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239012"/>
            <a:ext cx="10607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ACTIVE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92808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65960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DATA 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8728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COMPLETE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DELIVERED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07808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7696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SESSIONS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7696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4,000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87584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ATTEMPTS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87584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1,000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26.4%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SBU · -23.9 pp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65960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965960" y="2345436"/>
            <a:ext cx="9585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78331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374136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02152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2152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45.0%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2152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6.1%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2152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SBU · +38.9 pp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45736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745736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883911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153912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81928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81928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22.0%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81928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2.5%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81928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SBU · +19.5 pp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525512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525512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642177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933688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61704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61704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72.0%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61704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Target 95.0%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61704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Target · -23.0 pp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305288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10305288" y="2345436"/>
            <a:ext cx="76727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1317659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5943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132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Severity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32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90.74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1945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3134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Impact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3134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100.00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794760" y="2962656"/>
            <a:ext cx="2148840" cy="822960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913632" y="3054096"/>
            <a:ext cx="19110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Montserrat"/>
              </a:defRPr>
            </a:pPr>
            <a:r>
              <a:t>Priority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913632" y="3273552"/>
            <a:ext cx="1911095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Montserrat"/>
              </a:defRPr>
            </a:pPr>
            <a:r>
              <a:t>85.30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913632" y="3639312"/>
            <a:ext cx="1911095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50" b="1">
                <a:solidFill>
                  <a:srgbClr val="FFFFFF"/>
                </a:solidFill>
                <a:latin typeface="Montserrat"/>
              </a:defRPr>
            </a:pPr>
            <a:r>
              <a:t>PRIORITY ≥ 5.0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45352" y="299008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80576" y="299008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45352" y="326440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Worst KPI / Severity Driver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80576" y="326440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245352" y="353872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Largest Exposure KPI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180576" y="353872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594360" y="3913632"/>
            <a:ext cx="5349240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31520" y="4023360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Confidence / evidence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31520" y="4361688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CVR 96% · n=4,000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3867912" y="4453127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3867912" y="4453127"/>
            <a:ext cx="1815579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31520" y="4626864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PNA 97% · n=1,000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3867912" y="4718303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3867912" y="4718303"/>
            <a:ext cx="182880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31520" y="4892040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Cancels 99% · n=1,000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3867912" y="4983479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3867912" y="4983479"/>
            <a:ext cx="1865013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6108192" y="3913632"/>
            <a:ext cx="5568696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254496" y="402336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Main KPI trend</a:t>
            </a:r>
          </a:p>
        </p:txBody>
      </p:sp>
      <p:pic>
        <p:nvPicPr>
          <p:cNvPr id="80" name="Picture 79" descr="diagnostic_1cfe316ef6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7648" y="4379976"/>
            <a:ext cx="5148072" cy="786384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685800" y="5358384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Critical Review — raw observations; separate from business materiality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85800" y="5586984"/>
            <a:ext cx="108813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CVR 2.5% · n=4,000 | PNA 45.0% · n=1,000 | Cancels 22.0% · n=1,000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594360" y="5925312"/>
            <a:ext cx="11082528" cy="749808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31520" y="6007608"/>
            <a:ext cx="10698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Likely operational driver: Availability / stock synchronization; possible contributing factor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31520" y="6208776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31520" y="6464808"/>
            <a:ext cx="106984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Intended effect: Reduce PNA-affected demand</a:t>
            </a:r>
          </a:p>
        </p:txBody>
      </p:sp>
      <p:sp>
        <p:nvSpPr>
          <p:cNvPr id="87" name="Rectangle 86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94360" y="1458468"/>
            <a:ext cx="11064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80" b="1">
                <a:solidFill>
                  <a:srgbClr val="00A082"/>
                </a:solidFill>
                <a:latin typeface="Montserrat"/>
              </a:defRPr>
            </a:pPr>
            <a:r>
              <a:t>Business: ACTION · Base Priority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93776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 supplies branch 4, Rustaveli Avenue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23544"/>
            <a:ext cx="5577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Tbilisi · August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07008"/>
            <a:ext cx="120700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239012"/>
            <a:ext cx="10607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ACTIVE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92808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65960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DATA 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8728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COMPLETE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DELIVERED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07808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7696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SESSIONS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7696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4,000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87584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ATTEMPTS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87584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1,000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26.4%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SBU · -23.9 pp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65960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965960" y="2345436"/>
            <a:ext cx="9585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78331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374136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02152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2152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45.0%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2152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6.1%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2152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SBU · +38.9 pp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45736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745736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883911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153912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81928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81928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22.0%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81928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2.5%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81928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SBU · +19.5 pp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525512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525512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642177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933688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61704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61704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72.0%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61704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Target 95.0%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61704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Target · -23.0 pp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305288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10305288" y="2345436"/>
            <a:ext cx="76727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1317659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5943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132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Severity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32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90.74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1945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3134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Impact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3134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100.00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794760" y="2962656"/>
            <a:ext cx="2148840" cy="822960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913632" y="3054096"/>
            <a:ext cx="19110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Montserrat"/>
              </a:defRPr>
            </a:pPr>
            <a:r>
              <a:t>Priority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913632" y="3273552"/>
            <a:ext cx="1911095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Montserrat"/>
              </a:defRPr>
            </a:pPr>
            <a:r>
              <a:t>85.30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913632" y="3639312"/>
            <a:ext cx="1911095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50" b="1">
                <a:solidFill>
                  <a:srgbClr val="FFFFFF"/>
                </a:solidFill>
                <a:latin typeface="Montserrat"/>
              </a:defRPr>
            </a:pPr>
            <a:r>
              <a:t>PRIORITY ≥ 5.0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45352" y="299008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80576" y="299008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45352" y="326440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Worst KPI / Severity Driver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80576" y="326440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245352" y="353872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Largest Exposure KPI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180576" y="353872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594360" y="3913632"/>
            <a:ext cx="5349240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31520" y="4023360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Confidence / evidence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31520" y="4361688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CVR 96% · n=4,000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3867912" y="4453127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3867912" y="4453127"/>
            <a:ext cx="1815579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31520" y="4626864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PNA 97% · n=1,000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3867912" y="4718303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3867912" y="4718303"/>
            <a:ext cx="182880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31520" y="4892040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Cancels 99% · n=1,000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3867912" y="4983479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3867912" y="4983479"/>
            <a:ext cx="1865013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6108192" y="3913632"/>
            <a:ext cx="5568696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254496" y="402336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Main KPI trend</a:t>
            </a:r>
          </a:p>
        </p:txBody>
      </p:sp>
      <p:pic>
        <p:nvPicPr>
          <p:cNvPr id="80" name="Picture 79" descr="diagnostic_1cfe316ef6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7648" y="4379976"/>
            <a:ext cx="5148072" cy="786384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685800" y="5358384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Critical Review — raw observations; separate from business materiality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85800" y="5586984"/>
            <a:ext cx="108813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CVR 2.5% · n=4,000 | PNA 45.0% · n=1,000 | Cancels 22.0% · n=1,000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594360" y="5925312"/>
            <a:ext cx="11082528" cy="749808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31520" y="6007608"/>
            <a:ext cx="10698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Likely operational driver: Availability / stock synchronization; possible contributing factor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31520" y="6208776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31520" y="6464808"/>
            <a:ext cx="106984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Intended effect: Reduce PNA-affected demand</a:t>
            </a:r>
          </a:p>
        </p:txBody>
      </p:sp>
      <p:sp>
        <p:nvSpPr>
          <p:cNvPr id="87" name="Rectangle 86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94360" y="1458468"/>
            <a:ext cx="11064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80" b="1">
                <a:solidFill>
                  <a:srgbClr val="00A082"/>
                </a:solidFill>
                <a:latin typeface="Montserrat"/>
              </a:defRPr>
            </a:pPr>
            <a:r>
              <a:t>Business: ACTION · Base Priority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93776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 supplies branch 5, Rustaveli Avenue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23544"/>
            <a:ext cx="5577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Tbilisi · August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07008"/>
            <a:ext cx="120700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239012"/>
            <a:ext cx="10607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ACTIVE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92808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65960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DATA 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8728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COMPLETE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DELIVERED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07808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7696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SESSIONS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7696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4,000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87584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ATTEMPTS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87584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1,000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26.4%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SBU · -23.9 pp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65960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965960" y="2345436"/>
            <a:ext cx="9585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78331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374136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02152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2152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45.0%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2152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6.1%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2152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SBU · +38.9 pp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45736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745736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883911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153912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81928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81928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22.0%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81928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2.5%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81928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SBU · +19.5 pp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525512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525512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642177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933688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61704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61704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72.0%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61704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Target 95.0%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61704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Target · -23.0 pp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305288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10305288" y="2345436"/>
            <a:ext cx="76727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1317659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5943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132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Severity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32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90.74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1945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3134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Impact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3134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100.00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794760" y="2962656"/>
            <a:ext cx="2148840" cy="822960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913632" y="3054096"/>
            <a:ext cx="19110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Montserrat"/>
              </a:defRPr>
            </a:pPr>
            <a:r>
              <a:t>Priority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913632" y="3273552"/>
            <a:ext cx="1911095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Montserrat"/>
              </a:defRPr>
            </a:pPr>
            <a:r>
              <a:t>85.30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913632" y="3639312"/>
            <a:ext cx="1911095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50" b="1">
                <a:solidFill>
                  <a:srgbClr val="FFFFFF"/>
                </a:solidFill>
                <a:latin typeface="Montserrat"/>
              </a:defRPr>
            </a:pPr>
            <a:r>
              <a:t>PRIORITY ≥ 5.0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45352" y="299008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80576" y="299008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45352" y="326440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Worst KPI / Severity Driver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80576" y="326440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245352" y="353872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Largest Exposure KPI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180576" y="353872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594360" y="3913632"/>
            <a:ext cx="5349240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31520" y="4023360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Confidence / evidence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31520" y="4361688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CVR 96% · n=4,000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3867912" y="4453127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3867912" y="4453127"/>
            <a:ext cx="1815579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31520" y="4626864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PNA 97% · n=1,000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3867912" y="4718303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3867912" y="4718303"/>
            <a:ext cx="182880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31520" y="4892040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Cancels 99% · n=1,000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3867912" y="4983479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3867912" y="4983479"/>
            <a:ext cx="1865013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6108192" y="3913632"/>
            <a:ext cx="5568696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254496" y="402336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Main KPI trend</a:t>
            </a:r>
          </a:p>
        </p:txBody>
      </p:sp>
      <p:pic>
        <p:nvPicPr>
          <p:cNvPr id="80" name="Picture 79" descr="diagnostic_1cfe316ef6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7648" y="4379976"/>
            <a:ext cx="5148072" cy="786384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685800" y="5358384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Critical Review — raw observations; separate from business materiality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85800" y="5586984"/>
            <a:ext cx="108813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CVR 2.5% · n=4,000 | PNA 45.0% · n=1,000 | Cancels 22.0% · n=1,000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594360" y="5925312"/>
            <a:ext cx="11082528" cy="749808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31520" y="6007608"/>
            <a:ext cx="10698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Likely operational driver: Availability / stock synchronization; possible contributing factor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31520" y="6208776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31520" y="6464808"/>
            <a:ext cx="106984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Intended effect: Reduce PNA-affected demand</a:t>
            </a:r>
          </a:p>
        </p:txBody>
      </p:sp>
      <p:sp>
        <p:nvSpPr>
          <p:cNvPr id="87" name="Rectangle 86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94360" y="1458468"/>
            <a:ext cx="11064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80" b="1">
                <a:solidFill>
                  <a:srgbClr val="00A082"/>
                </a:solidFill>
                <a:latin typeface="Montserrat"/>
              </a:defRPr>
            </a:pPr>
            <a:r>
              <a:t>Business: ACTION · Base Priority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93776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 supplies branch G, Rustaveli Avenue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23544"/>
            <a:ext cx="5577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Tbilisi · August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07008"/>
            <a:ext cx="120700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239012"/>
            <a:ext cx="10607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ACTIVE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92808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65960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DATA 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8728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INCOMPLETE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€2,000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DELIVERED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07808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200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7696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SESSIONS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7696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87584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ATTEMPTS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87584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400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20.0%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26.4%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SBU · -6.4 pp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65960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965960" y="2345436"/>
            <a:ext cx="766805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78331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374136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02152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2152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2152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6.1%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2152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Gap not assessed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53912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81928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81928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81928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2.5%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81928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SBU · -0.0 pp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525512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525512" y="2345436"/>
            <a:ext cx="998287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537883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933688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061704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61704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95.0%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61704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Target 95.0%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61704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At Target · +0.0 pp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305288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10305288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1317659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5943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132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Severity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132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1945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3134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Impact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3134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794760" y="2962656"/>
            <a:ext cx="2148840" cy="822960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913632" y="3054096"/>
            <a:ext cx="19110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Priority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913632" y="3273552"/>
            <a:ext cx="1911095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913632" y="3639312"/>
            <a:ext cx="1911095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5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45352" y="299008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Leading known issue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180576" y="299008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245352" y="326440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Worst known KPI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180576" y="326440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245352" y="353872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Largest known exposure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180576" y="353872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94360" y="3913632"/>
            <a:ext cx="5349240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31520" y="4023360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Confidence / evidence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31520" y="4361688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CVR 87% · n=1,000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3867912" y="4453127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3867912" y="4453127"/>
            <a:ext cx="1637968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31520" y="4626864"/>
            <a:ext cx="489204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69" b="0">
                <a:solidFill>
                  <a:srgbClr val="232323"/>
                </a:solidFill>
                <a:latin typeface="Montserrat"/>
              </a:defRPr>
            </a:pPr>
            <a:r>
              <a:t>PNA · Rate unavailable / not assessed · n=400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31520" y="4892040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Cancels 98% · n=400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3867912" y="4983479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3867912" y="4983479"/>
            <a:ext cx="183772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6108192" y="3913632"/>
            <a:ext cx="5568696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254496" y="402336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Leading known issue trend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254496" y="448056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6E6E6E"/>
                </a:solidFill>
                <a:latin typeface="Montserrat"/>
              </a:defRPr>
            </a:pPr>
            <a:r>
              <a:t>Trend unavailable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85800" y="5358384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Assessment incomplete — review evidence before selecting a business action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85800" y="5586984"/>
            <a:ext cx="108813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Unavailable metrics: PNA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594360" y="5925312"/>
            <a:ext cx="11082528" cy="749808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31520" y="6007608"/>
            <a:ext cx="10698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Required data review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31520" y="6208776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Review incomplete assessment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31520" y="6464808"/>
            <a:ext cx="106984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Evidence: Unavailable metrics: PNA</a:t>
            </a:r>
          </a:p>
        </p:txBody>
      </p:sp>
      <p:sp>
        <p:nvSpPr>
          <p:cNvPr id="82" name="Rectangle 81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94360" y="1458468"/>
            <a:ext cx="11064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80" b="1">
                <a:solidFill>
                  <a:srgbClr val="00A082"/>
                </a:solidFill>
                <a:latin typeface="Montserrat"/>
              </a:defRPr>
            </a:pPr>
            <a:r>
              <a:t>Business: UNCLASSIFIED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93776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 supplies branch D, Rustaveli Avenue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23544"/>
            <a:ext cx="5577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August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07008"/>
            <a:ext cx="1207008" cy="228600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239012"/>
            <a:ext cx="10607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UNKNOWN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92808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65960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MISSING DATA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8728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INCOMPLETE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DELIVERED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07808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7696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SESSIONS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7696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87584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ATTEMPTS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87584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26.4%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Gap not assessed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74136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02152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02152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02152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6.1%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02152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Gap not assessed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53912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81928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81928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81928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2.5%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81928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Gap not assessed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933688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61704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61704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61704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Target 95.0%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61704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Gap not assessed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61704" y="2679191"/>
            <a:ext cx="24323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Missing current evidence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943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132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Severity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32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1945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3134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Impact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3134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794760" y="2962656"/>
            <a:ext cx="2148840" cy="822960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913632" y="3054096"/>
            <a:ext cx="19110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Priority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913632" y="3273552"/>
            <a:ext cx="1911095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913632" y="3639312"/>
            <a:ext cx="1911095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5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45352" y="299008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Leading known issue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80576" y="299008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45352" y="326440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Worst known KPI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80576" y="326440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None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45352" y="353872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Largest known exposure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180576" y="353872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94360" y="3913632"/>
            <a:ext cx="5349240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31520" y="4023360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Confidence / evidence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31520" y="4361688"/>
            <a:ext cx="489204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69" b="0">
                <a:solidFill>
                  <a:srgbClr val="232323"/>
                </a:solidFill>
                <a:latin typeface="Montserrat"/>
              </a:defRPr>
            </a:pPr>
            <a:r>
              <a:t>CVR · Rate unavailable / not assessed · n unavailable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31520" y="4626864"/>
            <a:ext cx="489204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69" b="0">
                <a:solidFill>
                  <a:srgbClr val="232323"/>
                </a:solidFill>
                <a:latin typeface="Montserrat"/>
              </a:defRPr>
            </a:pPr>
            <a:r>
              <a:t>PNA · Rate unavailable / not assessed · n unavailable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31520" y="4892040"/>
            <a:ext cx="489204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69" b="0">
                <a:solidFill>
                  <a:srgbClr val="232323"/>
                </a:solidFill>
                <a:latin typeface="Montserrat"/>
              </a:defRPr>
            </a:pPr>
            <a:r>
              <a:t>Cancels · Rate unavailable / not assessed · n unavailable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108192" y="3913632"/>
            <a:ext cx="5568696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254496" y="402336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Leading known issue trend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54496" y="448056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6E6E6E"/>
                </a:solidFill>
                <a:latin typeface="Montserrat"/>
              </a:defRPr>
            </a:pPr>
            <a:r>
              <a:t>Trend unavailable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85800" y="5358384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Assessment incomplete — review evidence before selecting a business action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85800" y="5586984"/>
            <a:ext cx="108813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No store row in the reporting month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594360" y="5925312"/>
            <a:ext cx="11082528" cy="749808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31520" y="6007608"/>
            <a:ext cx="10698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Required data review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31520" y="6208776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Review incomplete assessment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31520" y="6464808"/>
            <a:ext cx="106984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Evidence: No store row in the reporting month</a:t>
            </a:r>
          </a:p>
        </p:txBody>
      </p:sp>
      <p:sp>
        <p:nvSpPr>
          <p:cNvPr id="70" name="Rectangle 69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94360" y="1458468"/>
            <a:ext cx="11064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80" b="1">
                <a:solidFill>
                  <a:srgbClr val="00A082"/>
                </a:solidFill>
                <a:latin typeface="Montserrat"/>
              </a:defRPr>
            </a:pPr>
            <a:r>
              <a:t>Business: UNCLASSIFIED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Priority Opportunities &amp; Actions · 1/3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V2.1 business triage · Priority ranking remains unchanged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68512" y="1417320"/>
            <a:ext cx="2916936" cy="4901184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2648" y="1417320"/>
            <a:ext cx="7818120" cy="23774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pportunity store: PRIVATE-ID-0"/>
          <p:cNvSpPr txBox="1"/>
          <p:nvPr/>
        </p:nvSpPr>
        <p:spPr>
          <a:xfrm>
            <a:off x="841248" y="1527048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00A082"/>
                </a:solidFill>
                <a:latin typeface="Montserrat"/>
              </a:defRPr>
            </a:pPr>
            <a:r>
              <a:t>#1 · პეტფუდი — შინაური ცხოველების კვებისა და ვეტერინარული მომსახურების ცენტრი, ჭავჭავაძის გამზირი 123</a:t>
            </a:r>
          </a:p>
        </p:txBody>
      </p:sp>
      <p:sp>
        <p:nvSpPr>
          <p:cNvPr id="8" name="V2.1 action field 0: PRIVATE-ID-0"/>
          <p:cNvSpPr txBox="1"/>
          <p:nvPr/>
        </p:nvSpPr>
        <p:spPr>
          <a:xfrm>
            <a:off x="841248" y="1911095"/>
            <a:ext cx="7315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Priority 85.30 · Primary Action KPI: PNA</a:t>
            </a:r>
          </a:p>
        </p:txBody>
      </p:sp>
      <p:sp>
        <p:nvSpPr>
          <p:cNvPr id="9" name="V2.1 action field 1: PRIVATE-ID-0"/>
          <p:cNvSpPr txBox="1"/>
          <p:nvPr/>
        </p:nvSpPr>
        <p:spPr>
          <a:xfrm>
            <a:off x="841248" y="2176272"/>
            <a:ext cx="73152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ACTION · Base Priority</a:t>
            </a:r>
          </a:p>
        </p:txBody>
      </p:sp>
      <p:sp>
        <p:nvSpPr>
          <p:cNvPr id="10" name="V2.1 action field 2: PRIVATE-ID-0"/>
          <p:cNvSpPr txBox="1"/>
          <p:nvPr/>
        </p:nvSpPr>
        <p:spPr>
          <a:xfrm>
            <a:off x="841248" y="24048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PNA 45.0% vs SBU 6.1%</a:t>
            </a:r>
          </a:p>
        </p:txBody>
      </p:sp>
      <p:sp>
        <p:nvSpPr>
          <p:cNvPr id="11" name="V2.1 action field 3: PRIVATE-ID-0"/>
          <p:cNvSpPr txBox="1"/>
          <p:nvPr/>
        </p:nvSpPr>
        <p:spPr>
          <a:xfrm>
            <a:off x="841248" y="2642616"/>
            <a:ext cx="731520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80" b="0">
                <a:solidFill>
                  <a:srgbClr val="6E6E6E"/>
                </a:solidFill>
                <a:latin typeface="Montserrat"/>
              </a:defRPr>
            </a:pPr>
            <a:r>
              <a:t>Likely operational driver: Availability / stock synchronization; possible contributing factor</a:t>
            </a:r>
          </a:p>
        </p:txBody>
      </p:sp>
      <p:sp>
        <p:nvSpPr>
          <p:cNvPr id="12" name="V2.1 action field 4: PRIVATE-ID-0"/>
          <p:cNvSpPr txBox="1"/>
          <p:nvPr/>
        </p:nvSpPr>
        <p:spPr>
          <a:xfrm>
            <a:off x="841248" y="303580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80" b="1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13" name="V2.1 action field 5: PRIVATE-ID-0"/>
          <p:cNvSpPr txBox="1"/>
          <p:nvPr/>
        </p:nvSpPr>
        <p:spPr>
          <a:xfrm>
            <a:off x="841248" y="3465576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Intended effect: Reduce PNA-affected demand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" y="3931920"/>
            <a:ext cx="7818120" cy="23774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pportunity store: PRIVATE-ID-1"/>
          <p:cNvSpPr txBox="1"/>
          <p:nvPr/>
        </p:nvSpPr>
        <p:spPr>
          <a:xfrm>
            <a:off x="841248" y="4041648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1">
                <a:solidFill>
                  <a:srgbClr val="00A082"/>
                </a:solidFill>
                <a:latin typeface="Montserrat"/>
              </a:defRPr>
            </a:pPr>
            <a:r>
              <a:t>#2 · Pet supplies branch 1, Rustaveli Avenue 15</a:t>
            </a:r>
          </a:p>
        </p:txBody>
      </p:sp>
      <p:sp>
        <p:nvSpPr>
          <p:cNvPr id="16" name="V2.1 action field 0: PRIVATE-ID-1"/>
          <p:cNvSpPr txBox="1"/>
          <p:nvPr/>
        </p:nvSpPr>
        <p:spPr>
          <a:xfrm>
            <a:off x="841248" y="4425696"/>
            <a:ext cx="7315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Priority 85.30 · Primary Action KPI: PNA</a:t>
            </a:r>
          </a:p>
        </p:txBody>
      </p:sp>
      <p:sp>
        <p:nvSpPr>
          <p:cNvPr id="17" name="V2.1 action field 1: PRIVATE-ID-1"/>
          <p:cNvSpPr txBox="1"/>
          <p:nvPr/>
        </p:nvSpPr>
        <p:spPr>
          <a:xfrm>
            <a:off x="841248" y="4690872"/>
            <a:ext cx="73152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ACTION · Base Priority</a:t>
            </a:r>
          </a:p>
        </p:txBody>
      </p:sp>
      <p:sp>
        <p:nvSpPr>
          <p:cNvPr id="18" name="V2.1 action field 2: PRIVATE-ID-1"/>
          <p:cNvSpPr txBox="1"/>
          <p:nvPr/>
        </p:nvSpPr>
        <p:spPr>
          <a:xfrm>
            <a:off x="841248" y="49194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PNA 45.0% vs SBU 6.1%</a:t>
            </a:r>
          </a:p>
        </p:txBody>
      </p:sp>
      <p:sp>
        <p:nvSpPr>
          <p:cNvPr id="19" name="V2.1 action field 3: PRIVATE-ID-1"/>
          <p:cNvSpPr txBox="1"/>
          <p:nvPr/>
        </p:nvSpPr>
        <p:spPr>
          <a:xfrm>
            <a:off x="841248" y="5157216"/>
            <a:ext cx="731520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80" b="0">
                <a:solidFill>
                  <a:srgbClr val="6E6E6E"/>
                </a:solidFill>
                <a:latin typeface="Montserrat"/>
              </a:defRPr>
            </a:pPr>
            <a:r>
              <a:t>Likely operational driver: Availability / stock synchronization; possible contributing factor</a:t>
            </a:r>
          </a:p>
        </p:txBody>
      </p:sp>
      <p:sp>
        <p:nvSpPr>
          <p:cNvPr id="20" name="V2.1 action field 4: PRIVATE-ID-1"/>
          <p:cNvSpPr txBox="1"/>
          <p:nvPr/>
        </p:nvSpPr>
        <p:spPr>
          <a:xfrm>
            <a:off x="841248" y="555040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80" b="1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21" name="V2.1 action field 5: PRIVATE-ID-1"/>
          <p:cNvSpPr txBox="1"/>
          <p:nvPr/>
        </p:nvSpPr>
        <p:spPr>
          <a:xfrm>
            <a:off x="841248" y="5980176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Intended effect: Reduce PNA-affected demand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78824" y="1627632"/>
            <a:ext cx="253288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OVERALL ACTION FOCUS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78824" y="1965960"/>
            <a:ext cx="253288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6 selected of 6 ACTION stores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78824" y="2331720"/>
            <a:ext cx="2532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78824" y="2569463"/>
            <a:ext cx="25328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78824" y="2926079"/>
            <a:ext cx="2532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Stores Requiring Action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78824" y="3163824"/>
            <a:ext cx="25328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6 stores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78824" y="3520439"/>
            <a:ext cx="2532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Priority Range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78824" y="3758183"/>
            <a:ext cx="25328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Highest 85.30 · Lowest 85.30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78824" y="4114800"/>
            <a:ext cx="2532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/ Review Items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78824" y="4352544"/>
            <a:ext cx="25328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18 items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78824" y="4745736"/>
            <a:ext cx="253288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Review items are separate from Priority.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06256" y="516636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Next review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06256" y="5532120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62288" y="5532120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Confirm priority stores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06256" y="5797296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62288" y="5797296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Assign owner / deadline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06256" y="6062472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62288" y="6062472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Track progress next review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Priority Opportunities &amp; Actions · 2/3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V2.1 business triage · Priority ranking remains unchanged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68512" y="1417320"/>
            <a:ext cx="2916936" cy="4901184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2648" y="1417320"/>
            <a:ext cx="7818120" cy="23774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pportunity store: PRIVATE-ID-2"/>
          <p:cNvSpPr txBox="1"/>
          <p:nvPr/>
        </p:nvSpPr>
        <p:spPr>
          <a:xfrm>
            <a:off x="841248" y="1527048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1">
                <a:solidFill>
                  <a:srgbClr val="00A082"/>
                </a:solidFill>
                <a:latin typeface="Montserrat"/>
              </a:defRPr>
            </a:pPr>
            <a:r>
              <a:t>#3 · Pet supplies branch 2, Rustaveli Avenue 15</a:t>
            </a:r>
          </a:p>
        </p:txBody>
      </p:sp>
      <p:sp>
        <p:nvSpPr>
          <p:cNvPr id="8" name="V2.1 action field 0: PRIVATE-ID-2"/>
          <p:cNvSpPr txBox="1"/>
          <p:nvPr/>
        </p:nvSpPr>
        <p:spPr>
          <a:xfrm>
            <a:off x="841248" y="1911095"/>
            <a:ext cx="7315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Priority 85.30 · Primary Action KPI: PNA</a:t>
            </a:r>
          </a:p>
        </p:txBody>
      </p:sp>
      <p:sp>
        <p:nvSpPr>
          <p:cNvPr id="9" name="V2.1 action field 1: PRIVATE-ID-2"/>
          <p:cNvSpPr txBox="1"/>
          <p:nvPr/>
        </p:nvSpPr>
        <p:spPr>
          <a:xfrm>
            <a:off x="841248" y="2176272"/>
            <a:ext cx="73152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ACTION · Base Priority</a:t>
            </a:r>
          </a:p>
        </p:txBody>
      </p:sp>
      <p:sp>
        <p:nvSpPr>
          <p:cNvPr id="10" name="V2.1 action field 2: PRIVATE-ID-2"/>
          <p:cNvSpPr txBox="1"/>
          <p:nvPr/>
        </p:nvSpPr>
        <p:spPr>
          <a:xfrm>
            <a:off x="841248" y="24048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PNA 45.0% vs SBU 6.1%</a:t>
            </a:r>
          </a:p>
        </p:txBody>
      </p:sp>
      <p:sp>
        <p:nvSpPr>
          <p:cNvPr id="11" name="V2.1 action field 3: PRIVATE-ID-2"/>
          <p:cNvSpPr txBox="1"/>
          <p:nvPr/>
        </p:nvSpPr>
        <p:spPr>
          <a:xfrm>
            <a:off x="841248" y="2642616"/>
            <a:ext cx="731520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80" b="0">
                <a:solidFill>
                  <a:srgbClr val="6E6E6E"/>
                </a:solidFill>
                <a:latin typeface="Montserrat"/>
              </a:defRPr>
            </a:pPr>
            <a:r>
              <a:t>Likely operational driver: Availability / stock synchronization; possible contributing factor</a:t>
            </a:r>
          </a:p>
        </p:txBody>
      </p:sp>
      <p:sp>
        <p:nvSpPr>
          <p:cNvPr id="12" name="V2.1 action field 4: PRIVATE-ID-2"/>
          <p:cNvSpPr txBox="1"/>
          <p:nvPr/>
        </p:nvSpPr>
        <p:spPr>
          <a:xfrm>
            <a:off x="841248" y="303580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80" b="1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13" name="V2.1 action field 5: PRIVATE-ID-2"/>
          <p:cNvSpPr txBox="1"/>
          <p:nvPr/>
        </p:nvSpPr>
        <p:spPr>
          <a:xfrm>
            <a:off x="841248" y="3465576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Intended effect: Reduce PNA-affected demand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" y="3931920"/>
            <a:ext cx="7818120" cy="23774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pportunity store: PRIVATE-ID-3"/>
          <p:cNvSpPr txBox="1"/>
          <p:nvPr/>
        </p:nvSpPr>
        <p:spPr>
          <a:xfrm>
            <a:off x="841248" y="4041648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1">
                <a:solidFill>
                  <a:srgbClr val="00A082"/>
                </a:solidFill>
                <a:latin typeface="Montserrat"/>
              </a:defRPr>
            </a:pPr>
            <a:r>
              <a:t>#4 · Pet supplies branch 3, Rustaveli Avenue 15</a:t>
            </a:r>
          </a:p>
        </p:txBody>
      </p:sp>
      <p:sp>
        <p:nvSpPr>
          <p:cNvPr id="16" name="V2.1 action field 0: PRIVATE-ID-3"/>
          <p:cNvSpPr txBox="1"/>
          <p:nvPr/>
        </p:nvSpPr>
        <p:spPr>
          <a:xfrm>
            <a:off x="841248" y="4425696"/>
            <a:ext cx="7315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Priority 85.30 · Primary Action KPI: PNA</a:t>
            </a:r>
          </a:p>
        </p:txBody>
      </p:sp>
      <p:sp>
        <p:nvSpPr>
          <p:cNvPr id="17" name="V2.1 action field 1: PRIVATE-ID-3"/>
          <p:cNvSpPr txBox="1"/>
          <p:nvPr/>
        </p:nvSpPr>
        <p:spPr>
          <a:xfrm>
            <a:off x="841248" y="4690872"/>
            <a:ext cx="73152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ACTION · Base Priority</a:t>
            </a:r>
          </a:p>
        </p:txBody>
      </p:sp>
      <p:sp>
        <p:nvSpPr>
          <p:cNvPr id="18" name="V2.1 action field 2: PRIVATE-ID-3"/>
          <p:cNvSpPr txBox="1"/>
          <p:nvPr/>
        </p:nvSpPr>
        <p:spPr>
          <a:xfrm>
            <a:off x="841248" y="49194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PNA 45.0% vs SBU 6.1%</a:t>
            </a:r>
          </a:p>
        </p:txBody>
      </p:sp>
      <p:sp>
        <p:nvSpPr>
          <p:cNvPr id="19" name="V2.1 action field 3: PRIVATE-ID-3"/>
          <p:cNvSpPr txBox="1"/>
          <p:nvPr/>
        </p:nvSpPr>
        <p:spPr>
          <a:xfrm>
            <a:off x="841248" y="5157216"/>
            <a:ext cx="731520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80" b="0">
                <a:solidFill>
                  <a:srgbClr val="6E6E6E"/>
                </a:solidFill>
                <a:latin typeface="Montserrat"/>
              </a:defRPr>
            </a:pPr>
            <a:r>
              <a:t>Likely operational driver: Availability / stock synchronization; possible contributing factor</a:t>
            </a:r>
          </a:p>
        </p:txBody>
      </p:sp>
      <p:sp>
        <p:nvSpPr>
          <p:cNvPr id="20" name="V2.1 action field 4: PRIVATE-ID-3"/>
          <p:cNvSpPr txBox="1"/>
          <p:nvPr/>
        </p:nvSpPr>
        <p:spPr>
          <a:xfrm>
            <a:off x="841248" y="555040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80" b="1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21" name="V2.1 action field 5: PRIVATE-ID-3"/>
          <p:cNvSpPr txBox="1"/>
          <p:nvPr/>
        </p:nvSpPr>
        <p:spPr>
          <a:xfrm>
            <a:off x="841248" y="5980176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Intended effect: Reduce PNA-affected demand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78824" y="1627632"/>
            <a:ext cx="253288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OVERALL ACTION FOCUS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78824" y="1965960"/>
            <a:ext cx="253288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6 selected of 6 ACTION stores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78824" y="2331720"/>
            <a:ext cx="2532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78824" y="2569463"/>
            <a:ext cx="25328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78824" y="2926079"/>
            <a:ext cx="2532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Stores Requiring Action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78824" y="3163824"/>
            <a:ext cx="25328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6 stores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78824" y="3520439"/>
            <a:ext cx="2532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Priority Range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78824" y="3758183"/>
            <a:ext cx="25328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Highest 85.30 · Lowest 85.30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78824" y="4114800"/>
            <a:ext cx="2532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/ Review Items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78824" y="4352544"/>
            <a:ext cx="25328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18 items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78824" y="4745736"/>
            <a:ext cx="253288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Review items are separate from Priority.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06256" y="516636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Next review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06256" y="5532120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62288" y="5532120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Confirm priority stores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06256" y="5797296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62288" y="5797296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Assign owner / deadline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06256" y="6062472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62288" y="6062472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Track progress next review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Priority Opportunities &amp; Actions · 3/3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V2.1 business triage · Priority ranking remains unchanged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68512" y="1417320"/>
            <a:ext cx="2916936" cy="4901184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2648" y="1417320"/>
            <a:ext cx="7818120" cy="23774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pportunity store: PRIVATE-ID-4"/>
          <p:cNvSpPr txBox="1"/>
          <p:nvPr/>
        </p:nvSpPr>
        <p:spPr>
          <a:xfrm>
            <a:off x="841248" y="1527048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1">
                <a:solidFill>
                  <a:srgbClr val="00A082"/>
                </a:solidFill>
                <a:latin typeface="Montserrat"/>
              </a:defRPr>
            </a:pPr>
            <a:r>
              <a:t>#5 · Pet supplies branch 4, Rustaveli Avenue 15</a:t>
            </a:r>
          </a:p>
        </p:txBody>
      </p:sp>
      <p:sp>
        <p:nvSpPr>
          <p:cNvPr id="8" name="V2.1 action field 0: PRIVATE-ID-4"/>
          <p:cNvSpPr txBox="1"/>
          <p:nvPr/>
        </p:nvSpPr>
        <p:spPr>
          <a:xfrm>
            <a:off x="841248" y="1911095"/>
            <a:ext cx="7315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Priority 85.30 · Primary Action KPI: PNA</a:t>
            </a:r>
          </a:p>
        </p:txBody>
      </p:sp>
      <p:sp>
        <p:nvSpPr>
          <p:cNvPr id="9" name="V2.1 action field 1: PRIVATE-ID-4"/>
          <p:cNvSpPr txBox="1"/>
          <p:nvPr/>
        </p:nvSpPr>
        <p:spPr>
          <a:xfrm>
            <a:off x="841248" y="2176272"/>
            <a:ext cx="73152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ACTION · Base Priority</a:t>
            </a:r>
          </a:p>
        </p:txBody>
      </p:sp>
      <p:sp>
        <p:nvSpPr>
          <p:cNvPr id="10" name="V2.1 action field 2: PRIVATE-ID-4"/>
          <p:cNvSpPr txBox="1"/>
          <p:nvPr/>
        </p:nvSpPr>
        <p:spPr>
          <a:xfrm>
            <a:off x="841248" y="24048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PNA 45.0% vs SBU 6.1%</a:t>
            </a:r>
          </a:p>
        </p:txBody>
      </p:sp>
      <p:sp>
        <p:nvSpPr>
          <p:cNvPr id="11" name="V2.1 action field 3: PRIVATE-ID-4"/>
          <p:cNvSpPr txBox="1"/>
          <p:nvPr/>
        </p:nvSpPr>
        <p:spPr>
          <a:xfrm>
            <a:off x="841248" y="2642616"/>
            <a:ext cx="731520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80" b="0">
                <a:solidFill>
                  <a:srgbClr val="6E6E6E"/>
                </a:solidFill>
                <a:latin typeface="Montserrat"/>
              </a:defRPr>
            </a:pPr>
            <a:r>
              <a:t>Likely operational driver: Availability / stock synchronization; possible contributing factor</a:t>
            </a:r>
          </a:p>
        </p:txBody>
      </p:sp>
      <p:sp>
        <p:nvSpPr>
          <p:cNvPr id="12" name="V2.1 action field 4: PRIVATE-ID-4"/>
          <p:cNvSpPr txBox="1"/>
          <p:nvPr/>
        </p:nvSpPr>
        <p:spPr>
          <a:xfrm>
            <a:off x="841248" y="303580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80" b="1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13" name="V2.1 action field 5: PRIVATE-ID-4"/>
          <p:cNvSpPr txBox="1"/>
          <p:nvPr/>
        </p:nvSpPr>
        <p:spPr>
          <a:xfrm>
            <a:off x="841248" y="3465576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Intended effect: Reduce PNA-affected demand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" y="3931920"/>
            <a:ext cx="7818120" cy="23774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pportunity store: PRIVATE-ID-5"/>
          <p:cNvSpPr txBox="1"/>
          <p:nvPr/>
        </p:nvSpPr>
        <p:spPr>
          <a:xfrm>
            <a:off x="841248" y="4041648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1">
                <a:solidFill>
                  <a:srgbClr val="00A082"/>
                </a:solidFill>
                <a:latin typeface="Montserrat"/>
              </a:defRPr>
            </a:pPr>
            <a:r>
              <a:t>#6 · Pet supplies branch 5, Rustaveli Avenue 15</a:t>
            </a:r>
          </a:p>
        </p:txBody>
      </p:sp>
      <p:sp>
        <p:nvSpPr>
          <p:cNvPr id="16" name="V2.1 action field 0: PRIVATE-ID-5"/>
          <p:cNvSpPr txBox="1"/>
          <p:nvPr/>
        </p:nvSpPr>
        <p:spPr>
          <a:xfrm>
            <a:off x="841248" y="4425696"/>
            <a:ext cx="7315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Priority 85.30 · Primary Action KPI: PNA</a:t>
            </a:r>
          </a:p>
        </p:txBody>
      </p:sp>
      <p:sp>
        <p:nvSpPr>
          <p:cNvPr id="17" name="V2.1 action field 1: PRIVATE-ID-5"/>
          <p:cNvSpPr txBox="1"/>
          <p:nvPr/>
        </p:nvSpPr>
        <p:spPr>
          <a:xfrm>
            <a:off x="841248" y="4690872"/>
            <a:ext cx="73152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ACTION · Base Priority</a:t>
            </a:r>
          </a:p>
        </p:txBody>
      </p:sp>
      <p:sp>
        <p:nvSpPr>
          <p:cNvPr id="18" name="V2.1 action field 2: PRIVATE-ID-5"/>
          <p:cNvSpPr txBox="1"/>
          <p:nvPr/>
        </p:nvSpPr>
        <p:spPr>
          <a:xfrm>
            <a:off x="841248" y="49194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PNA 45.0% vs SBU 6.1%</a:t>
            </a:r>
          </a:p>
        </p:txBody>
      </p:sp>
      <p:sp>
        <p:nvSpPr>
          <p:cNvPr id="19" name="V2.1 action field 3: PRIVATE-ID-5"/>
          <p:cNvSpPr txBox="1"/>
          <p:nvPr/>
        </p:nvSpPr>
        <p:spPr>
          <a:xfrm>
            <a:off x="841248" y="5157216"/>
            <a:ext cx="731520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80" b="0">
                <a:solidFill>
                  <a:srgbClr val="6E6E6E"/>
                </a:solidFill>
                <a:latin typeface="Montserrat"/>
              </a:defRPr>
            </a:pPr>
            <a:r>
              <a:t>Likely operational driver: Availability / stock synchronization; possible contributing factor</a:t>
            </a:r>
          </a:p>
        </p:txBody>
      </p:sp>
      <p:sp>
        <p:nvSpPr>
          <p:cNvPr id="20" name="V2.1 action field 4: PRIVATE-ID-5"/>
          <p:cNvSpPr txBox="1"/>
          <p:nvPr/>
        </p:nvSpPr>
        <p:spPr>
          <a:xfrm>
            <a:off x="841248" y="555040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80" b="1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21" name="V2.1 action field 5: PRIVATE-ID-5"/>
          <p:cNvSpPr txBox="1"/>
          <p:nvPr/>
        </p:nvSpPr>
        <p:spPr>
          <a:xfrm>
            <a:off x="841248" y="5980176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Intended effect: Reduce PNA-affected demand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78824" y="1627632"/>
            <a:ext cx="253288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OVERALL ACTION FOCUS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78824" y="1965960"/>
            <a:ext cx="253288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6 selected of 6 ACTION stores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78824" y="2331720"/>
            <a:ext cx="2532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78824" y="2569463"/>
            <a:ext cx="25328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78824" y="2926079"/>
            <a:ext cx="2532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Stores Requiring Action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78824" y="3163824"/>
            <a:ext cx="25328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6 stores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78824" y="3520439"/>
            <a:ext cx="2532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Priority Range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78824" y="3758183"/>
            <a:ext cx="25328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Highest 85.30 · Lowest 85.30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78824" y="4114800"/>
            <a:ext cx="2532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/ Review Items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78824" y="4352544"/>
            <a:ext cx="25328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18 items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78824" y="4745736"/>
            <a:ext cx="253288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Review items are separate from Priority.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06256" y="516636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Next review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06256" y="5532120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62288" y="5532120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Confirm priority stores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06256" y="5797296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62288" y="5797296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Assign owner / deadline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06256" y="6062472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62288" y="6062472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Track progress next review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Operational &amp; Data Review · 1/5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observations and hygiene remain visible independently of business Priority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10991088" cy="493776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view summary items to review"/>
          <p:cNvSpPr txBox="1"/>
          <p:nvPr/>
        </p:nvSpPr>
        <p:spPr>
          <a:xfrm>
            <a:off x="795528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20</a:t>
            </a:r>
          </a:p>
        </p:txBody>
      </p:sp>
      <p:sp>
        <p:nvSpPr>
          <p:cNvPr id="7" name="Review summary label"/>
          <p:cNvSpPr txBox="1"/>
          <p:nvPr/>
        </p:nvSpPr>
        <p:spPr>
          <a:xfrm>
            <a:off x="1399032" y="1581912"/>
            <a:ext cx="2743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items to review</a:t>
            </a:r>
          </a:p>
        </p:txBody>
      </p:sp>
      <p:sp>
        <p:nvSpPr>
          <p:cNvPr id="8" name="Review summary stores affected"/>
          <p:cNvSpPr txBox="1"/>
          <p:nvPr/>
        </p:nvSpPr>
        <p:spPr>
          <a:xfrm>
            <a:off x="4462272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8</a:t>
            </a:r>
          </a:p>
        </p:txBody>
      </p:sp>
      <p:sp>
        <p:nvSpPr>
          <p:cNvPr id="9" name="Review summary label"/>
          <p:cNvSpPr txBox="1"/>
          <p:nvPr/>
        </p:nvSpPr>
        <p:spPr>
          <a:xfrm>
            <a:off x="5065776" y="1581912"/>
            <a:ext cx="2743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stores affected</a:t>
            </a:r>
          </a:p>
        </p:txBody>
      </p:sp>
      <p:sp>
        <p:nvSpPr>
          <p:cNvPr id="10" name="Review summary critical observations"/>
          <p:cNvSpPr txBox="1"/>
          <p:nvPr/>
        </p:nvSpPr>
        <p:spPr>
          <a:xfrm>
            <a:off x="8129015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18</a:t>
            </a:r>
          </a:p>
        </p:txBody>
      </p:sp>
      <p:sp>
        <p:nvSpPr>
          <p:cNvPr id="11" name="Review summary label"/>
          <p:cNvSpPr txBox="1"/>
          <p:nvPr/>
        </p:nvSpPr>
        <p:spPr>
          <a:xfrm>
            <a:off x="8732519" y="1581912"/>
            <a:ext cx="2743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observations</a:t>
            </a:r>
          </a:p>
        </p:txBody>
      </p:sp>
      <p:sp>
        <p:nvSpPr>
          <p:cNvPr id="12" name="Review column STORE / LOCATION"/>
          <p:cNvSpPr txBox="1"/>
          <p:nvPr/>
        </p:nvSpPr>
        <p:spPr>
          <a:xfrm>
            <a:off x="813816" y="2039112"/>
            <a:ext cx="301752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STORE / LOCATION</a:t>
            </a:r>
          </a:p>
        </p:txBody>
      </p:sp>
      <p:sp>
        <p:nvSpPr>
          <p:cNvPr id="13" name="Review column TYPE"/>
          <p:cNvSpPr txBox="1"/>
          <p:nvPr/>
        </p:nvSpPr>
        <p:spPr>
          <a:xfrm>
            <a:off x="4059936" y="2039112"/>
            <a:ext cx="132588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TYPE</a:t>
            </a:r>
          </a:p>
        </p:txBody>
      </p:sp>
      <p:sp>
        <p:nvSpPr>
          <p:cNvPr id="14" name="Review column EVIDENCE"/>
          <p:cNvSpPr txBox="1"/>
          <p:nvPr/>
        </p:nvSpPr>
        <p:spPr>
          <a:xfrm>
            <a:off x="5577840" y="2039112"/>
            <a:ext cx="239572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EVIDENCE</a:t>
            </a:r>
          </a:p>
        </p:txBody>
      </p:sp>
      <p:sp>
        <p:nvSpPr>
          <p:cNvPr id="15" name="Review column REVIEW ACTION"/>
          <p:cNvSpPr txBox="1"/>
          <p:nvPr/>
        </p:nvSpPr>
        <p:spPr>
          <a:xfrm>
            <a:off x="8147304" y="2039112"/>
            <a:ext cx="32004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REVIEW ACTION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2368296"/>
            <a:ext cx="10991088" cy="89611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94360" y="2404872"/>
            <a:ext cx="41148" cy="822960"/>
          </a:xfrm>
          <a:prstGeom prst="roundRect">
            <a:avLst>
              <a:gd name="adj" fmla="val 8000"/>
            </a:avLst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view 0 store"/>
          <p:cNvSpPr txBox="1"/>
          <p:nvPr/>
        </p:nvSpPr>
        <p:spPr>
          <a:xfrm>
            <a:off x="813816" y="2514600"/>
            <a:ext cx="3017520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Pet supplies branch G, Rustaveli Avenue 15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913632" y="2523744"/>
            <a:ext cx="1572768" cy="402336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Review 0 icon" descr="icon_data_qua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1063" y="2560320"/>
            <a:ext cx="256032" cy="256032"/>
          </a:xfrm>
          <a:prstGeom prst="rect">
            <a:avLst/>
          </a:prstGeom>
        </p:spPr>
      </p:pic>
      <p:sp>
        <p:nvSpPr>
          <p:cNvPr id="21" name="Review 0 type"/>
          <p:cNvSpPr txBox="1"/>
          <p:nvPr/>
        </p:nvSpPr>
        <p:spPr>
          <a:xfrm>
            <a:off x="4251960" y="2587752"/>
            <a:ext cx="116128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232323"/>
                </a:solidFill>
                <a:latin typeface="Montserrat"/>
              </a:defRPr>
            </a:pPr>
            <a:r>
              <a:t>Data quality</a:t>
            </a:r>
          </a:p>
        </p:txBody>
      </p:sp>
      <p:sp>
        <p:nvSpPr>
          <p:cNvPr id="22" name="Review 0 evidence"/>
          <p:cNvSpPr txBox="1"/>
          <p:nvPr/>
        </p:nvSpPr>
        <p:spPr>
          <a:xfrm>
            <a:off x="5577840" y="2514600"/>
            <a:ext cx="2359152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Missing scoring evidence: PNA</a:t>
            </a:r>
          </a:p>
        </p:txBody>
      </p:sp>
      <p:sp>
        <p:nvSpPr>
          <p:cNvPr id="23" name="Review 0 action"/>
          <p:cNvSpPr txBox="1"/>
          <p:nvPr/>
        </p:nvSpPr>
        <p:spPr>
          <a:xfrm>
            <a:off x="8147304" y="2514600"/>
            <a:ext cx="3218688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Reconcile current activity, lifecycle, missing inputs and benchmark coverage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3346704"/>
            <a:ext cx="10991088" cy="905256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94360" y="3383280"/>
            <a:ext cx="41148" cy="832104"/>
          </a:xfrm>
          <a:prstGeom prst="roundRect">
            <a:avLst>
              <a:gd name="adj" fmla="val 8000"/>
            </a:avLst>
          </a:prstGeom>
          <a:solidFill>
            <a:srgbClr val="D2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view 1 store"/>
          <p:cNvSpPr txBox="1"/>
          <p:nvPr/>
        </p:nvSpPr>
        <p:spPr>
          <a:xfrm>
            <a:off x="813816" y="3493008"/>
            <a:ext cx="3017520" cy="704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პეტფუდი — შინაური ცხოველების კვებისა და ვეტერინარული მომსახურების ცენტრი, ჭავჭავაძის გამზირი 123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913632" y="3502152"/>
            <a:ext cx="1572768" cy="438912"/>
          </a:xfrm>
          <a:prstGeom prst="roundRect">
            <a:avLst>
              <a:gd name="adj" fmla="val 8000"/>
            </a:avLst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Review 1 icon" descr="icon_critical_observ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1063" y="3538728"/>
            <a:ext cx="256032" cy="256032"/>
          </a:xfrm>
          <a:prstGeom prst="rect">
            <a:avLst/>
          </a:prstGeom>
        </p:spPr>
      </p:pic>
      <p:sp>
        <p:nvSpPr>
          <p:cNvPr id="29" name="Review 1 type"/>
          <p:cNvSpPr txBox="1"/>
          <p:nvPr/>
        </p:nvSpPr>
        <p:spPr>
          <a:xfrm>
            <a:off x="4251960" y="3566160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D24646"/>
                </a:solidFill>
                <a:latin typeface="Montserrat"/>
              </a:defRPr>
            </a:pPr>
            <a:r>
              <a:t>Critical observation</a:t>
            </a:r>
          </a:p>
        </p:txBody>
      </p:sp>
      <p:sp>
        <p:nvSpPr>
          <p:cNvPr id="30" name="Review 1 evidence"/>
          <p:cNvSpPr txBox="1"/>
          <p:nvPr/>
        </p:nvSpPr>
        <p:spPr>
          <a:xfrm>
            <a:off x="5577840" y="3493008"/>
            <a:ext cx="235915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CVR 2.5% vs SBU 26.4%; denominator 4,000</a:t>
            </a:r>
          </a:p>
        </p:txBody>
      </p:sp>
      <p:sp>
        <p:nvSpPr>
          <p:cNvPr id="31" name="Review 1 action"/>
          <p:cNvSpPr txBox="1"/>
          <p:nvPr/>
        </p:nvSpPr>
        <p:spPr>
          <a:xfrm>
            <a:off x="8147304" y="3493008"/>
            <a:ext cx="3218688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Review assortment, pricing and the conversion journey; verify the sample before escalation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" y="4334256"/>
            <a:ext cx="10991088" cy="905256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94360" y="4370832"/>
            <a:ext cx="41148" cy="832104"/>
          </a:xfrm>
          <a:prstGeom prst="roundRect">
            <a:avLst>
              <a:gd name="adj" fmla="val 8000"/>
            </a:avLst>
          </a:prstGeom>
          <a:solidFill>
            <a:srgbClr val="D2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view 2 store"/>
          <p:cNvSpPr txBox="1"/>
          <p:nvPr/>
        </p:nvSpPr>
        <p:spPr>
          <a:xfrm>
            <a:off x="813816" y="4480560"/>
            <a:ext cx="3017520" cy="704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პეტფუდი — შინაური ცხოველების კვებისა და ვეტერინარული მომსახურების ცენტრი, ჭავჭავაძის გამზირი 123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913632" y="4489704"/>
            <a:ext cx="1572768" cy="438912"/>
          </a:xfrm>
          <a:prstGeom prst="roundRect">
            <a:avLst>
              <a:gd name="adj" fmla="val 8000"/>
            </a:avLst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Review 2 icon" descr="icon_critical_observ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1063" y="4526280"/>
            <a:ext cx="256032" cy="256032"/>
          </a:xfrm>
          <a:prstGeom prst="rect">
            <a:avLst/>
          </a:prstGeom>
        </p:spPr>
      </p:pic>
      <p:sp>
        <p:nvSpPr>
          <p:cNvPr id="37" name="Review 2 type"/>
          <p:cNvSpPr txBox="1"/>
          <p:nvPr/>
        </p:nvSpPr>
        <p:spPr>
          <a:xfrm>
            <a:off x="4251960" y="4553712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D24646"/>
                </a:solidFill>
                <a:latin typeface="Montserrat"/>
              </a:defRPr>
            </a:pPr>
            <a:r>
              <a:t>Critical observation</a:t>
            </a:r>
          </a:p>
        </p:txBody>
      </p:sp>
      <p:sp>
        <p:nvSpPr>
          <p:cNvPr id="38" name="Review 2 evidence"/>
          <p:cNvSpPr txBox="1"/>
          <p:nvPr/>
        </p:nvSpPr>
        <p:spPr>
          <a:xfrm>
            <a:off x="5577840" y="4480560"/>
            <a:ext cx="235915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Cancels 22.0% vs SBU 2.5%; denominator 1,000</a:t>
            </a:r>
          </a:p>
        </p:txBody>
      </p:sp>
      <p:sp>
        <p:nvSpPr>
          <p:cNvPr id="39" name="Review 2 action"/>
          <p:cNvSpPr txBox="1"/>
          <p:nvPr/>
        </p:nvSpPr>
        <p:spPr>
          <a:xfrm>
            <a:off x="8147304" y="4480560"/>
            <a:ext cx="3218688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Review partner-cancelled orders and resolve the main failure reasons; verify the sample before escalation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94360" y="5321808"/>
            <a:ext cx="10991088" cy="905256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594360" y="5358384"/>
            <a:ext cx="41148" cy="832104"/>
          </a:xfrm>
          <a:prstGeom prst="roundRect">
            <a:avLst>
              <a:gd name="adj" fmla="val 8000"/>
            </a:avLst>
          </a:prstGeom>
          <a:solidFill>
            <a:srgbClr val="D2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view 3 store"/>
          <p:cNvSpPr txBox="1"/>
          <p:nvPr/>
        </p:nvSpPr>
        <p:spPr>
          <a:xfrm>
            <a:off x="813816" y="5468112"/>
            <a:ext cx="3017520" cy="704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პეტფუდი — შინაური ცხოველების კვებისა და ვეტერინარული მომსახურების ცენტრი, ჭავჭავაძის გამზირი 123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913632" y="5477256"/>
            <a:ext cx="1572768" cy="438912"/>
          </a:xfrm>
          <a:prstGeom prst="roundRect">
            <a:avLst>
              <a:gd name="adj" fmla="val 8000"/>
            </a:avLst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Review 3 icon" descr="icon_critical_observ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1063" y="5513832"/>
            <a:ext cx="256032" cy="256032"/>
          </a:xfrm>
          <a:prstGeom prst="rect">
            <a:avLst/>
          </a:prstGeom>
        </p:spPr>
      </p:pic>
      <p:sp>
        <p:nvSpPr>
          <p:cNvPr id="45" name="Review 3 type"/>
          <p:cNvSpPr txBox="1"/>
          <p:nvPr/>
        </p:nvSpPr>
        <p:spPr>
          <a:xfrm>
            <a:off x="4251960" y="5541264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D24646"/>
                </a:solidFill>
                <a:latin typeface="Montserrat"/>
              </a:defRPr>
            </a:pPr>
            <a:r>
              <a:t>Critical observation</a:t>
            </a:r>
          </a:p>
        </p:txBody>
      </p:sp>
      <p:sp>
        <p:nvSpPr>
          <p:cNvPr id="46" name="Review 3 evidence"/>
          <p:cNvSpPr txBox="1"/>
          <p:nvPr/>
        </p:nvSpPr>
        <p:spPr>
          <a:xfrm>
            <a:off x="5577840" y="5468112"/>
            <a:ext cx="235915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PNA 45.0% vs SBU 6.1%; denominator 1,000</a:t>
            </a:r>
          </a:p>
        </p:txBody>
      </p:sp>
      <p:sp>
        <p:nvSpPr>
          <p:cNvPr id="47" name="Review 3 action"/>
          <p:cNvSpPr txBox="1"/>
          <p:nvPr/>
        </p:nvSpPr>
        <p:spPr>
          <a:xfrm>
            <a:off x="8147304" y="5468112"/>
            <a:ext cx="3218688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Review stock accuracy and availability of affected products; verify the sample before escalation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Operational &amp; Data Review · 2/5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observations and hygiene remain visible independently of business Priority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10991088" cy="493776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view summary items to review"/>
          <p:cNvSpPr txBox="1"/>
          <p:nvPr/>
        </p:nvSpPr>
        <p:spPr>
          <a:xfrm>
            <a:off x="795528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20</a:t>
            </a:r>
          </a:p>
        </p:txBody>
      </p:sp>
      <p:sp>
        <p:nvSpPr>
          <p:cNvPr id="7" name="Review summary label"/>
          <p:cNvSpPr txBox="1"/>
          <p:nvPr/>
        </p:nvSpPr>
        <p:spPr>
          <a:xfrm>
            <a:off x="1399032" y="1581912"/>
            <a:ext cx="2743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items to review</a:t>
            </a:r>
          </a:p>
        </p:txBody>
      </p:sp>
      <p:sp>
        <p:nvSpPr>
          <p:cNvPr id="8" name="Review summary stores affected"/>
          <p:cNvSpPr txBox="1"/>
          <p:nvPr/>
        </p:nvSpPr>
        <p:spPr>
          <a:xfrm>
            <a:off x="4462272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8</a:t>
            </a:r>
          </a:p>
        </p:txBody>
      </p:sp>
      <p:sp>
        <p:nvSpPr>
          <p:cNvPr id="9" name="Review summary label"/>
          <p:cNvSpPr txBox="1"/>
          <p:nvPr/>
        </p:nvSpPr>
        <p:spPr>
          <a:xfrm>
            <a:off x="5065776" y="1581912"/>
            <a:ext cx="2743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stores affected</a:t>
            </a:r>
          </a:p>
        </p:txBody>
      </p:sp>
      <p:sp>
        <p:nvSpPr>
          <p:cNvPr id="10" name="Review summary critical observations"/>
          <p:cNvSpPr txBox="1"/>
          <p:nvPr/>
        </p:nvSpPr>
        <p:spPr>
          <a:xfrm>
            <a:off x="8129015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18</a:t>
            </a:r>
          </a:p>
        </p:txBody>
      </p:sp>
      <p:sp>
        <p:nvSpPr>
          <p:cNvPr id="11" name="Review summary label"/>
          <p:cNvSpPr txBox="1"/>
          <p:nvPr/>
        </p:nvSpPr>
        <p:spPr>
          <a:xfrm>
            <a:off x="8732519" y="1581912"/>
            <a:ext cx="2743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observations</a:t>
            </a:r>
          </a:p>
        </p:txBody>
      </p:sp>
      <p:sp>
        <p:nvSpPr>
          <p:cNvPr id="12" name="Review column STORE / LOCATION"/>
          <p:cNvSpPr txBox="1"/>
          <p:nvPr/>
        </p:nvSpPr>
        <p:spPr>
          <a:xfrm>
            <a:off x="813816" y="2039112"/>
            <a:ext cx="301752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STORE / LOCATION</a:t>
            </a:r>
          </a:p>
        </p:txBody>
      </p:sp>
      <p:sp>
        <p:nvSpPr>
          <p:cNvPr id="13" name="Review column TYPE"/>
          <p:cNvSpPr txBox="1"/>
          <p:nvPr/>
        </p:nvSpPr>
        <p:spPr>
          <a:xfrm>
            <a:off x="4059936" y="2039112"/>
            <a:ext cx="132588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TYPE</a:t>
            </a:r>
          </a:p>
        </p:txBody>
      </p:sp>
      <p:sp>
        <p:nvSpPr>
          <p:cNvPr id="14" name="Review column EVIDENCE"/>
          <p:cNvSpPr txBox="1"/>
          <p:nvPr/>
        </p:nvSpPr>
        <p:spPr>
          <a:xfrm>
            <a:off x="5577840" y="2039112"/>
            <a:ext cx="239572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EVIDENCE</a:t>
            </a:r>
          </a:p>
        </p:txBody>
      </p:sp>
      <p:sp>
        <p:nvSpPr>
          <p:cNvPr id="15" name="Review column REVIEW ACTION"/>
          <p:cNvSpPr txBox="1"/>
          <p:nvPr/>
        </p:nvSpPr>
        <p:spPr>
          <a:xfrm>
            <a:off x="8147304" y="2039112"/>
            <a:ext cx="32004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REVIEW ACTION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2368296"/>
            <a:ext cx="10991088" cy="89611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94360" y="2404872"/>
            <a:ext cx="41148" cy="822960"/>
          </a:xfrm>
          <a:prstGeom prst="roundRect">
            <a:avLst>
              <a:gd name="adj" fmla="val 8000"/>
            </a:avLst>
          </a:prstGeom>
          <a:solidFill>
            <a:srgbClr val="D2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view 4 store"/>
          <p:cNvSpPr txBox="1"/>
          <p:nvPr/>
        </p:nvSpPr>
        <p:spPr>
          <a:xfrm>
            <a:off x="813816" y="2514600"/>
            <a:ext cx="3017520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Pet supplies branch 1, Rustaveli Avenue 15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913632" y="2523744"/>
            <a:ext cx="1572768" cy="438912"/>
          </a:xfrm>
          <a:prstGeom prst="roundRect">
            <a:avLst>
              <a:gd name="adj" fmla="val 8000"/>
            </a:avLst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Review 4 icon" descr="icon_critical_observ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1063" y="2560320"/>
            <a:ext cx="256032" cy="256032"/>
          </a:xfrm>
          <a:prstGeom prst="rect">
            <a:avLst/>
          </a:prstGeom>
        </p:spPr>
      </p:pic>
      <p:sp>
        <p:nvSpPr>
          <p:cNvPr id="21" name="Review 4 type"/>
          <p:cNvSpPr txBox="1"/>
          <p:nvPr/>
        </p:nvSpPr>
        <p:spPr>
          <a:xfrm>
            <a:off x="4251960" y="2587752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D24646"/>
                </a:solidFill>
                <a:latin typeface="Montserrat"/>
              </a:defRPr>
            </a:pPr>
            <a:r>
              <a:t>Critical observation</a:t>
            </a:r>
          </a:p>
        </p:txBody>
      </p:sp>
      <p:sp>
        <p:nvSpPr>
          <p:cNvPr id="22" name="Review 4 evidence"/>
          <p:cNvSpPr txBox="1"/>
          <p:nvPr/>
        </p:nvSpPr>
        <p:spPr>
          <a:xfrm>
            <a:off x="5577840" y="2514600"/>
            <a:ext cx="2359152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CVR 2.5% vs SBU 26.4%; denominator 4,000</a:t>
            </a:r>
          </a:p>
        </p:txBody>
      </p:sp>
      <p:sp>
        <p:nvSpPr>
          <p:cNvPr id="23" name="Review 4 action"/>
          <p:cNvSpPr txBox="1"/>
          <p:nvPr/>
        </p:nvSpPr>
        <p:spPr>
          <a:xfrm>
            <a:off x="8147304" y="2514600"/>
            <a:ext cx="3218688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Review assortment, pricing and the conversion journey; verify the sample before escalation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3346704"/>
            <a:ext cx="10991088" cy="89611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94360" y="3383280"/>
            <a:ext cx="41148" cy="822960"/>
          </a:xfrm>
          <a:prstGeom prst="roundRect">
            <a:avLst>
              <a:gd name="adj" fmla="val 8000"/>
            </a:avLst>
          </a:prstGeom>
          <a:solidFill>
            <a:srgbClr val="D2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view 5 store"/>
          <p:cNvSpPr txBox="1"/>
          <p:nvPr/>
        </p:nvSpPr>
        <p:spPr>
          <a:xfrm>
            <a:off x="813816" y="3493008"/>
            <a:ext cx="3017520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Pet supplies branch 1, Rustaveli Avenue 15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913632" y="3502152"/>
            <a:ext cx="1572768" cy="438912"/>
          </a:xfrm>
          <a:prstGeom prst="roundRect">
            <a:avLst>
              <a:gd name="adj" fmla="val 8000"/>
            </a:avLst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Review 5 icon" descr="icon_critical_observ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1063" y="3538728"/>
            <a:ext cx="256032" cy="256032"/>
          </a:xfrm>
          <a:prstGeom prst="rect">
            <a:avLst/>
          </a:prstGeom>
        </p:spPr>
      </p:pic>
      <p:sp>
        <p:nvSpPr>
          <p:cNvPr id="29" name="Review 5 type"/>
          <p:cNvSpPr txBox="1"/>
          <p:nvPr/>
        </p:nvSpPr>
        <p:spPr>
          <a:xfrm>
            <a:off x="4251960" y="3566160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D24646"/>
                </a:solidFill>
                <a:latin typeface="Montserrat"/>
              </a:defRPr>
            </a:pPr>
            <a:r>
              <a:t>Critical observation</a:t>
            </a:r>
          </a:p>
        </p:txBody>
      </p:sp>
      <p:sp>
        <p:nvSpPr>
          <p:cNvPr id="30" name="Review 5 evidence"/>
          <p:cNvSpPr txBox="1"/>
          <p:nvPr/>
        </p:nvSpPr>
        <p:spPr>
          <a:xfrm>
            <a:off x="5577840" y="3493008"/>
            <a:ext cx="2359152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Cancels 22.0% vs SBU 2.5%; denominator 1,000</a:t>
            </a:r>
          </a:p>
        </p:txBody>
      </p:sp>
      <p:sp>
        <p:nvSpPr>
          <p:cNvPr id="31" name="Review 5 action"/>
          <p:cNvSpPr txBox="1"/>
          <p:nvPr/>
        </p:nvSpPr>
        <p:spPr>
          <a:xfrm>
            <a:off x="8147304" y="3493008"/>
            <a:ext cx="3218688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Review partner-cancelled orders and resolve the main failure reasons; verify the sample before escalation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" y="4325112"/>
            <a:ext cx="10991088" cy="89611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94360" y="4361688"/>
            <a:ext cx="41148" cy="822960"/>
          </a:xfrm>
          <a:prstGeom prst="roundRect">
            <a:avLst>
              <a:gd name="adj" fmla="val 8000"/>
            </a:avLst>
          </a:prstGeom>
          <a:solidFill>
            <a:srgbClr val="D2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view 6 store"/>
          <p:cNvSpPr txBox="1"/>
          <p:nvPr/>
        </p:nvSpPr>
        <p:spPr>
          <a:xfrm>
            <a:off x="813816" y="4471416"/>
            <a:ext cx="3017520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Pet supplies branch 1, Rustaveli Avenue 15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913632" y="4480560"/>
            <a:ext cx="1572768" cy="438912"/>
          </a:xfrm>
          <a:prstGeom prst="roundRect">
            <a:avLst>
              <a:gd name="adj" fmla="val 8000"/>
            </a:avLst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Review 6 icon" descr="icon_critical_observ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1063" y="4517136"/>
            <a:ext cx="256032" cy="256032"/>
          </a:xfrm>
          <a:prstGeom prst="rect">
            <a:avLst/>
          </a:prstGeom>
        </p:spPr>
      </p:pic>
      <p:sp>
        <p:nvSpPr>
          <p:cNvPr id="37" name="Review 6 type"/>
          <p:cNvSpPr txBox="1"/>
          <p:nvPr/>
        </p:nvSpPr>
        <p:spPr>
          <a:xfrm>
            <a:off x="4251960" y="4544568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D24646"/>
                </a:solidFill>
                <a:latin typeface="Montserrat"/>
              </a:defRPr>
            </a:pPr>
            <a:r>
              <a:t>Critical observation</a:t>
            </a:r>
          </a:p>
        </p:txBody>
      </p:sp>
      <p:sp>
        <p:nvSpPr>
          <p:cNvPr id="38" name="Review 6 evidence"/>
          <p:cNvSpPr txBox="1"/>
          <p:nvPr/>
        </p:nvSpPr>
        <p:spPr>
          <a:xfrm>
            <a:off x="5577840" y="4471416"/>
            <a:ext cx="2359152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PNA 45.0% vs SBU 6.1%; denominator 1,000</a:t>
            </a:r>
          </a:p>
        </p:txBody>
      </p:sp>
      <p:sp>
        <p:nvSpPr>
          <p:cNvPr id="39" name="Review 6 action"/>
          <p:cNvSpPr txBox="1"/>
          <p:nvPr/>
        </p:nvSpPr>
        <p:spPr>
          <a:xfrm>
            <a:off x="8147304" y="4471416"/>
            <a:ext cx="3218688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Review stock accuracy and availability of affected products; verify the sample before escalation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94360" y="5303520"/>
            <a:ext cx="10991088" cy="89611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594360" y="5340096"/>
            <a:ext cx="41148" cy="822960"/>
          </a:xfrm>
          <a:prstGeom prst="roundRect">
            <a:avLst>
              <a:gd name="adj" fmla="val 8000"/>
            </a:avLst>
          </a:prstGeom>
          <a:solidFill>
            <a:srgbClr val="D2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view 7 store"/>
          <p:cNvSpPr txBox="1"/>
          <p:nvPr/>
        </p:nvSpPr>
        <p:spPr>
          <a:xfrm>
            <a:off x="813816" y="5449824"/>
            <a:ext cx="3017520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Pet supplies branch 2, Rustaveli Avenue 15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913632" y="5458968"/>
            <a:ext cx="1572768" cy="438912"/>
          </a:xfrm>
          <a:prstGeom prst="roundRect">
            <a:avLst>
              <a:gd name="adj" fmla="val 8000"/>
            </a:avLst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Review 7 icon" descr="icon_critical_observ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1063" y="5495544"/>
            <a:ext cx="256032" cy="256032"/>
          </a:xfrm>
          <a:prstGeom prst="rect">
            <a:avLst/>
          </a:prstGeom>
        </p:spPr>
      </p:pic>
      <p:sp>
        <p:nvSpPr>
          <p:cNvPr id="45" name="Review 7 type"/>
          <p:cNvSpPr txBox="1"/>
          <p:nvPr/>
        </p:nvSpPr>
        <p:spPr>
          <a:xfrm>
            <a:off x="4251960" y="5522976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D24646"/>
                </a:solidFill>
                <a:latin typeface="Montserrat"/>
              </a:defRPr>
            </a:pPr>
            <a:r>
              <a:t>Critical observation</a:t>
            </a:r>
          </a:p>
        </p:txBody>
      </p:sp>
      <p:sp>
        <p:nvSpPr>
          <p:cNvPr id="46" name="Review 7 evidence"/>
          <p:cNvSpPr txBox="1"/>
          <p:nvPr/>
        </p:nvSpPr>
        <p:spPr>
          <a:xfrm>
            <a:off x="5577840" y="5449824"/>
            <a:ext cx="2359152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CVR 2.5% vs SBU 26.4%; denominator 4,000</a:t>
            </a:r>
          </a:p>
        </p:txBody>
      </p:sp>
      <p:sp>
        <p:nvSpPr>
          <p:cNvPr id="47" name="Review 7 action"/>
          <p:cNvSpPr txBox="1"/>
          <p:nvPr/>
        </p:nvSpPr>
        <p:spPr>
          <a:xfrm>
            <a:off x="8147304" y="5449824"/>
            <a:ext cx="3218688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Review assortment, pricing and the conversion journey; verify the sample before escalation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Operational &amp; Data Review · 3/5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observations and hygiene remain visible independently of business Priority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10991088" cy="493776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view summary items to review"/>
          <p:cNvSpPr txBox="1"/>
          <p:nvPr/>
        </p:nvSpPr>
        <p:spPr>
          <a:xfrm>
            <a:off x="795528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20</a:t>
            </a:r>
          </a:p>
        </p:txBody>
      </p:sp>
      <p:sp>
        <p:nvSpPr>
          <p:cNvPr id="7" name="Review summary label"/>
          <p:cNvSpPr txBox="1"/>
          <p:nvPr/>
        </p:nvSpPr>
        <p:spPr>
          <a:xfrm>
            <a:off x="1399032" y="1581912"/>
            <a:ext cx="2743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items to review</a:t>
            </a:r>
          </a:p>
        </p:txBody>
      </p:sp>
      <p:sp>
        <p:nvSpPr>
          <p:cNvPr id="8" name="Review summary stores affected"/>
          <p:cNvSpPr txBox="1"/>
          <p:nvPr/>
        </p:nvSpPr>
        <p:spPr>
          <a:xfrm>
            <a:off x="4462272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8</a:t>
            </a:r>
          </a:p>
        </p:txBody>
      </p:sp>
      <p:sp>
        <p:nvSpPr>
          <p:cNvPr id="9" name="Review summary label"/>
          <p:cNvSpPr txBox="1"/>
          <p:nvPr/>
        </p:nvSpPr>
        <p:spPr>
          <a:xfrm>
            <a:off x="5065776" y="1581912"/>
            <a:ext cx="2743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stores affected</a:t>
            </a:r>
          </a:p>
        </p:txBody>
      </p:sp>
      <p:sp>
        <p:nvSpPr>
          <p:cNvPr id="10" name="Review summary critical observations"/>
          <p:cNvSpPr txBox="1"/>
          <p:nvPr/>
        </p:nvSpPr>
        <p:spPr>
          <a:xfrm>
            <a:off x="8129015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18</a:t>
            </a:r>
          </a:p>
        </p:txBody>
      </p:sp>
      <p:sp>
        <p:nvSpPr>
          <p:cNvPr id="11" name="Review summary label"/>
          <p:cNvSpPr txBox="1"/>
          <p:nvPr/>
        </p:nvSpPr>
        <p:spPr>
          <a:xfrm>
            <a:off x="8732519" y="1581912"/>
            <a:ext cx="2743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observations</a:t>
            </a:r>
          </a:p>
        </p:txBody>
      </p:sp>
      <p:sp>
        <p:nvSpPr>
          <p:cNvPr id="12" name="Review column STORE / LOCATION"/>
          <p:cNvSpPr txBox="1"/>
          <p:nvPr/>
        </p:nvSpPr>
        <p:spPr>
          <a:xfrm>
            <a:off x="813816" y="2039112"/>
            <a:ext cx="301752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STORE / LOCATION</a:t>
            </a:r>
          </a:p>
        </p:txBody>
      </p:sp>
      <p:sp>
        <p:nvSpPr>
          <p:cNvPr id="13" name="Review column TYPE"/>
          <p:cNvSpPr txBox="1"/>
          <p:nvPr/>
        </p:nvSpPr>
        <p:spPr>
          <a:xfrm>
            <a:off x="4059936" y="2039112"/>
            <a:ext cx="132588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TYPE</a:t>
            </a:r>
          </a:p>
        </p:txBody>
      </p:sp>
      <p:sp>
        <p:nvSpPr>
          <p:cNvPr id="14" name="Review column EVIDENCE"/>
          <p:cNvSpPr txBox="1"/>
          <p:nvPr/>
        </p:nvSpPr>
        <p:spPr>
          <a:xfrm>
            <a:off x="5577840" y="2039112"/>
            <a:ext cx="239572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EVIDENCE</a:t>
            </a:r>
          </a:p>
        </p:txBody>
      </p:sp>
      <p:sp>
        <p:nvSpPr>
          <p:cNvPr id="15" name="Review column REVIEW ACTION"/>
          <p:cNvSpPr txBox="1"/>
          <p:nvPr/>
        </p:nvSpPr>
        <p:spPr>
          <a:xfrm>
            <a:off x="8147304" y="2039112"/>
            <a:ext cx="32004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REVIEW ACTION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2368296"/>
            <a:ext cx="10991088" cy="89611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94360" y="2404872"/>
            <a:ext cx="41148" cy="822960"/>
          </a:xfrm>
          <a:prstGeom prst="roundRect">
            <a:avLst>
              <a:gd name="adj" fmla="val 8000"/>
            </a:avLst>
          </a:prstGeom>
          <a:solidFill>
            <a:srgbClr val="D2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view 8 store"/>
          <p:cNvSpPr txBox="1"/>
          <p:nvPr/>
        </p:nvSpPr>
        <p:spPr>
          <a:xfrm>
            <a:off x="813816" y="2514600"/>
            <a:ext cx="3017520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Pet supplies branch 2, Rustaveli Avenue 15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913632" y="2523744"/>
            <a:ext cx="1572768" cy="438912"/>
          </a:xfrm>
          <a:prstGeom prst="roundRect">
            <a:avLst>
              <a:gd name="adj" fmla="val 8000"/>
            </a:avLst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Review 8 icon" descr="icon_critical_observ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1063" y="2560320"/>
            <a:ext cx="256032" cy="256032"/>
          </a:xfrm>
          <a:prstGeom prst="rect">
            <a:avLst/>
          </a:prstGeom>
        </p:spPr>
      </p:pic>
      <p:sp>
        <p:nvSpPr>
          <p:cNvPr id="21" name="Review 8 type"/>
          <p:cNvSpPr txBox="1"/>
          <p:nvPr/>
        </p:nvSpPr>
        <p:spPr>
          <a:xfrm>
            <a:off x="4251960" y="2587752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D24646"/>
                </a:solidFill>
                <a:latin typeface="Montserrat"/>
              </a:defRPr>
            </a:pPr>
            <a:r>
              <a:t>Critical observation</a:t>
            </a:r>
          </a:p>
        </p:txBody>
      </p:sp>
      <p:sp>
        <p:nvSpPr>
          <p:cNvPr id="22" name="Review 8 evidence"/>
          <p:cNvSpPr txBox="1"/>
          <p:nvPr/>
        </p:nvSpPr>
        <p:spPr>
          <a:xfrm>
            <a:off x="5577840" y="2514600"/>
            <a:ext cx="2359152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Cancels 22.0% vs SBU 2.5%; denominator 1,000</a:t>
            </a:r>
          </a:p>
        </p:txBody>
      </p:sp>
      <p:sp>
        <p:nvSpPr>
          <p:cNvPr id="23" name="Review 8 action"/>
          <p:cNvSpPr txBox="1"/>
          <p:nvPr/>
        </p:nvSpPr>
        <p:spPr>
          <a:xfrm>
            <a:off x="8147304" y="2514600"/>
            <a:ext cx="3218688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Review partner-cancelled orders and resolve the main failure reasons; verify the sample before escalation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3346704"/>
            <a:ext cx="10991088" cy="89611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94360" y="3383280"/>
            <a:ext cx="41148" cy="822960"/>
          </a:xfrm>
          <a:prstGeom prst="roundRect">
            <a:avLst>
              <a:gd name="adj" fmla="val 8000"/>
            </a:avLst>
          </a:prstGeom>
          <a:solidFill>
            <a:srgbClr val="D2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view 9 store"/>
          <p:cNvSpPr txBox="1"/>
          <p:nvPr/>
        </p:nvSpPr>
        <p:spPr>
          <a:xfrm>
            <a:off x="813816" y="3493008"/>
            <a:ext cx="3017520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Pet supplies branch 2, Rustaveli Avenue 15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913632" y="3502152"/>
            <a:ext cx="1572768" cy="438912"/>
          </a:xfrm>
          <a:prstGeom prst="roundRect">
            <a:avLst>
              <a:gd name="adj" fmla="val 8000"/>
            </a:avLst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Review 9 icon" descr="icon_critical_observ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1063" y="3538728"/>
            <a:ext cx="256032" cy="256032"/>
          </a:xfrm>
          <a:prstGeom prst="rect">
            <a:avLst/>
          </a:prstGeom>
        </p:spPr>
      </p:pic>
      <p:sp>
        <p:nvSpPr>
          <p:cNvPr id="29" name="Review 9 type"/>
          <p:cNvSpPr txBox="1"/>
          <p:nvPr/>
        </p:nvSpPr>
        <p:spPr>
          <a:xfrm>
            <a:off x="4251960" y="3566160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D24646"/>
                </a:solidFill>
                <a:latin typeface="Montserrat"/>
              </a:defRPr>
            </a:pPr>
            <a:r>
              <a:t>Critical observation</a:t>
            </a:r>
          </a:p>
        </p:txBody>
      </p:sp>
      <p:sp>
        <p:nvSpPr>
          <p:cNvPr id="30" name="Review 9 evidence"/>
          <p:cNvSpPr txBox="1"/>
          <p:nvPr/>
        </p:nvSpPr>
        <p:spPr>
          <a:xfrm>
            <a:off x="5577840" y="3493008"/>
            <a:ext cx="2359152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PNA 45.0% vs SBU 6.1%; denominator 1,000</a:t>
            </a:r>
          </a:p>
        </p:txBody>
      </p:sp>
      <p:sp>
        <p:nvSpPr>
          <p:cNvPr id="31" name="Review 9 action"/>
          <p:cNvSpPr txBox="1"/>
          <p:nvPr/>
        </p:nvSpPr>
        <p:spPr>
          <a:xfrm>
            <a:off x="8147304" y="3493008"/>
            <a:ext cx="3218688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Review stock accuracy and availability of affected products; verify the sample before escalation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" y="4325112"/>
            <a:ext cx="10991088" cy="89611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94360" y="4361688"/>
            <a:ext cx="41148" cy="822960"/>
          </a:xfrm>
          <a:prstGeom prst="roundRect">
            <a:avLst>
              <a:gd name="adj" fmla="val 8000"/>
            </a:avLst>
          </a:prstGeom>
          <a:solidFill>
            <a:srgbClr val="D2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view 10 store"/>
          <p:cNvSpPr txBox="1"/>
          <p:nvPr/>
        </p:nvSpPr>
        <p:spPr>
          <a:xfrm>
            <a:off x="813816" y="4471416"/>
            <a:ext cx="3017520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Pet supplies branch 3, Rustaveli Avenue 15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913632" y="4480560"/>
            <a:ext cx="1572768" cy="438912"/>
          </a:xfrm>
          <a:prstGeom prst="roundRect">
            <a:avLst>
              <a:gd name="adj" fmla="val 8000"/>
            </a:avLst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Review 10 icon" descr="icon_critical_observ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1063" y="4517136"/>
            <a:ext cx="256032" cy="256032"/>
          </a:xfrm>
          <a:prstGeom prst="rect">
            <a:avLst/>
          </a:prstGeom>
        </p:spPr>
      </p:pic>
      <p:sp>
        <p:nvSpPr>
          <p:cNvPr id="37" name="Review 10 type"/>
          <p:cNvSpPr txBox="1"/>
          <p:nvPr/>
        </p:nvSpPr>
        <p:spPr>
          <a:xfrm>
            <a:off x="4251960" y="4544568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D24646"/>
                </a:solidFill>
                <a:latin typeface="Montserrat"/>
              </a:defRPr>
            </a:pPr>
            <a:r>
              <a:t>Critical observation</a:t>
            </a:r>
          </a:p>
        </p:txBody>
      </p:sp>
      <p:sp>
        <p:nvSpPr>
          <p:cNvPr id="38" name="Review 10 evidence"/>
          <p:cNvSpPr txBox="1"/>
          <p:nvPr/>
        </p:nvSpPr>
        <p:spPr>
          <a:xfrm>
            <a:off x="5577840" y="4471416"/>
            <a:ext cx="2359152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CVR 2.5% vs SBU 26.4%; denominator 4,000</a:t>
            </a:r>
          </a:p>
        </p:txBody>
      </p:sp>
      <p:sp>
        <p:nvSpPr>
          <p:cNvPr id="39" name="Review 10 action"/>
          <p:cNvSpPr txBox="1"/>
          <p:nvPr/>
        </p:nvSpPr>
        <p:spPr>
          <a:xfrm>
            <a:off x="8147304" y="4471416"/>
            <a:ext cx="3218688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Review assortment, pricing and the conversion journey; verify the sample before escalation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94360" y="5303520"/>
            <a:ext cx="10991088" cy="89611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594360" y="5340096"/>
            <a:ext cx="41148" cy="822960"/>
          </a:xfrm>
          <a:prstGeom prst="roundRect">
            <a:avLst>
              <a:gd name="adj" fmla="val 8000"/>
            </a:avLst>
          </a:prstGeom>
          <a:solidFill>
            <a:srgbClr val="D2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view 11 store"/>
          <p:cNvSpPr txBox="1"/>
          <p:nvPr/>
        </p:nvSpPr>
        <p:spPr>
          <a:xfrm>
            <a:off x="813816" y="5449824"/>
            <a:ext cx="3017520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Pet supplies branch 3, Rustaveli Avenue 15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913632" y="5458968"/>
            <a:ext cx="1572768" cy="438912"/>
          </a:xfrm>
          <a:prstGeom prst="roundRect">
            <a:avLst>
              <a:gd name="adj" fmla="val 8000"/>
            </a:avLst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Review 11 icon" descr="icon_critical_observ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1063" y="5495544"/>
            <a:ext cx="256032" cy="256032"/>
          </a:xfrm>
          <a:prstGeom prst="rect">
            <a:avLst/>
          </a:prstGeom>
        </p:spPr>
      </p:pic>
      <p:sp>
        <p:nvSpPr>
          <p:cNvPr id="45" name="Review 11 type"/>
          <p:cNvSpPr txBox="1"/>
          <p:nvPr/>
        </p:nvSpPr>
        <p:spPr>
          <a:xfrm>
            <a:off x="4251960" y="5522976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D24646"/>
                </a:solidFill>
                <a:latin typeface="Montserrat"/>
              </a:defRPr>
            </a:pPr>
            <a:r>
              <a:t>Critical observation</a:t>
            </a:r>
          </a:p>
        </p:txBody>
      </p:sp>
      <p:sp>
        <p:nvSpPr>
          <p:cNvPr id="46" name="Review 11 evidence"/>
          <p:cNvSpPr txBox="1"/>
          <p:nvPr/>
        </p:nvSpPr>
        <p:spPr>
          <a:xfrm>
            <a:off x="5577840" y="5449824"/>
            <a:ext cx="2359152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Cancels 22.0% vs SBU 2.5%; denominator 1,000</a:t>
            </a:r>
          </a:p>
        </p:txBody>
      </p:sp>
      <p:sp>
        <p:nvSpPr>
          <p:cNvPr id="47" name="Review 11 action"/>
          <p:cNvSpPr txBox="1"/>
          <p:nvPr/>
        </p:nvSpPr>
        <p:spPr>
          <a:xfrm>
            <a:off x="8147304" y="5449824"/>
            <a:ext cx="3218688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Review partner-cancelled orders and resolve the main failure reasons; verify the sample before escalation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Operational &amp; Data Review · 4/5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observations and hygiene remain visible independently of business Priority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10991088" cy="493776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view summary items to review"/>
          <p:cNvSpPr txBox="1"/>
          <p:nvPr/>
        </p:nvSpPr>
        <p:spPr>
          <a:xfrm>
            <a:off x="795528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20</a:t>
            </a:r>
          </a:p>
        </p:txBody>
      </p:sp>
      <p:sp>
        <p:nvSpPr>
          <p:cNvPr id="7" name="Review summary label"/>
          <p:cNvSpPr txBox="1"/>
          <p:nvPr/>
        </p:nvSpPr>
        <p:spPr>
          <a:xfrm>
            <a:off x="1399032" y="1581912"/>
            <a:ext cx="2743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items to review</a:t>
            </a:r>
          </a:p>
        </p:txBody>
      </p:sp>
      <p:sp>
        <p:nvSpPr>
          <p:cNvPr id="8" name="Review summary stores affected"/>
          <p:cNvSpPr txBox="1"/>
          <p:nvPr/>
        </p:nvSpPr>
        <p:spPr>
          <a:xfrm>
            <a:off x="4462272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8</a:t>
            </a:r>
          </a:p>
        </p:txBody>
      </p:sp>
      <p:sp>
        <p:nvSpPr>
          <p:cNvPr id="9" name="Review summary label"/>
          <p:cNvSpPr txBox="1"/>
          <p:nvPr/>
        </p:nvSpPr>
        <p:spPr>
          <a:xfrm>
            <a:off x="5065776" y="1581912"/>
            <a:ext cx="2743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stores affected</a:t>
            </a:r>
          </a:p>
        </p:txBody>
      </p:sp>
      <p:sp>
        <p:nvSpPr>
          <p:cNvPr id="10" name="Review summary critical observations"/>
          <p:cNvSpPr txBox="1"/>
          <p:nvPr/>
        </p:nvSpPr>
        <p:spPr>
          <a:xfrm>
            <a:off x="8129015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18</a:t>
            </a:r>
          </a:p>
        </p:txBody>
      </p:sp>
      <p:sp>
        <p:nvSpPr>
          <p:cNvPr id="11" name="Review summary label"/>
          <p:cNvSpPr txBox="1"/>
          <p:nvPr/>
        </p:nvSpPr>
        <p:spPr>
          <a:xfrm>
            <a:off x="8732519" y="1581912"/>
            <a:ext cx="2743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observations</a:t>
            </a:r>
          </a:p>
        </p:txBody>
      </p:sp>
      <p:sp>
        <p:nvSpPr>
          <p:cNvPr id="12" name="Review column STORE / LOCATION"/>
          <p:cNvSpPr txBox="1"/>
          <p:nvPr/>
        </p:nvSpPr>
        <p:spPr>
          <a:xfrm>
            <a:off x="813816" y="2039112"/>
            <a:ext cx="301752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STORE / LOCATION</a:t>
            </a:r>
          </a:p>
        </p:txBody>
      </p:sp>
      <p:sp>
        <p:nvSpPr>
          <p:cNvPr id="13" name="Review column TYPE"/>
          <p:cNvSpPr txBox="1"/>
          <p:nvPr/>
        </p:nvSpPr>
        <p:spPr>
          <a:xfrm>
            <a:off x="4059936" y="2039112"/>
            <a:ext cx="132588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TYPE</a:t>
            </a:r>
          </a:p>
        </p:txBody>
      </p:sp>
      <p:sp>
        <p:nvSpPr>
          <p:cNvPr id="14" name="Review column EVIDENCE"/>
          <p:cNvSpPr txBox="1"/>
          <p:nvPr/>
        </p:nvSpPr>
        <p:spPr>
          <a:xfrm>
            <a:off x="5577840" y="2039112"/>
            <a:ext cx="239572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EVIDENCE</a:t>
            </a:r>
          </a:p>
        </p:txBody>
      </p:sp>
      <p:sp>
        <p:nvSpPr>
          <p:cNvPr id="15" name="Review column REVIEW ACTION"/>
          <p:cNvSpPr txBox="1"/>
          <p:nvPr/>
        </p:nvSpPr>
        <p:spPr>
          <a:xfrm>
            <a:off x="8147304" y="2039112"/>
            <a:ext cx="32004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REVIEW ACTION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2368296"/>
            <a:ext cx="10991088" cy="89611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94360" y="2404872"/>
            <a:ext cx="41148" cy="822960"/>
          </a:xfrm>
          <a:prstGeom prst="roundRect">
            <a:avLst>
              <a:gd name="adj" fmla="val 8000"/>
            </a:avLst>
          </a:prstGeom>
          <a:solidFill>
            <a:srgbClr val="D2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view 12 store"/>
          <p:cNvSpPr txBox="1"/>
          <p:nvPr/>
        </p:nvSpPr>
        <p:spPr>
          <a:xfrm>
            <a:off x="813816" y="2514600"/>
            <a:ext cx="3017520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Pet supplies branch 3, Rustaveli Avenue 15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913632" y="2523744"/>
            <a:ext cx="1572768" cy="438912"/>
          </a:xfrm>
          <a:prstGeom prst="roundRect">
            <a:avLst>
              <a:gd name="adj" fmla="val 8000"/>
            </a:avLst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Review 12 icon" descr="icon_critical_observ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1063" y="2560320"/>
            <a:ext cx="256032" cy="256032"/>
          </a:xfrm>
          <a:prstGeom prst="rect">
            <a:avLst/>
          </a:prstGeom>
        </p:spPr>
      </p:pic>
      <p:sp>
        <p:nvSpPr>
          <p:cNvPr id="21" name="Review 12 type"/>
          <p:cNvSpPr txBox="1"/>
          <p:nvPr/>
        </p:nvSpPr>
        <p:spPr>
          <a:xfrm>
            <a:off x="4251960" y="2587752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D24646"/>
                </a:solidFill>
                <a:latin typeface="Montserrat"/>
              </a:defRPr>
            </a:pPr>
            <a:r>
              <a:t>Critical observation</a:t>
            </a:r>
          </a:p>
        </p:txBody>
      </p:sp>
      <p:sp>
        <p:nvSpPr>
          <p:cNvPr id="22" name="Review 12 evidence"/>
          <p:cNvSpPr txBox="1"/>
          <p:nvPr/>
        </p:nvSpPr>
        <p:spPr>
          <a:xfrm>
            <a:off x="5577840" y="2514600"/>
            <a:ext cx="2359152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PNA 45.0% vs SBU 6.1%; denominator 1,000</a:t>
            </a:r>
          </a:p>
        </p:txBody>
      </p:sp>
      <p:sp>
        <p:nvSpPr>
          <p:cNvPr id="23" name="Review 12 action"/>
          <p:cNvSpPr txBox="1"/>
          <p:nvPr/>
        </p:nvSpPr>
        <p:spPr>
          <a:xfrm>
            <a:off x="8147304" y="2514600"/>
            <a:ext cx="3218688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Review stock accuracy and availability of affected products; verify the sample before escalation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3346704"/>
            <a:ext cx="10991088" cy="89611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94360" y="3383280"/>
            <a:ext cx="41148" cy="822960"/>
          </a:xfrm>
          <a:prstGeom prst="roundRect">
            <a:avLst>
              <a:gd name="adj" fmla="val 8000"/>
            </a:avLst>
          </a:prstGeom>
          <a:solidFill>
            <a:srgbClr val="D2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view 13 store"/>
          <p:cNvSpPr txBox="1"/>
          <p:nvPr/>
        </p:nvSpPr>
        <p:spPr>
          <a:xfrm>
            <a:off x="813816" y="3493008"/>
            <a:ext cx="3017520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Pet supplies branch 4, Rustaveli Avenue 15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913632" y="3502152"/>
            <a:ext cx="1572768" cy="438912"/>
          </a:xfrm>
          <a:prstGeom prst="roundRect">
            <a:avLst>
              <a:gd name="adj" fmla="val 8000"/>
            </a:avLst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Review 13 icon" descr="icon_critical_observ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1063" y="3538728"/>
            <a:ext cx="256032" cy="256032"/>
          </a:xfrm>
          <a:prstGeom prst="rect">
            <a:avLst/>
          </a:prstGeom>
        </p:spPr>
      </p:pic>
      <p:sp>
        <p:nvSpPr>
          <p:cNvPr id="29" name="Review 13 type"/>
          <p:cNvSpPr txBox="1"/>
          <p:nvPr/>
        </p:nvSpPr>
        <p:spPr>
          <a:xfrm>
            <a:off x="4251960" y="3566160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D24646"/>
                </a:solidFill>
                <a:latin typeface="Montserrat"/>
              </a:defRPr>
            </a:pPr>
            <a:r>
              <a:t>Critical observation</a:t>
            </a:r>
          </a:p>
        </p:txBody>
      </p:sp>
      <p:sp>
        <p:nvSpPr>
          <p:cNvPr id="30" name="Review 13 evidence"/>
          <p:cNvSpPr txBox="1"/>
          <p:nvPr/>
        </p:nvSpPr>
        <p:spPr>
          <a:xfrm>
            <a:off x="5577840" y="3493008"/>
            <a:ext cx="2359152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CVR 2.5% vs SBU 26.4%; denominator 4,000</a:t>
            </a:r>
          </a:p>
        </p:txBody>
      </p:sp>
      <p:sp>
        <p:nvSpPr>
          <p:cNvPr id="31" name="Review 13 action"/>
          <p:cNvSpPr txBox="1"/>
          <p:nvPr/>
        </p:nvSpPr>
        <p:spPr>
          <a:xfrm>
            <a:off x="8147304" y="3493008"/>
            <a:ext cx="3218688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Review assortment, pricing and the conversion journey; verify the sample before escalation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" y="4325112"/>
            <a:ext cx="10991088" cy="89611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94360" y="4361688"/>
            <a:ext cx="41148" cy="822960"/>
          </a:xfrm>
          <a:prstGeom prst="roundRect">
            <a:avLst>
              <a:gd name="adj" fmla="val 8000"/>
            </a:avLst>
          </a:prstGeom>
          <a:solidFill>
            <a:srgbClr val="D2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view 14 store"/>
          <p:cNvSpPr txBox="1"/>
          <p:nvPr/>
        </p:nvSpPr>
        <p:spPr>
          <a:xfrm>
            <a:off x="813816" y="4471416"/>
            <a:ext cx="3017520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Pet supplies branch 4, Rustaveli Avenue 15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913632" y="4480560"/>
            <a:ext cx="1572768" cy="438912"/>
          </a:xfrm>
          <a:prstGeom prst="roundRect">
            <a:avLst>
              <a:gd name="adj" fmla="val 8000"/>
            </a:avLst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Review 14 icon" descr="icon_critical_observ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1063" y="4517136"/>
            <a:ext cx="256032" cy="256032"/>
          </a:xfrm>
          <a:prstGeom prst="rect">
            <a:avLst/>
          </a:prstGeom>
        </p:spPr>
      </p:pic>
      <p:sp>
        <p:nvSpPr>
          <p:cNvPr id="37" name="Review 14 type"/>
          <p:cNvSpPr txBox="1"/>
          <p:nvPr/>
        </p:nvSpPr>
        <p:spPr>
          <a:xfrm>
            <a:off x="4251960" y="4544568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D24646"/>
                </a:solidFill>
                <a:latin typeface="Montserrat"/>
              </a:defRPr>
            </a:pPr>
            <a:r>
              <a:t>Critical observation</a:t>
            </a:r>
          </a:p>
        </p:txBody>
      </p:sp>
      <p:sp>
        <p:nvSpPr>
          <p:cNvPr id="38" name="Review 14 evidence"/>
          <p:cNvSpPr txBox="1"/>
          <p:nvPr/>
        </p:nvSpPr>
        <p:spPr>
          <a:xfrm>
            <a:off x="5577840" y="4471416"/>
            <a:ext cx="2359152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Cancels 22.0% vs SBU 2.5%; denominator 1,000</a:t>
            </a:r>
          </a:p>
        </p:txBody>
      </p:sp>
      <p:sp>
        <p:nvSpPr>
          <p:cNvPr id="39" name="Review 14 action"/>
          <p:cNvSpPr txBox="1"/>
          <p:nvPr/>
        </p:nvSpPr>
        <p:spPr>
          <a:xfrm>
            <a:off x="8147304" y="4471416"/>
            <a:ext cx="3218688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Review partner-cancelled orders and resolve the main failure reasons; verify the sample before escalation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94360" y="5303520"/>
            <a:ext cx="10991088" cy="89611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594360" y="5340096"/>
            <a:ext cx="41148" cy="822960"/>
          </a:xfrm>
          <a:prstGeom prst="roundRect">
            <a:avLst>
              <a:gd name="adj" fmla="val 8000"/>
            </a:avLst>
          </a:prstGeom>
          <a:solidFill>
            <a:srgbClr val="D2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view 15 store"/>
          <p:cNvSpPr txBox="1"/>
          <p:nvPr/>
        </p:nvSpPr>
        <p:spPr>
          <a:xfrm>
            <a:off x="813816" y="5449824"/>
            <a:ext cx="3017520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Pet supplies branch 4, Rustaveli Avenue 15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913632" y="5458968"/>
            <a:ext cx="1572768" cy="438912"/>
          </a:xfrm>
          <a:prstGeom prst="roundRect">
            <a:avLst>
              <a:gd name="adj" fmla="val 8000"/>
            </a:avLst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Review 15 icon" descr="icon_critical_observ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1063" y="5495544"/>
            <a:ext cx="256032" cy="256032"/>
          </a:xfrm>
          <a:prstGeom prst="rect">
            <a:avLst/>
          </a:prstGeom>
        </p:spPr>
      </p:pic>
      <p:sp>
        <p:nvSpPr>
          <p:cNvPr id="45" name="Review 15 type"/>
          <p:cNvSpPr txBox="1"/>
          <p:nvPr/>
        </p:nvSpPr>
        <p:spPr>
          <a:xfrm>
            <a:off x="4251960" y="5522976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D24646"/>
                </a:solidFill>
                <a:latin typeface="Montserrat"/>
              </a:defRPr>
            </a:pPr>
            <a:r>
              <a:t>Critical observation</a:t>
            </a:r>
          </a:p>
        </p:txBody>
      </p:sp>
      <p:sp>
        <p:nvSpPr>
          <p:cNvPr id="46" name="Review 15 evidence"/>
          <p:cNvSpPr txBox="1"/>
          <p:nvPr/>
        </p:nvSpPr>
        <p:spPr>
          <a:xfrm>
            <a:off x="5577840" y="5449824"/>
            <a:ext cx="2359152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PNA 45.0% vs SBU 6.1%; denominator 1,000</a:t>
            </a:r>
          </a:p>
        </p:txBody>
      </p:sp>
      <p:sp>
        <p:nvSpPr>
          <p:cNvPr id="47" name="Review 15 action"/>
          <p:cNvSpPr txBox="1"/>
          <p:nvPr/>
        </p:nvSpPr>
        <p:spPr>
          <a:xfrm>
            <a:off x="8147304" y="5449824"/>
            <a:ext cx="3218688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Review stock accuracy and availability of affected products; verify the sample before escalation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Operational &amp; Data Review · 5/5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observations and hygiene remain visible independently of business Priority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10991088" cy="493776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view summary items to review"/>
          <p:cNvSpPr txBox="1"/>
          <p:nvPr/>
        </p:nvSpPr>
        <p:spPr>
          <a:xfrm>
            <a:off x="795528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20</a:t>
            </a:r>
          </a:p>
        </p:txBody>
      </p:sp>
      <p:sp>
        <p:nvSpPr>
          <p:cNvPr id="7" name="Review summary label"/>
          <p:cNvSpPr txBox="1"/>
          <p:nvPr/>
        </p:nvSpPr>
        <p:spPr>
          <a:xfrm>
            <a:off x="1399032" y="1581912"/>
            <a:ext cx="2743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items to review</a:t>
            </a:r>
          </a:p>
        </p:txBody>
      </p:sp>
      <p:sp>
        <p:nvSpPr>
          <p:cNvPr id="8" name="Review summary stores affected"/>
          <p:cNvSpPr txBox="1"/>
          <p:nvPr/>
        </p:nvSpPr>
        <p:spPr>
          <a:xfrm>
            <a:off x="4462272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8</a:t>
            </a:r>
          </a:p>
        </p:txBody>
      </p:sp>
      <p:sp>
        <p:nvSpPr>
          <p:cNvPr id="9" name="Review summary label"/>
          <p:cNvSpPr txBox="1"/>
          <p:nvPr/>
        </p:nvSpPr>
        <p:spPr>
          <a:xfrm>
            <a:off x="5065776" y="1581912"/>
            <a:ext cx="2743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stores affected</a:t>
            </a:r>
          </a:p>
        </p:txBody>
      </p:sp>
      <p:sp>
        <p:nvSpPr>
          <p:cNvPr id="10" name="Review summary critical observations"/>
          <p:cNvSpPr txBox="1"/>
          <p:nvPr/>
        </p:nvSpPr>
        <p:spPr>
          <a:xfrm>
            <a:off x="8129015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18</a:t>
            </a:r>
          </a:p>
        </p:txBody>
      </p:sp>
      <p:sp>
        <p:nvSpPr>
          <p:cNvPr id="11" name="Review summary label"/>
          <p:cNvSpPr txBox="1"/>
          <p:nvPr/>
        </p:nvSpPr>
        <p:spPr>
          <a:xfrm>
            <a:off x="8732519" y="1581912"/>
            <a:ext cx="2743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observations</a:t>
            </a:r>
          </a:p>
        </p:txBody>
      </p:sp>
      <p:sp>
        <p:nvSpPr>
          <p:cNvPr id="12" name="Review column STORE / LOCATION"/>
          <p:cNvSpPr txBox="1"/>
          <p:nvPr/>
        </p:nvSpPr>
        <p:spPr>
          <a:xfrm>
            <a:off x="813816" y="2039112"/>
            <a:ext cx="301752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STORE / LOCATION</a:t>
            </a:r>
          </a:p>
        </p:txBody>
      </p:sp>
      <p:sp>
        <p:nvSpPr>
          <p:cNvPr id="13" name="Review column TYPE"/>
          <p:cNvSpPr txBox="1"/>
          <p:nvPr/>
        </p:nvSpPr>
        <p:spPr>
          <a:xfrm>
            <a:off x="4059936" y="2039112"/>
            <a:ext cx="132588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TYPE</a:t>
            </a:r>
          </a:p>
        </p:txBody>
      </p:sp>
      <p:sp>
        <p:nvSpPr>
          <p:cNvPr id="14" name="Review column EVIDENCE"/>
          <p:cNvSpPr txBox="1"/>
          <p:nvPr/>
        </p:nvSpPr>
        <p:spPr>
          <a:xfrm>
            <a:off x="5577840" y="2039112"/>
            <a:ext cx="239572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EVIDENCE</a:t>
            </a:r>
          </a:p>
        </p:txBody>
      </p:sp>
      <p:sp>
        <p:nvSpPr>
          <p:cNvPr id="15" name="Review column REVIEW ACTION"/>
          <p:cNvSpPr txBox="1"/>
          <p:nvPr/>
        </p:nvSpPr>
        <p:spPr>
          <a:xfrm>
            <a:off x="8147304" y="2039112"/>
            <a:ext cx="32004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REVIEW ACTION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2368296"/>
            <a:ext cx="10991088" cy="89611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94360" y="2404872"/>
            <a:ext cx="41148" cy="822960"/>
          </a:xfrm>
          <a:prstGeom prst="roundRect">
            <a:avLst>
              <a:gd name="adj" fmla="val 8000"/>
            </a:avLst>
          </a:prstGeom>
          <a:solidFill>
            <a:srgbClr val="D2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view 16 store"/>
          <p:cNvSpPr txBox="1"/>
          <p:nvPr/>
        </p:nvSpPr>
        <p:spPr>
          <a:xfrm>
            <a:off x="813816" y="2514600"/>
            <a:ext cx="3017520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Pet supplies branch 5, Rustaveli Avenue 15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913632" y="2523744"/>
            <a:ext cx="1572768" cy="438912"/>
          </a:xfrm>
          <a:prstGeom prst="roundRect">
            <a:avLst>
              <a:gd name="adj" fmla="val 8000"/>
            </a:avLst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Review 16 icon" descr="icon_critical_observ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1063" y="2560320"/>
            <a:ext cx="256032" cy="256032"/>
          </a:xfrm>
          <a:prstGeom prst="rect">
            <a:avLst/>
          </a:prstGeom>
        </p:spPr>
      </p:pic>
      <p:sp>
        <p:nvSpPr>
          <p:cNvPr id="21" name="Review 16 type"/>
          <p:cNvSpPr txBox="1"/>
          <p:nvPr/>
        </p:nvSpPr>
        <p:spPr>
          <a:xfrm>
            <a:off x="4251960" y="2587752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D24646"/>
                </a:solidFill>
                <a:latin typeface="Montserrat"/>
              </a:defRPr>
            </a:pPr>
            <a:r>
              <a:t>Critical observation</a:t>
            </a:r>
          </a:p>
        </p:txBody>
      </p:sp>
      <p:sp>
        <p:nvSpPr>
          <p:cNvPr id="22" name="Review 16 evidence"/>
          <p:cNvSpPr txBox="1"/>
          <p:nvPr/>
        </p:nvSpPr>
        <p:spPr>
          <a:xfrm>
            <a:off x="5577840" y="2514600"/>
            <a:ext cx="2359152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CVR 2.5% vs SBU 26.4%; denominator 4,000</a:t>
            </a:r>
          </a:p>
        </p:txBody>
      </p:sp>
      <p:sp>
        <p:nvSpPr>
          <p:cNvPr id="23" name="Review 16 action"/>
          <p:cNvSpPr txBox="1"/>
          <p:nvPr/>
        </p:nvSpPr>
        <p:spPr>
          <a:xfrm>
            <a:off x="8147304" y="2514600"/>
            <a:ext cx="3218688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Review assortment, pricing and the conversion journey; verify the sample before escalation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3346704"/>
            <a:ext cx="10991088" cy="89611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94360" y="3383280"/>
            <a:ext cx="41148" cy="822960"/>
          </a:xfrm>
          <a:prstGeom prst="roundRect">
            <a:avLst>
              <a:gd name="adj" fmla="val 8000"/>
            </a:avLst>
          </a:prstGeom>
          <a:solidFill>
            <a:srgbClr val="D2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view 17 store"/>
          <p:cNvSpPr txBox="1"/>
          <p:nvPr/>
        </p:nvSpPr>
        <p:spPr>
          <a:xfrm>
            <a:off x="813816" y="3493008"/>
            <a:ext cx="3017520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Pet supplies branch 5, Rustaveli Avenue 15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913632" y="3502152"/>
            <a:ext cx="1572768" cy="438912"/>
          </a:xfrm>
          <a:prstGeom prst="roundRect">
            <a:avLst>
              <a:gd name="adj" fmla="val 8000"/>
            </a:avLst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Review 17 icon" descr="icon_critical_observ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1063" y="3538728"/>
            <a:ext cx="256032" cy="256032"/>
          </a:xfrm>
          <a:prstGeom prst="rect">
            <a:avLst/>
          </a:prstGeom>
        </p:spPr>
      </p:pic>
      <p:sp>
        <p:nvSpPr>
          <p:cNvPr id="29" name="Review 17 type"/>
          <p:cNvSpPr txBox="1"/>
          <p:nvPr/>
        </p:nvSpPr>
        <p:spPr>
          <a:xfrm>
            <a:off x="4251960" y="3566160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D24646"/>
                </a:solidFill>
                <a:latin typeface="Montserrat"/>
              </a:defRPr>
            </a:pPr>
            <a:r>
              <a:t>Critical observation</a:t>
            </a:r>
          </a:p>
        </p:txBody>
      </p:sp>
      <p:sp>
        <p:nvSpPr>
          <p:cNvPr id="30" name="Review 17 evidence"/>
          <p:cNvSpPr txBox="1"/>
          <p:nvPr/>
        </p:nvSpPr>
        <p:spPr>
          <a:xfrm>
            <a:off x="5577840" y="3493008"/>
            <a:ext cx="2359152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Cancels 22.0% vs SBU 2.5%; denominator 1,000</a:t>
            </a:r>
          </a:p>
        </p:txBody>
      </p:sp>
      <p:sp>
        <p:nvSpPr>
          <p:cNvPr id="31" name="Review 17 action"/>
          <p:cNvSpPr txBox="1"/>
          <p:nvPr/>
        </p:nvSpPr>
        <p:spPr>
          <a:xfrm>
            <a:off x="8147304" y="3493008"/>
            <a:ext cx="3218688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Review partner-cancelled orders and resolve the main failure reasons; verify the sample before escalation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" y="4325112"/>
            <a:ext cx="10991088" cy="89611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94360" y="4361688"/>
            <a:ext cx="41148" cy="822960"/>
          </a:xfrm>
          <a:prstGeom prst="roundRect">
            <a:avLst>
              <a:gd name="adj" fmla="val 8000"/>
            </a:avLst>
          </a:prstGeom>
          <a:solidFill>
            <a:srgbClr val="D2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view 18 store"/>
          <p:cNvSpPr txBox="1"/>
          <p:nvPr/>
        </p:nvSpPr>
        <p:spPr>
          <a:xfrm>
            <a:off x="813816" y="4471416"/>
            <a:ext cx="3017520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Pet supplies branch 5, Rustaveli Avenue 15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913632" y="4480560"/>
            <a:ext cx="1572768" cy="438912"/>
          </a:xfrm>
          <a:prstGeom prst="roundRect">
            <a:avLst>
              <a:gd name="adj" fmla="val 8000"/>
            </a:avLst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Review 18 icon" descr="icon_critical_observ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1063" y="4517136"/>
            <a:ext cx="256032" cy="256032"/>
          </a:xfrm>
          <a:prstGeom prst="rect">
            <a:avLst/>
          </a:prstGeom>
        </p:spPr>
      </p:pic>
      <p:sp>
        <p:nvSpPr>
          <p:cNvPr id="37" name="Review 18 type"/>
          <p:cNvSpPr txBox="1"/>
          <p:nvPr/>
        </p:nvSpPr>
        <p:spPr>
          <a:xfrm>
            <a:off x="4251960" y="4544568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D24646"/>
                </a:solidFill>
                <a:latin typeface="Montserrat"/>
              </a:defRPr>
            </a:pPr>
            <a:r>
              <a:t>Critical observation</a:t>
            </a:r>
          </a:p>
        </p:txBody>
      </p:sp>
      <p:sp>
        <p:nvSpPr>
          <p:cNvPr id="38" name="Review 18 evidence"/>
          <p:cNvSpPr txBox="1"/>
          <p:nvPr/>
        </p:nvSpPr>
        <p:spPr>
          <a:xfrm>
            <a:off x="5577840" y="4471416"/>
            <a:ext cx="2359152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PNA 45.0% vs SBU 6.1%; denominator 1,000</a:t>
            </a:r>
          </a:p>
        </p:txBody>
      </p:sp>
      <p:sp>
        <p:nvSpPr>
          <p:cNvPr id="39" name="Review 18 action"/>
          <p:cNvSpPr txBox="1"/>
          <p:nvPr/>
        </p:nvSpPr>
        <p:spPr>
          <a:xfrm>
            <a:off x="8147304" y="4471416"/>
            <a:ext cx="3218688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Review stock accuracy and availability of affected products; verify the sample before escalation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94360" y="5303520"/>
            <a:ext cx="10991088" cy="89611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594360" y="5340096"/>
            <a:ext cx="41148" cy="822960"/>
          </a:xfrm>
          <a:prstGeom prst="roundRect">
            <a:avLst>
              <a:gd name="adj" fmla="val 8000"/>
            </a:avLst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view 19 store"/>
          <p:cNvSpPr txBox="1"/>
          <p:nvPr/>
        </p:nvSpPr>
        <p:spPr>
          <a:xfrm>
            <a:off x="813816" y="5449824"/>
            <a:ext cx="3017520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Pet supplies branch L, Rustaveli Avenue 15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913632" y="5458968"/>
            <a:ext cx="1572768" cy="438912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Review 19 icon" descr="icon_availability_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1063" y="5495544"/>
            <a:ext cx="256032" cy="256032"/>
          </a:xfrm>
          <a:prstGeom prst="rect">
            <a:avLst/>
          </a:prstGeom>
        </p:spPr>
      </p:pic>
      <p:sp>
        <p:nvSpPr>
          <p:cNvPr id="45" name="Review 19 type"/>
          <p:cNvSpPr txBox="1"/>
          <p:nvPr/>
        </p:nvSpPr>
        <p:spPr>
          <a:xfrm>
            <a:off x="4251960" y="5522976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232323"/>
                </a:solidFill>
                <a:latin typeface="Montserrat"/>
              </a:defRPr>
            </a:pPr>
            <a:r>
              <a:t>Availability review</a:t>
            </a:r>
          </a:p>
        </p:txBody>
      </p:sp>
      <p:sp>
        <p:nvSpPr>
          <p:cNvPr id="46" name="Review 19 evidence"/>
          <p:cNvSpPr txBox="1"/>
          <p:nvPr/>
        </p:nvSpPr>
        <p:spPr>
          <a:xfrm>
            <a:off x="5577840" y="5449824"/>
            <a:ext cx="2359152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Uptime 88.0% vs target 95.0%</a:t>
            </a:r>
          </a:p>
        </p:txBody>
      </p:sp>
      <p:sp>
        <p:nvSpPr>
          <p:cNvPr id="47" name="Review 19 action"/>
          <p:cNvSpPr txBox="1"/>
          <p:nvPr/>
        </p:nvSpPr>
        <p:spPr>
          <a:xfrm>
            <a:off x="8147304" y="5449824"/>
            <a:ext cx="3218688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Restore availability during scheduled opening hours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Action Plan · 1/3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Agree actions, owners and dates during the business review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63040"/>
            <a:ext cx="5367528" cy="4443984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lan action 1 priority icon" descr="icon_priority_a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1591056"/>
            <a:ext cx="256032" cy="256032"/>
          </a:xfrm>
          <a:prstGeom prst="rect">
            <a:avLst/>
          </a:prstGeom>
        </p:spPr>
      </p:pic>
      <p:sp>
        <p:nvSpPr>
          <p:cNvPr id="7" name="Plan action 1 rank"/>
          <p:cNvSpPr txBox="1"/>
          <p:nvPr/>
        </p:nvSpPr>
        <p:spPr>
          <a:xfrm>
            <a:off x="1097280" y="1618488"/>
            <a:ext cx="276148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PRIORITY ACTION 1</a:t>
            </a:r>
          </a:p>
        </p:txBody>
      </p:sp>
      <p:sp>
        <p:nvSpPr>
          <p:cNvPr id="8" name="Plan action 1 priority"/>
          <p:cNvSpPr txBox="1"/>
          <p:nvPr/>
        </p:nvSpPr>
        <p:spPr>
          <a:xfrm>
            <a:off x="4297680" y="1591056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Priority 85.30</a:t>
            </a:r>
          </a:p>
        </p:txBody>
      </p:sp>
      <p:sp>
        <p:nvSpPr>
          <p:cNvPr id="9" name="Plan action 1 store"/>
          <p:cNvSpPr txBox="1"/>
          <p:nvPr/>
        </p:nvSpPr>
        <p:spPr>
          <a:xfrm>
            <a:off x="777240" y="1947672"/>
            <a:ext cx="5001768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პეტფუდი — შინაური ცხოველების კვებისა და ვეტერინარული მომსახურების ცენტრი, ჭავჭავაძის გამზირი 123</a:t>
            </a:r>
          </a:p>
        </p:txBody>
      </p:sp>
      <p:sp>
        <p:nvSpPr>
          <p:cNvPr id="10" name="Plan action 1 primary label"/>
          <p:cNvSpPr txBox="1"/>
          <p:nvPr/>
        </p:nvSpPr>
        <p:spPr>
          <a:xfrm>
            <a:off x="777240" y="2651760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11" name="Plan action 1 primary"/>
          <p:cNvSpPr txBox="1"/>
          <p:nvPr/>
        </p:nvSpPr>
        <p:spPr>
          <a:xfrm>
            <a:off x="2423160" y="2624328"/>
            <a:ext cx="3355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12" name="Plan action 1 recommendation label"/>
          <p:cNvSpPr txBox="1"/>
          <p:nvPr/>
        </p:nvSpPr>
        <p:spPr>
          <a:xfrm>
            <a:off x="777240" y="2990088"/>
            <a:ext cx="5001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Recommended Action (System)</a:t>
            </a:r>
          </a:p>
        </p:txBody>
      </p:sp>
      <p:sp>
        <p:nvSpPr>
          <p:cNvPr id="13" name="Plan action 1 recommendation"/>
          <p:cNvSpPr txBox="1"/>
          <p:nvPr/>
        </p:nvSpPr>
        <p:spPr>
          <a:xfrm>
            <a:off x="777240" y="3282696"/>
            <a:ext cx="5001768" cy="950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0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251960"/>
            <a:ext cx="5093208" cy="603504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lan action 1 agreed icon" descr="icon_agreed_a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4297680"/>
            <a:ext cx="237744" cy="237744"/>
          </a:xfrm>
          <a:prstGeom prst="rect">
            <a:avLst/>
          </a:prstGeom>
        </p:spPr>
      </p:pic>
      <p:sp>
        <p:nvSpPr>
          <p:cNvPr id="16" name="Plan action 1 agreed label"/>
          <p:cNvSpPr txBox="1"/>
          <p:nvPr/>
        </p:nvSpPr>
        <p:spPr>
          <a:xfrm>
            <a:off x="1115568" y="4325112"/>
            <a:ext cx="459028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Agreed Action (Meeting)</a:t>
            </a:r>
          </a:p>
        </p:txBody>
      </p:sp>
      <p:sp>
        <p:nvSpPr>
          <p:cNvPr id="17" name="Plan action 1 agreed"/>
          <p:cNvSpPr txBox="1"/>
          <p:nvPr/>
        </p:nvSpPr>
        <p:spPr>
          <a:xfrm>
            <a:off x="850392" y="4590288"/>
            <a:ext cx="485546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18" name="Plan action 1 Owner label"/>
          <p:cNvSpPr txBox="1"/>
          <p:nvPr/>
        </p:nvSpPr>
        <p:spPr>
          <a:xfrm>
            <a:off x="777240" y="5065776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Owner</a:t>
            </a:r>
          </a:p>
        </p:txBody>
      </p:sp>
      <p:sp>
        <p:nvSpPr>
          <p:cNvPr id="19" name="Plan action 1 Owner"/>
          <p:cNvSpPr txBox="1"/>
          <p:nvPr/>
        </p:nvSpPr>
        <p:spPr>
          <a:xfrm>
            <a:off x="1472184" y="5065776"/>
            <a:ext cx="16962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20" name="Plan action 1 Contact label"/>
          <p:cNvSpPr txBox="1"/>
          <p:nvPr/>
        </p:nvSpPr>
        <p:spPr>
          <a:xfrm>
            <a:off x="3461004" y="5065776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Contact</a:t>
            </a:r>
          </a:p>
        </p:txBody>
      </p:sp>
      <p:sp>
        <p:nvSpPr>
          <p:cNvPr id="21" name="Plan action 1 Contact"/>
          <p:cNvSpPr txBox="1"/>
          <p:nvPr/>
        </p:nvSpPr>
        <p:spPr>
          <a:xfrm>
            <a:off x="4155948" y="5065776"/>
            <a:ext cx="16962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22" name="Plan action 1 ETA label"/>
          <p:cNvSpPr txBox="1"/>
          <p:nvPr/>
        </p:nvSpPr>
        <p:spPr>
          <a:xfrm>
            <a:off x="777240" y="5468112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ETA</a:t>
            </a:r>
          </a:p>
        </p:txBody>
      </p:sp>
      <p:sp>
        <p:nvSpPr>
          <p:cNvPr id="23" name="Plan action 1 ETA"/>
          <p:cNvSpPr txBox="1"/>
          <p:nvPr/>
        </p:nvSpPr>
        <p:spPr>
          <a:xfrm>
            <a:off x="1472184" y="5468112"/>
            <a:ext cx="16962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24" name="Plan action 1 Follow-up KPI label"/>
          <p:cNvSpPr txBox="1"/>
          <p:nvPr/>
        </p:nvSpPr>
        <p:spPr>
          <a:xfrm>
            <a:off x="3461004" y="5468112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Follow-up KPI</a:t>
            </a:r>
          </a:p>
        </p:txBody>
      </p:sp>
      <p:sp>
        <p:nvSpPr>
          <p:cNvPr id="25" name="Plan action 1 Follow-up KPI"/>
          <p:cNvSpPr txBox="1"/>
          <p:nvPr/>
        </p:nvSpPr>
        <p:spPr>
          <a:xfrm>
            <a:off x="4677156" y="5468112"/>
            <a:ext cx="11750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1463040"/>
            <a:ext cx="5367528" cy="4443984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lan action 2 priority icon" descr="icon_priority_a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2512" y="1591056"/>
            <a:ext cx="256032" cy="256032"/>
          </a:xfrm>
          <a:prstGeom prst="rect">
            <a:avLst/>
          </a:prstGeom>
        </p:spPr>
      </p:pic>
      <p:sp>
        <p:nvSpPr>
          <p:cNvPr id="28" name="Plan action 2 rank"/>
          <p:cNvSpPr txBox="1"/>
          <p:nvPr/>
        </p:nvSpPr>
        <p:spPr>
          <a:xfrm>
            <a:off x="6720840" y="1618488"/>
            <a:ext cx="276148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PRIORITY ACTION 2</a:t>
            </a:r>
          </a:p>
        </p:txBody>
      </p:sp>
      <p:sp>
        <p:nvSpPr>
          <p:cNvPr id="29" name="Plan action 2 priority"/>
          <p:cNvSpPr txBox="1"/>
          <p:nvPr/>
        </p:nvSpPr>
        <p:spPr>
          <a:xfrm>
            <a:off x="9921240" y="1591056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Priority 85.30</a:t>
            </a:r>
          </a:p>
        </p:txBody>
      </p:sp>
      <p:sp>
        <p:nvSpPr>
          <p:cNvPr id="30" name="Plan action 2 store"/>
          <p:cNvSpPr txBox="1"/>
          <p:nvPr/>
        </p:nvSpPr>
        <p:spPr>
          <a:xfrm>
            <a:off x="6400800" y="1947672"/>
            <a:ext cx="5001768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Pet supplies branch 1, Rustaveli Avenue 15</a:t>
            </a:r>
          </a:p>
        </p:txBody>
      </p:sp>
      <p:sp>
        <p:nvSpPr>
          <p:cNvPr id="31" name="Plan action 2 primary label"/>
          <p:cNvSpPr txBox="1"/>
          <p:nvPr/>
        </p:nvSpPr>
        <p:spPr>
          <a:xfrm>
            <a:off x="6400800" y="2651760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32" name="Plan action 2 primary"/>
          <p:cNvSpPr txBox="1"/>
          <p:nvPr/>
        </p:nvSpPr>
        <p:spPr>
          <a:xfrm>
            <a:off x="8046720" y="2624328"/>
            <a:ext cx="3355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33" name="Plan action 2 recommendation label"/>
          <p:cNvSpPr txBox="1"/>
          <p:nvPr/>
        </p:nvSpPr>
        <p:spPr>
          <a:xfrm>
            <a:off x="6400800" y="2990088"/>
            <a:ext cx="5001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Recommended Action (System)</a:t>
            </a:r>
          </a:p>
        </p:txBody>
      </p:sp>
      <p:sp>
        <p:nvSpPr>
          <p:cNvPr id="34" name="Plan action 2 recommendation"/>
          <p:cNvSpPr txBox="1"/>
          <p:nvPr/>
        </p:nvSpPr>
        <p:spPr>
          <a:xfrm>
            <a:off x="6400800" y="3282696"/>
            <a:ext cx="5001768" cy="950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0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55080" y="4251960"/>
            <a:ext cx="5093208" cy="603504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lan action 2 agreed icon" descr="icon_agreed_a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8232" y="4297680"/>
            <a:ext cx="237744" cy="237744"/>
          </a:xfrm>
          <a:prstGeom prst="rect">
            <a:avLst/>
          </a:prstGeom>
        </p:spPr>
      </p:pic>
      <p:sp>
        <p:nvSpPr>
          <p:cNvPr id="37" name="Plan action 2 agreed label"/>
          <p:cNvSpPr txBox="1"/>
          <p:nvPr/>
        </p:nvSpPr>
        <p:spPr>
          <a:xfrm>
            <a:off x="6739128" y="4325112"/>
            <a:ext cx="459028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Agreed Action (Meeting)</a:t>
            </a:r>
          </a:p>
        </p:txBody>
      </p:sp>
      <p:sp>
        <p:nvSpPr>
          <p:cNvPr id="38" name="Plan action 2 agreed"/>
          <p:cNvSpPr txBox="1"/>
          <p:nvPr/>
        </p:nvSpPr>
        <p:spPr>
          <a:xfrm>
            <a:off x="6473952" y="4590288"/>
            <a:ext cx="485546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9" name="Plan action 2 Owner label"/>
          <p:cNvSpPr txBox="1"/>
          <p:nvPr/>
        </p:nvSpPr>
        <p:spPr>
          <a:xfrm>
            <a:off x="6400800" y="5065776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Owner</a:t>
            </a:r>
          </a:p>
        </p:txBody>
      </p:sp>
      <p:sp>
        <p:nvSpPr>
          <p:cNvPr id="40" name="Plan action 2 Owner"/>
          <p:cNvSpPr txBox="1"/>
          <p:nvPr/>
        </p:nvSpPr>
        <p:spPr>
          <a:xfrm>
            <a:off x="7095744" y="5065776"/>
            <a:ext cx="16962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41" name="Plan action 2 Contact label"/>
          <p:cNvSpPr txBox="1"/>
          <p:nvPr/>
        </p:nvSpPr>
        <p:spPr>
          <a:xfrm>
            <a:off x="9084564" y="5065776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Contact</a:t>
            </a:r>
          </a:p>
        </p:txBody>
      </p:sp>
      <p:sp>
        <p:nvSpPr>
          <p:cNvPr id="42" name="Plan action 2 Contact"/>
          <p:cNvSpPr txBox="1"/>
          <p:nvPr/>
        </p:nvSpPr>
        <p:spPr>
          <a:xfrm>
            <a:off x="9779508" y="5065776"/>
            <a:ext cx="16962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43" name="Plan action 2 ETA label"/>
          <p:cNvSpPr txBox="1"/>
          <p:nvPr/>
        </p:nvSpPr>
        <p:spPr>
          <a:xfrm>
            <a:off x="6400800" y="5468112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ETA</a:t>
            </a:r>
          </a:p>
        </p:txBody>
      </p:sp>
      <p:sp>
        <p:nvSpPr>
          <p:cNvPr id="44" name="Plan action 2 ETA"/>
          <p:cNvSpPr txBox="1"/>
          <p:nvPr/>
        </p:nvSpPr>
        <p:spPr>
          <a:xfrm>
            <a:off x="7095744" y="5468112"/>
            <a:ext cx="16962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45" name="Plan action 2 Follow-up KPI label"/>
          <p:cNvSpPr txBox="1"/>
          <p:nvPr/>
        </p:nvSpPr>
        <p:spPr>
          <a:xfrm>
            <a:off x="9084564" y="5468112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Follow-up KPI</a:t>
            </a:r>
          </a:p>
        </p:txBody>
      </p:sp>
      <p:sp>
        <p:nvSpPr>
          <p:cNvPr id="46" name="Plan action 2 Follow-up KPI"/>
          <p:cNvSpPr txBox="1"/>
          <p:nvPr/>
        </p:nvSpPr>
        <p:spPr>
          <a:xfrm>
            <a:off x="10300716" y="5468112"/>
            <a:ext cx="11750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94360" y="6144768"/>
            <a:ext cx="10991088" cy="393192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Next check-in icon" descr="icon_next_check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" y="6217920"/>
            <a:ext cx="256032" cy="256032"/>
          </a:xfrm>
          <a:prstGeom prst="rect">
            <a:avLst/>
          </a:prstGeom>
        </p:spPr>
      </p:pic>
      <p:sp>
        <p:nvSpPr>
          <p:cNvPr id="49" name="Next check-in label"/>
          <p:cNvSpPr txBox="1"/>
          <p:nvPr/>
        </p:nvSpPr>
        <p:spPr>
          <a:xfrm>
            <a:off x="1097280" y="6245352"/>
            <a:ext cx="11247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Next check-in:</a:t>
            </a:r>
          </a:p>
        </p:txBody>
      </p:sp>
      <p:sp>
        <p:nvSpPr>
          <p:cNvPr id="50" name="Next check-in"/>
          <p:cNvSpPr txBox="1"/>
          <p:nvPr/>
        </p:nvSpPr>
        <p:spPr>
          <a:xfrm>
            <a:off x="2267712" y="6236208"/>
            <a:ext cx="8961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Action Plan · 2/3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Agree actions, owners and dates during the business review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63040"/>
            <a:ext cx="5367528" cy="4443984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lan action 3 priority icon" descr="icon_priority_a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1591056"/>
            <a:ext cx="256032" cy="256032"/>
          </a:xfrm>
          <a:prstGeom prst="rect">
            <a:avLst/>
          </a:prstGeom>
        </p:spPr>
      </p:pic>
      <p:sp>
        <p:nvSpPr>
          <p:cNvPr id="7" name="Plan action 3 rank"/>
          <p:cNvSpPr txBox="1"/>
          <p:nvPr/>
        </p:nvSpPr>
        <p:spPr>
          <a:xfrm>
            <a:off x="1097280" y="1618488"/>
            <a:ext cx="276148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PRIORITY ACTION 3</a:t>
            </a:r>
          </a:p>
        </p:txBody>
      </p:sp>
      <p:sp>
        <p:nvSpPr>
          <p:cNvPr id="8" name="Plan action 3 priority"/>
          <p:cNvSpPr txBox="1"/>
          <p:nvPr/>
        </p:nvSpPr>
        <p:spPr>
          <a:xfrm>
            <a:off x="4297680" y="1591056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Priority 85.30</a:t>
            </a:r>
          </a:p>
        </p:txBody>
      </p:sp>
      <p:sp>
        <p:nvSpPr>
          <p:cNvPr id="9" name="Plan action 3 store"/>
          <p:cNvSpPr txBox="1"/>
          <p:nvPr/>
        </p:nvSpPr>
        <p:spPr>
          <a:xfrm>
            <a:off x="777240" y="1947672"/>
            <a:ext cx="5001768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Pet supplies branch 2, Rustaveli Avenue 15</a:t>
            </a:r>
          </a:p>
        </p:txBody>
      </p:sp>
      <p:sp>
        <p:nvSpPr>
          <p:cNvPr id="10" name="Plan action 3 primary label"/>
          <p:cNvSpPr txBox="1"/>
          <p:nvPr/>
        </p:nvSpPr>
        <p:spPr>
          <a:xfrm>
            <a:off x="777240" y="2651760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11" name="Plan action 3 primary"/>
          <p:cNvSpPr txBox="1"/>
          <p:nvPr/>
        </p:nvSpPr>
        <p:spPr>
          <a:xfrm>
            <a:off x="2423160" y="2624328"/>
            <a:ext cx="3355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12" name="Plan action 3 recommendation label"/>
          <p:cNvSpPr txBox="1"/>
          <p:nvPr/>
        </p:nvSpPr>
        <p:spPr>
          <a:xfrm>
            <a:off x="777240" y="2990088"/>
            <a:ext cx="5001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Recommended Action (System)</a:t>
            </a:r>
          </a:p>
        </p:txBody>
      </p:sp>
      <p:sp>
        <p:nvSpPr>
          <p:cNvPr id="13" name="Plan action 3 recommendation"/>
          <p:cNvSpPr txBox="1"/>
          <p:nvPr/>
        </p:nvSpPr>
        <p:spPr>
          <a:xfrm>
            <a:off x="777240" y="3282696"/>
            <a:ext cx="5001768" cy="950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0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251960"/>
            <a:ext cx="5093208" cy="603504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lan action 3 agreed icon" descr="icon_agreed_a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4297680"/>
            <a:ext cx="237744" cy="237744"/>
          </a:xfrm>
          <a:prstGeom prst="rect">
            <a:avLst/>
          </a:prstGeom>
        </p:spPr>
      </p:pic>
      <p:sp>
        <p:nvSpPr>
          <p:cNvPr id="16" name="Plan action 3 agreed label"/>
          <p:cNvSpPr txBox="1"/>
          <p:nvPr/>
        </p:nvSpPr>
        <p:spPr>
          <a:xfrm>
            <a:off x="1115568" y="4325112"/>
            <a:ext cx="459028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Agreed Action (Meeting)</a:t>
            </a:r>
          </a:p>
        </p:txBody>
      </p:sp>
      <p:sp>
        <p:nvSpPr>
          <p:cNvPr id="17" name="Plan action 3 agreed"/>
          <p:cNvSpPr txBox="1"/>
          <p:nvPr/>
        </p:nvSpPr>
        <p:spPr>
          <a:xfrm>
            <a:off x="850392" y="4590288"/>
            <a:ext cx="485546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18" name="Plan action 3 Owner label"/>
          <p:cNvSpPr txBox="1"/>
          <p:nvPr/>
        </p:nvSpPr>
        <p:spPr>
          <a:xfrm>
            <a:off x="777240" y="5065776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Owner</a:t>
            </a:r>
          </a:p>
        </p:txBody>
      </p:sp>
      <p:sp>
        <p:nvSpPr>
          <p:cNvPr id="19" name="Plan action 3 Owner"/>
          <p:cNvSpPr txBox="1"/>
          <p:nvPr/>
        </p:nvSpPr>
        <p:spPr>
          <a:xfrm>
            <a:off x="1472184" y="5065776"/>
            <a:ext cx="16962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20" name="Plan action 3 Contact label"/>
          <p:cNvSpPr txBox="1"/>
          <p:nvPr/>
        </p:nvSpPr>
        <p:spPr>
          <a:xfrm>
            <a:off x="3461004" y="5065776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Contact</a:t>
            </a:r>
          </a:p>
        </p:txBody>
      </p:sp>
      <p:sp>
        <p:nvSpPr>
          <p:cNvPr id="21" name="Plan action 3 Contact"/>
          <p:cNvSpPr txBox="1"/>
          <p:nvPr/>
        </p:nvSpPr>
        <p:spPr>
          <a:xfrm>
            <a:off x="4155948" y="5065776"/>
            <a:ext cx="16962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22" name="Plan action 3 ETA label"/>
          <p:cNvSpPr txBox="1"/>
          <p:nvPr/>
        </p:nvSpPr>
        <p:spPr>
          <a:xfrm>
            <a:off x="777240" y="5468112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ETA</a:t>
            </a:r>
          </a:p>
        </p:txBody>
      </p:sp>
      <p:sp>
        <p:nvSpPr>
          <p:cNvPr id="23" name="Plan action 3 ETA"/>
          <p:cNvSpPr txBox="1"/>
          <p:nvPr/>
        </p:nvSpPr>
        <p:spPr>
          <a:xfrm>
            <a:off x="1472184" y="5468112"/>
            <a:ext cx="16962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24" name="Plan action 3 Follow-up KPI label"/>
          <p:cNvSpPr txBox="1"/>
          <p:nvPr/>
        </p:nvSpPr>
        <p:spPr>
          <a:xfrm>
            <a:off x="3461004" y="5468112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Follow-up KPI</a:t>
            </a:r>
          </a:p>
        </p:txBody>
      </p:sp>
      <p:sp>
        <p:nvSpPr>
          <p:cNvPr id="25" name="Plan action 3 Follow-up KPI"/>
          <p:cNvSpPr txBox="1"/>
          <p:nvPr/>
        </p:nvSpPr>
        <p:spPr>
          <a:xfrm>
            <a:off x="4677156" y="5468112"/>
            <a:ext cx="11750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1463040"/>
            <a:ext cx="5367528" cy="4443984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lan action 4 priority icon" descr="icon_priority_a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2512" y="1591056"/>
            <a:ext cx="256032" cy="256032"/>
          </a:xfrm>
          <a:prstGeom prst="rect">
            <a:avLst/>
          </a:prstGeom>
        </p:spPr>
      </p:pic>
      <p:sp>
        <p:nvSpPr>
          <p:cNvPr id="28" name="Plan action 4 rank"/>
          <p:cNvSpPr txBox="1"/>
          <p:nvPr/>
        </p:nvSpPr>
        <p:spPr>
          <a:xfrm>
            <a:off x="6720840" y="1618488"/>
            <a:ext cx="276148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PRIORITY ACTION 4</a:t>
            </a:r>
          </a:p>
        </p:txBody>
      </p:sp>
      <p:sp>
        <p:nvSpPr>
          <p:cNvPr id="29" name="Plan action 4 priority"/>
          <p:cNvSpPr txBox="1"/>
          <p:nvPr/>
        </p:nvSpPr>
        <p:spPr>
          <a:xfrm>
            <a:off x="9921240" y="1591056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Priority 85.30</a:t>
            </a:r>
          </a:p>
        </p:txBody>
      </p:sp>
      <p:sp>
        <p:nvSpPr>
          <p:cNvPr id="30" name="Plan action 4 store"/>
          <p:cNvSpPr txBox="1"/>
          <p:nvPr/>
        </p:nvSpPr>
        <p:spPr>
          <a:xfrm>
            <a:off x="6400800" y="1947672"/>
            <a:ext cx="5001768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Pet supplies branch 3, Rustaveli Avenue 15</a:t>
            </a:r>
          </a:p>
        </p:txBody>
      </p:sp>
      <p:sp>
        <p:nvSpPr>
          <p:cNvPr id="31" name="Plan action 4 primary label"/>
          <p:cNvSpPr txBox="1"/>
          <p:nvPr/>
        </p:nvSpPr>
        <p:spPr>
          <a:xfrm>
            <a:off x="6400800" y="2651760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32" name="Plan action 4 primary"/>
          <p:cNvSpPr txBox="1"/>
          <p:nvPr/>
        </p:nvSpPr>
        <p:spPr>
          <a:xfrm>
            <a:off x="8046720" y="2624328"/>
            <a:ext cx="3355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33" name="Plan action 4 recommendation label"/>
          <p:cNvSpPr txBox="1"/>
          <p:nvPr/>
        </p:nvSpPr>
        <p:spPr>
          <a:xfrm>
            <a:off x="6400800" y="2990088"/>
            <a:ext cx="5001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Recommended Action (System)</a:t>
            </a:r>
          </a:p>
        </p:txBody>
      </p:sp>
      <p:sp>
        <p:nvSpPr>
          <p:cNvPr id="34" name="Plan action 4 recommendation"/>
          <p:cNvSpPr txBox="1"/>
          <p:nvPr/>
        </p:nvSpPr>
        <p:spPr>
          <a:xfrm>
            <a:off x="6400800" y="3282696"/>
            <a:ext cx="5001768" cy="950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0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55080" y="4251960"/>
            <a:ext cx="5093208" cy="603504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lan action 4 agreed icon" descr="icon_agreed_a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8232" y="4297680"/>
            <a:ext cx="237744" cy="237744"/>
          </a:xfrm>
          <a:prstGeom prst="rect">
            <a:avLst/>
          </a:prstGeom>
        </p:spPr>
      </p:pic>
      <p:sp>
        <p:nvSpPr>
          <p:cNvPr id="37" name="Plan action 4 agreed label"/>
          <p:cNvSpPr txBox="1"/>
          <p:nvPr/>
        </p:nvSpPr>
        <p:spPr>
          <a:xfrm>
            <a:off x="6739128" y="4325112"/>
            <a:ext cx="459028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Agreed Action (Meeting)</a:t>
            </a:r>
          </a:p>
        </p:txBody>
      </p:sp>
      <p:sp>
        <p:nvSpPr>
          <p:cNvPr id="38" name="Plan action 4 agreed"/>
          <p:cNvSpPr txBox="1"/>
          <p:nvPr/>
        </p:nvSpPr>
        <p:spPr>
          <a:xfrm>
            <a:off x="6473952" y="4590288"/>
            <a:ext cx="485546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9" name="Plan action 4 Owner label"/>
          <p:cNvSpPr txBox="1"/>
          <p:nvPr/>
        </p:nvSpPr>
        <p:spPr>
          <a:xfrm>
            <a:off x="6400800" y="5065776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Owner</a:t>
            </a:r>
          </a:p>
        </p:txBody>
      </p:sp>
      <p:sp>
        <p:nvSpPr>
          <p:cNvPr id="40" name="Plan action 4 Owner"/>
          <p:cNvSpPr txBox="1"/>
          <p:nvPr/>
        </p:nvSpPr>
        <p:spPr>
          <a:xfrm>
            <a:off x="7095744" y="5065776"/>
            <a:ext cx="16962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41" name="Plan action 4 Contact label"/>
          <p:cNvSpPr txBox="1"/>
          <p:nvPr/>
        </p:nvSpPr>
        <p:spPr>
          <a:xfrm>
            <a:off x="9084564" y="5065776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Contact</a:t>
            </a:r>
          </a:p>
        </p:txBody>
      </p:sp>
      <p:sp>
        <p:nvSpPr>
          <p:cNvPr id="42" name="Plan action 4 Contact"/>
          <p:cNvSpPr txBox="1"/>
          <p:nvPr/>
        </p:nvSpPr>
        <p:spPr>
          <a:xfrm>
            <a:off x="9779508" y="5065776"/>
            <a:ext cx="16962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43" name="Plan action 4 ETA label"/>
          <p:cNvSpPr txBox="1"/>
          <p:nvPr/>
        </p:nvSpPr>
        <p:spPr>
          <a:xfrm>
            <a:off x="6400800" y="5468112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ETA</a:t>
            </a:r>
          </a:p>
        </p:txBody>
      </p:sp>
      <p:sp>
        <p:nvSpPr>
          <p:cNvPr id="44" name="Plan action 4 ETA"/>
          <p:cNvSpPr txBox="1"/>
          <p:nvPr/>
        </p:nvSpPr>
        <p:spPr>
          <a:xfrm>
            <a:off x="7095744" y="5468112"/>
            <a:ext cx="16962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45" name="Plan action 4 Follow-up KPI label"/>
          <p:cNvSpPr txBox="1"/>
          <p:nvPr/>
        </p:nvSpPr>
        <p:spPr>
          <a:xfrm>
            <a:off x="9084564" y="5468112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Follow-up KPI</a:t>
            </a:r>
          </a:p>
        </p:txBody>
      </p:sp>
      <p:sp>
        <p:nvSpPr>
          <p:cNvPr id="46" name="Plan action 4 Follow-up KPI"/>
          <p:cNvSpPr txBox="1"/>
          <p:nvPr/>
        </p:nvSpPr>
        <p:spPr>
          <a:xfrm>
            <a:off x="10300716" y="5468112"/>
            <a:ext cx="11750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94360" y="6144768"/>
            <a:ext cx="10991088" cy="393192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Next check-in icon" descr="icon_next_check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" y="6217920"/>
            <a:ext cx="256032" cy="256032"/>
          </a:xfrm>
          <a:prstGeom prst="rect">
            <a:avLst/>
          </a:prstGeom>
        </p:spPr>
      </p:pic>
      <p:sp>
        <p:nvSpPr>
          <p:cNvPr id="49" name="Next check-in label"/>
          <p:cNvSpPr txBox="1"/>
          <p:nvPr/>
        </p:nvSpPr>
        <p:spPr>
          <a:xfrm>
            <a:off x="1097280" y="6245352"/>
            <a:ext cx="11247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Next check-in:</a:t>
            </a:r>
          </a:p>
        </p:txBody>
      </p:sp>
      <p:sp>
        <p:nvSpPr>
          <p:cNvPr id="50" name="Next check-in"/>
          <p:cNvSpPr txBox="1"/>
          <p:nvPr/>
        </p:nvSpPr>
        <p:spPr>
          <a:xfrm>
            <a:off x="2267712" y="6236208"/>
            <a:ext cx="8961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Action Plan · 3/3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Agree actions, owners and dates during the business review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63040"/>
            <a:ext cx="5367528" cy="4443984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lan action 5 priority icon" descr="icon_priority_a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1591056"/>
            <a:ext cx="256032" cy="256032"/>
          </a:xfrm>
          <a:prstGeom prst="rect">
            <a:avLst/>
          </a:prstGeom>
        </p:spPr>
      </p:pic>
      <p:sp>
        <p:nvSpPr>
          <p:cNvPr id="7" name="Plan action 5 rank"/>
          <p:cNvSpPr txBox="1"/>
          <p:nvPr/>
        </p:nvSpPr>
        <p:spPr>
          <a:xfrm>
            <a:off x="1097280" y="1618488"/>
            <a:ext cx="276148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PRIORITY ACTION 5</a:t>
            </a:r>
          </a:p>
        </p:txBody>
      </p:sp>
      <p:sp>
        <p:nvSpPr>
          <p:cNvPr id="8" name="Plan action 5 priority"/>
          <p:cNvSpPr txBox="1"/>
          <p:nvPr/>
        </p:nvSpPr>
        <p:spPr>
          <a:xfrm>
            <a:off x="4297680" y="1591056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Priority 85.30</a:t>
            </a:r>
          </a:p>
        </p:txBody>
      </p:sp>
      <p:sp>
        <p:nvSpPr>
          <p:cNvPr id="9" name="Plan action 5 store"/>
          <p:cNvSpPr txBox="1"/>
          <p:nvPr/>
        </p:nvSpPr>
        <p:spPr>
          <a:xfrm>
            <a:off x="777240" y="1947672"/>
            <a:ext cx="5001768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Pet supplies branch 4, Rustaveli Avenue 15</a:t>
            </a:r>
          </a:p>
        </p:txBody>
      </p:sp>
      <p:sp>
        <p:nvSpPr>
          <p:cNvPr id="10" name="Plan action 5 primary label"/>
          <p:cNvSpPr txBox="1"/>
          <p:nvPr/>
        </p:nvSpPr>
        <p:spPr>
          <a:xfrm>
            <a:off x="777240" y="2651760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11" name="Plan action 5 primary"/>
          <p:cNvSpPr txBox="1"/>
          <p:nvPr/>
        </p:nvSpPr>
        <p:spPr>
          <a:xfrm>
            <a:off x="2423160" y="2624328"/>
            <a:ext cx="3355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12" name="Plan action 5 recommendation label"/>
          <p:cNvSpPr txBox="1"/>
          <p:nvPr/>
        </p:nvSpPr>
        <p:spPr>
          <a:xfrm>
            <a:off x="777240" y="2990088"/>
            <a:ext cx="5001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Recommended Action (System)</a:t>
            </a:r>
          </a:p>
        </p:txBody>
      </p:sp>
      <p:sp>
        <p:nvSpPr>
          <p:cNvPr id="13" name="Plan action 5 recommendation"/>
          <p:cNvSpPr txBox="1"/>
          <p:nvPr/>
        </p:nvSpPr>
        <p:spPr>
          <a:xfrm>
            <a:off x="777240" y="3282696"/>
            <a:ext cx="5001768" cy="950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0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251960"/>
            <a:ext cx="5093208" cy="603504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lan action 5 agreed icon" descr="icon_agreed_a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4297680"/>
            <a:ext cx="237744" cy="237744"/>
          </a:xfrm>
          <a:prstGeom prst="rect">
            <a:avLst/>
          </a:prstGeom>
        </p:spPr>
      </p:pic>
      <p:sp>
        <p:nvSpPr>
          <p:cNvPr id="16" name="Plan action 5 agreed label"/>
          <p:cNvSpPr txBox="1"/>
          <p:nvPr/>
        </p:nvSpPr>
        <p:spPr>
          <a:xfrm>
            <a:off x="1115568" y="4325112"/>
            <a:ext cx="459028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Agreed Action (Meeting)</a:t>
            </a:r>
          </a:p>
        </p:txBody>
      </p:sp>
      <p:sp>
        <p:nvSpPr>
          <p:cNvPr id="17" name="Plan action 5 agreed"/>
          <p:cNvSpPr txBox="1"/>
          <p:nvPr/>
        </p:nvSpPr>
        <p:spPr>
          <a:xfrm>
            <a:off x="850392" y="4590288"/>
            <a:ext cx="485546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18" name="Plan action 5 Owner label"/>
          <p:cNvSpPr txBox="1"/>
          <p:nvPr/>
        </p:nvSpPr>
        <p:spPr>
          <a:xfrm>
            <a:off x="777240" y="5065776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Owner</a:t>
            </a:r>
          </a:p>
        </p:txBody>
      </p:sp>
      <p:sp>
        <p:nvSpPr>
          <p:cNvPr id="19" name="Plan action 5 Owner"/>
          <p:cNvSpPr txBox="1"/>
          <p:nvPr/>
        </p:nvSpPr>
        <p:spPr>
          <a:xfrm>
            <a:off x="1472184" y="5065776"/>
            <a:ext cx="16962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20" name="Plan action 5 Contact label"/>
          <p:cNvSpPr txBox="1"/>
          <p:nvPr/>
        </p:nvSpPr>
        <p:spPr>
          <a:xfrm>
            <a:off x="3461004" y="5065776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Contact</a:t>
            </a:r>
          </a:p>
        </p:txBody>
      </p:sp>
      <p:sp>
        <p:nvSpPr>
          <p:cNvPr id="21" name="Plan action 5 Contact"/>
          <p:cNvSpPr txBox="1"/>
          <p:nvPr/>
        </p:nvSpPr>
        <p:spPr>
          <a:xfrm>
            <a:off x="4155948" y="5065776"/>
            <a:ext cx="16962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22" name="Plan action 5 ETA label"/>
          <p:cNvSpPr txBox="1"/>
          <p:nvPr/>
        </p:nvSpPr>
        <p:spPr>
          <a:xfrm>
            <a:off x="777240" y="5468112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ETA</a:t>
            </a:r>
          </a:p>
        </p:txBody>
      </p:sp>
      <p:sp>
        <p:nvSpPr>
          <p:cNvPr id="23" name="Plan action 5 ETA"/>
          <p:cNvSpPr txBox="1"/>
          <p:nvPr/>
        </p:nvSpPr>
        <p:spPr>
          <a:xfrm>
            <a:off x="1472184" y="5468112"/>
            <a:ext cx="16962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24" name="Plan action 5 Follow-up KPI label"/>
          <p:cNvSpPr txBox="1"/>
          <p:nvPr/>
        </p:nvSpPr>
        <p:spPr>
          <a:xfrm>
            <a:off x="3461004" y="5468112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Follow-up KPI</a:t>
            </a:r>
          </a:p>
        </p:txBody>
      </p:sp>
      <p:sp>
        <p:nvSpPr>
          <p:cNvPr id="25" name="Plan action 5 Follow-up KPI"/>
          <p:cNvSpPr txBox="1"/>
          <p:nvPr/>
        </p:nvSpPr>
        <p:spPr>
          <a:xfrm>
            <a:off x="4677156" y="5468112"/>
            <a:ext cx="11750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1463040"/>
            <a:ext cx="5367528" cy="4443984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lan action 6 priority icon" descr="icon_priority_a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2512" y="1591056"/>
            <a:ext cx="256032" cy="256032"/>
          </a:xfrm>
          <a:prstGeom prst="rect">
            <a:avLst/>
          </a:prstGeom>
        </p:spPr>
      </p:pic>
      <p:sp>
        <p:nvSpPr>
          <p:cNvPr id="28" name="Plan action 6 rank"/>
          <p:cNvSpPr txBox="1"/>
          <p:nvPr/>
        </p:nvSpPr>
        <p:spPr>
          <a:xfrm>
            <a:off x="6720840" y="1618488"/>
            <a:ext cx="276148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PRIORITY ACTION 6</a:t>
            </a:r>
          </a:p>
        </p:txBody>
      </p:sp>
      <p:sp>
        <p:nvSpPr>
          <p:cNvPr id="29" name="Plan action 6 priority"/>
          <p:cNvSpPr txBox="1"/>
          <p:nvPr/>
        </p:nvSpPr>
        <p:spPr>
          <a:xfrm>
            <a:off x="9921240" y="1591056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Priority 85.30</a:t>
            </a:r>
          </a:p>
        </p:txBody>
      </p:sp>
      <p:sp>
        <p:nvSpPr>
          <p:cNvPr id="30" name="Plan action 6 store"/>
          <p:cNvSpPr txBox="1"/>
          <p:nvPr/>
        </p:nvSpPr>
        <p:spPr>
          <a:xfrm>
            <a:off x="6400800" y="1947672"/>
            <a:ext cx="5001768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Pet supplies branch 5, Rustaveli Avenue 15</a:t>
            </a:r>
          </a:p>
        </p:txBody>
      </p:sp>
      <p:sp>
        <p:nvSpPr>
          <p:cNvPr id="31" name="Plan action 6 primary label"/>
          <p:cNvSpPr txBox="1"/>
          <p:nvPr/>
        </p:nvSpPr>
        <p:spPr>
          <a:xfrm>
            <a:off x="6400800" y="2651760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32" name="Plan action 6 primary"/>
          <p:cNvSpPr txBox="1"/>
          <p:nvPr/>
        </p:nvSpPr>
        <p:spPr>
          <a:xfrm>
            <a:off x="8046720" y="2624328"/>
            <a:ext cx="3355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33" name="Plan action 6 recommendation label"/>
          <p:cNvSpPr txBox="1"/>
          <p:nvPr/>
        </p:nvSpPr>
        <p:spPr>
          <a:xfrm>
            <a:off x="6400800" y="2990088"/>
            <a:ext cx="5001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Recommended Action (System)</a:t>
            </a:r>
          </a:p>
        </p:txBody>
      </p:sp>
      <p:sp>
        <p:nvSpPr>
          <p:cNvPr id="34" name="Plan action 6 recommendation"/>
          <p:cNvSpPr txBox="1"/>
          <p:nvPr/>
        </p:nvSpPr>
        <p:spPr>
          <a:xfrm>
            <a:off x="6400800" y="3282696"/>
            <a:ext cx="5001768" cy="950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0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55080" y="4251960"/>
            <a:ext cx="5093208" cy="603504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lan action 6 agreed icon" descr="icon_agreed_a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8232" y="4297680"/>
            <a:ext cx="237744" cy="237744"/>
          </a:xfrm>
          <a:prstGeom prst="rect">
            <a:avLst/>
          </a:prstGeom>
        </p:spPr>
      </p:pic>
      <p:sp>
        <p:nvSpPr>
          <p:cNvPr id="37" name="Plan action 6 agreed label"/>
          <p:cNvSpPr txBox="1"/>
          <p:nvPr/>
        </p:nvSpPr>
        <p:spPr>
          <a:xfrm>
            <a:off x="6739128" y="4325112"/>
            <a:ext cx="459028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Agreed Action (Meeting)</a:t>
            </a:r>
          </a:p>
        </p:txBody>
      </p:sp>
      <p:sp>
        <p:nvSpPr>
          <p:cNvPr id="38" name="Plan action 6 agreed"/>
          <p:cNvSpPr txBox="1"/>
          <p:nvPr/>
        </p:nvSpPr>
        <p:spPr>
          <a:xfrm>
            <a:off x="6473952" y="4590288"/>
            <a:ext cx="485546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9" name="Plan action 6 Owner label"/>
          <p:cNvSpPr txBox="1"/>
          <p:nvPr/>
        </p:nvSpPr>
        <p:spPr>
          <a:xfrm>
            <a:off x="6400800" y="5065776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Owner</a:t>
            </a:r>
          </a:p>
        </p:txBody>
      </p:sp>
      <p:sp>
        <p:nvSpPr>
          <p:cNvPr id="40" name="Plan action 6 Owner"/>
          <p:cNvSpPr txBox="1"/>
          <p:nvPr/>
        </p:nvSpPr>
        <p:spPr>
          <a:xfrm>
            <a:off x="7095744" y="5065776"/>
            <a:ext cx="16962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41" name="Plan action 6 Contact label"/>
          <p:cNvSpPr txBox="1"/>
          <p:nvPr/>
        </p:nvSpPr>
        <p:spPr>
          <a:xfrm>
            <a:off x="9084564" y="5065776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Contact</a:t>
            </a:r>
          </a:p>
        </p:txBody>
      </p:sp>
      <p:sp>
        <p:nvSpPr>
          <p:cNvPr id="42" name="Plan action 6 Contact"/>
          <p:cNvSpPr txBox="1"/>
          <p:nvPr/>
        </p:nvSpPr>
        <p:spPr>
          <a:xfrm>
            <a:off x="9779508" y="5065776"/>
            <a:ext cx="16962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43" name="Plan action 6 ETA label"/>
          <p:cNvSpPr txBox="1"/>
          <p:nvPr/>
        </p:nvSpPr>
        <p:spPr>
          <a:xfrm>
            <a:off x="6400800" y="5468112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ETA</a:t>
            </a:r>
          </a:p>
        </p:txBody>
      </p:sp>
      <p:sp>
        <p:nvSpPr>
          <p:cNvPr id="44" name="Plan action 6 ETA"/>
          <p:cNvSpPr txBox="1"/>
          <p:nvPr/>
        </p:nvSpPr>
        <p:spPr>
          <a:xfrm>
            <a:off x="7095744" y="5468112"/>
            <a:ext cx="16962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45" name="Plan action 6 Follow-up KPI label"/>
          <p:cNvSpPr txBox="1"/>
          <p:nvPr/>
        </p:nvSpPr>
        <p:spPr>
          <a:xfrm>
            <a:off x="9084564" y="5468112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Follow-up KPI</a:t>
            </a:r>
          </a:p>
        </p:txBody>
      </p:sp>
      <p:sp>
        <p:nvSpPr>
          <p:cNvPr id="46" name="Plan action 6 Follow-up KPI"/>
          <p:cNvSpPr txBox="1"/>
          <p:nvPr/>
        </p:nvSpPr>
        <p:spPr>
          <a:xfrm>
            <a:off x="10300716" y="5468112"/>
            <a:ext cx="11750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94360" y="6144768"/>
            <a:ext cx="10991088" cy="393192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Next check-in icon" descr="icon_next_check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" y="6217920"/>
            <a:ext cx="256032" cy="256032"/>
          </a:xfrm>
          <a:prstGeom prst="rect">
            <a:avLst/>
          </a:prstGeom>
        </p:spPr>
      </p:pic>
      <p:sp>
        <p:nvSpPr>
          <p:cNvPr id="49" name="Next check-in label"/>
          <p:cNvSpPr txBox="1"/>
          <p:nvPr/>
        </p:nvSpPr>
        <p:spPr>
          <a:xfrm>
            <a:off x="1097280" y="6245352"/>
            <a:ext cx="11247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Next check-in:</a:t>
            </a:r>
          </a:p>
        </p:txBody>
      </p:sp>
      <p:sp>
        <p:nvSpPr>
          <p:cNvPr id="50" name="Next check-in"/>
          <p:cNvSpPr txBox="1"/>
          <p:nvPr/>
        </p:nvSpPr>
        <p:spPr>
          <a:xfrm>
            <a:off x="2267712" y="6236208"/>
            <a:ext cx="8961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Action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Additional agreed actions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63040"/>
            <a:ext cx="5367528" cy="4443984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dditional action 1"/>
          <p:cNvSpPr txBox="1"/>
          <p:nvPr/>
        </p:nvSpPr>
        <p:spPr>
          <a:xfrm>
            <a:off x="777240" y="1627632"/>
            <a:ext cx="50017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ACTION 1</a:t>
            </a:r>
          </a:p>
        </p:txBody>
      </p:sp>
      <p:sp>
        <p:nvSpPr>
          <p:cNvPr id="7" name="Additional action 1Action / Topic label"/>
          <p:cNvSpPr txBox="1"/>
          <p:nvPr/>
        </p:nvSpPr>
        <p:spPr>
          <a:xfrm>
            <a:off x="777240" y="2103120"/>
            <a:ext cx="50017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Action / Topic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423160"/>
            <a:ext cx="5093208" cy="640080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Additional action 1Action / Topic"/>
          <p:cNvSpPr txBox="1"/>
          <p:nvPr/>
        </p:nvSpPr>
        <p:spPr>
          <a:xfrm>
            <a:off x="850392" y="2542032"/>
            <a:ext cx="485546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pic>
        <p:nvPicPr>
          <p:cNvPr id="10" name="Additional action 1 agreed icon" descr="icon_agreed_a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127248"/>
            <a:ext cx="246888" cy="246888"/>
          </a:xfrm>
          <a:prstGeom prst="rect">
            <a:avLst/>
          </a:prstGeom>
        </p:spPr>
      </p:pic>
      <p:sp>
        <p:nvSpPr>
          <p:cNvPr id="11" name="Additional action 1Agreed Action label"/>
          <p:cNvSpPr txBox="1"/>
          <p:nvPr/>
        </p:nvSpPr>
        <p:spPr>
          <a:xfrm>
            <a:off x="1088136" y="3154680"/>
            <a:ext cx="46908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Agreed Action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474720"/>
            <a:ext cx="5093208" cy="914400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Additional action 1Agreed Action"/>
          <p:cNvSpPr txBox="1"/>
          <p:nvPr/>
        </p:nvSpPr>
        <p:spPr>
          <a:xfrm>
            <a:off x="850392" y="3593592"/>
            <a:ext cx="485546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14" name="Additional action 1Owner label"/>
          <p:cNvSpPr txBox="1"/>
          <p:nvPr/>
        </p:nvSpPr>
        <p:spPr>
          <a:xfrm>
            <a:off x="777240" y="4782312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Owner</a:t>
            </a:r>
          </a:p>
        </p:txBody>
      </p:sp>
      <p:sp>
        <p:nvSpPr>
          <p:cNvPr id="15" name="Additional action 1Owner"/>
          <p:cNvSpPr txBox="1"/>
          <p:nvPr/>
        </p:nvSpPr>
        <p:spPr>
          <a:xfrm>
            <a:off x="777240" y="5001768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16" name="Additional action 1Contact label"/>
          <p:cNvSpPr txBox="1"/>
          <p:nvPr/>
        </p:nvSpPr>
        <p:spPr>
          <a:xfrm>
            <a:off x="3461004" y="4782312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Contact</a:t>
            </a:r>
          </a:p>
        </p:txBody>
      </p:sp>
      <p:sp>
        <p:nvSpPr>
          <p:cNvPr id="17" name="Additional action 1Contact"/>
          <p:cNvSpPr txBox="1"/>
          <p:nvPr/>
        </p:nvSpPr>
        <p:spPr>
          <a:xfrm>
            <a:off x="3461004" y="5001768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18" name="Additional action 1ETA label"/>
          <p:cNvSpPr txBox="1"/>
          <p:nvPr/>
        </p:nvSpPr>
        <p:spPr>
          <a:xfrm>
            <a:off x="777240" y="530352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ETA</a:t>
            </a:r>
          </a:p>
        </p:txBody>
      </p:sp>
      <p:sp>
        <p:nvSpPr>
          <p:cNvPr id="19" name="Additional action 1ETA"/>
          <p:cNvSpPr txBox="1"/>
          <p:nvPr/>
        </p:nvSpPr>
        <p:spPr>
          <a:xfrm>
            <a:off x="777240" y="5522976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20" name="Additional action 1Follow-up KPI label"/>
          <p:cNvSpPr txBox="1"/>
          <p:nvPr/>
        </p:nvSpPr>
        <p:spPr>
          <a:xfrm>
            <a:off x="3461004" y="530352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Follow-up KPI</a:t>
            </a:r>
          </a:p>
        </p:txBody>
      </p:sp>
      <p:sp>
        <p:nvSpPr>
          <p:cNvPr id="21" name="Additional action 1Follow-up KPI"/>
          <p:cNvSpPr txBox="1"/>
          <p:nvPr/>
        </p:nvSpPr>
        <p:spPr>
          <a:xfrm>
            <a:off x="3461004" y="5522976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1463040"/>
            <a:ext cx="5367528" cy="4443984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Additional action 2"/>
          <p:cNvSpPr txBox="1"/>
          <p:nvPr/>
        </p:nvSpPr>
        <p:spPr>
          <a:xfrm>
            <a:off x="6400800" y="1627632"/>
            <a:ext cx="50017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ACTION 2</a:t>
            </a:r>
          </a:p>
        </p:txBody>
      </p:sp>
      <p:sp>
        <p:nvSpPr>
          <p:cNvPr id="24" name="Additional action 2Action / Topic label"/>
          <p:cNvSpPr txBox="1"/>
          <p:nvPr/>
        </p:nvSpPr>
        <p:spPr>
          <a:xfrm>
            <a:off x="6400800" y="2103120"/>
            <a:ext cx="50017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Action / Topic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55080" y="2423160"/>
            <a:ext cx="5093208" cy="640080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Additional action 2Action / Topic"/>
          <p:cNvSpPr txBox="1"/>
          <p:nvPr/>
        </p:nvSpPr>
        <p:spPr>
          <a:xfrm>
            <a:off x="6473952" y="2542032"/>
            <a:ext cx="485546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pic>
        <p:nvPicPr>
          <p:cNvPr id="27" name="Additional action 2 agreed icon" descr="icon_agreed_a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3127248"/>
            <a:ext cx="246888" cy="246888"/>
          </a:xfrm>
          <a:prstGeom prst="rect">
            <a:avLst/>
          </a:prstGeom>
        </p:spPr>
      </p:pic>
      <p:sp>
        <p:nvSpPr>
          <p:cNvPr id="28" name="Additional action 2Agreed Action label"/>
          <p:cNvSpPr txBox="1"/>
          <p:nvPr/>
        </p:nvSpPr>
        <p:spPr>
          <a:xfrm>
            <a:off x="6711696" y="3154680"/>
            <a:ext cx="46908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Agreed Action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55080" y="3474720"/>
            <a:ext cx="5093208" cy="914400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Additional action 2Agreed Action"/>
          <p:cNvSpPr txBox="1"/>
          <p:nvPr/>
        </p:nvSpPr>
        <p:spPr>
          <a:xfrm>
            <a:off x="6473952" y="3593592"/>
            <a:ext cx="485546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1" name="Additional action 2Owner label"/>
          <p:cNvSpPr txBox="1"/>
          <p:nvPr/>
        </p:nvSpPr>
        <p:spPr>
          <a:xfrm>
            <a:off x="6400800" y="4782312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Owner</a:t>
            </a:r>
          </a:p>
        </p:txBody>
      </p:sp>
      <p:sp>
        <p:nvSpPr>
          <p:cNvPr id="32" name="Additional action 2Owner"/>
          <p:cNvSpPr txBox="1"/>
          <p:nvPr/>
        </p:nvSpPr>
        <p:spPr>
          <a:xfrm>
            <a:off x="6400800" y="5001768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3" name="Additional action 2Contact label"/>
          <p:cNvSpPr txBox="1"/>
          <p:nvPr/>
        </p:nvSpPr>
        <p:spPr>
          <a:xfrm>
            <a:off x="9084564" y="4782312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Contact</a:t>
            </a:r>
          </a:p>
        </p:txBody>
      </p:sp>
      <p:sp>
        <p:nvSpPr>
          <p:cNvPr id="34" name="Additional action 2Contact"/>
          <p:cNvSpPr txBox="1"/>
          <p:nvPr/>
        </p:nvSpPr>
        <p:spPr>
          <a:xfrm>
            <a:off x="9084564" y="5001768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5" name="Additional action 2ETA label"/>
          <p:cNvSpPr txBox="1"/>
          <p:nvPr/>
        </p:nvSpPr>
        <p:spPr>
          <a:xfrm>
            <a:off x="6400800" y="530352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ETA</a:t>
            </a:r>
          </a:p>
        </p:txBody>
      </p:sp>
      <p:sp>
        <p:nvSpPr>
          <p:cNvPr id="36" name="Additional action 2ETA"/>
          <p:cNvSpPr txBox="1"/>
          <p:nvPr/>
        </p:nvSpPr>
        <p:spPr>
          <a:xfrm>
            <a:off x="6400800" y="5522976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7" name="Additional action 2Follow-up KPI label"/>
          <p:cNvSpPr txBox="1"/>
          <p:nvPr/>
        </p:nvSpPr>
        <p:spPr>
          <a:xfrm>
            <a:off x="9084564" y="530352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Follow-up KPI</a:t>
            </a:r>
          </a:p>
        </p:txBody>
      </p:sp>
      <p:sp>
        <p:nvSpPr>
          <p:cNvPr id="38" name="Additional action 2Follow-up KPI"/>
          <p:cNvSpPr txBox="1"/>
          <p:nvPr/>
        </p:nvSpPr>
        <p:spPr>
          <a:xfrm>
            <a:off x="9084564" y="5522976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94360" y="6144768"/>
            <a:ext cx="10991088" cy="393192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Next check-in icon" descr="icon_next_check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6217920"/>
            <a:ext cx="256032" cy="256032"/>
          </a:xfrm>
          <a:prstGeom prst="rect">
            <a:avLst/>
          </a:prstGeom>
        </p:spPr>
      </p:pic>
      <p:sp>
        <p:nvSpPr>
          <p:cNvPr id="41" name="Next check-in label"/>
          <p:cNvSpPr txBox="1"/>
          <p:nvPr/>
        </p:nvSpPr>
        <p:spPr>
          <a:xfrm>
            <a:off x="1097280" y="6245352"/>
            <a:ext cx="11247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Next check-in:</a:t>
            </a:r>
          </a:p>
        </p:txBody>
      </p:sp>
      <p:sp>
        <p:nvSpPr>
          <p:cNvPr id="42" name="Next check-in"/>
          <p:cNvSpPr txBox="1"/>
          <p:nvPr/>
        </p:nvSpPr>
        <p:spPr>
          <a:xfrm>
            <a:off x="2267712" y="6236208"/>
            <a:ext cx="8961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პეტფუდი — საერთაშორისო პარტნიორი და შინაური ცხოველების მომსახურების ცენტრი Business Review</dc:title>
  <dc:subject>პეტფუდი — საერთაშორისო პარტნიორი და შინაური ცხოველების მომსახურების ცენტრი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cp:version>V9_Beta2</cp:version>
</cp:coreProperties>
</file>
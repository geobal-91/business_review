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82" r:id="rId22"/>
    <p:sldId id="260" r:id="rId11"/>
    <p:sldId id="283" r:id="rId21"/>
    <p:sldId id="261" r:id="rId12"/>
    <p:sldId id="284" r:id="rId20"/>
    <p:sldId id="266" r:id="rId17"/>
    <p:sldId id="268" r:id="rId19"/>
    <p:sldId id="279" r:id="rId31"/>
    <p:sldId id="285" r:id="rId18"/>
    <p:sldId id="286" r:id="rId16"/>
    <p:sldId id="273" r:id="rId24"/>
    <p:sldId id="274" r:id="rId25"/>
    <p:sldId id="287" r:id="rId1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6.xml"/><Relationship Id="rId12" Type="http://schemas.openxmlformats.org/officeDocument/2006/relationships/slide" Target="slides/slide8.xml"/><Relationship Id="rId15" Type="http://schemas.openxmlformats.org/officeDocument/2006/relationships/slide" Target="slides/slide24.xml"/><Relationship Id="rId16" Type="http://schemas.openxmlformats.org/officeDocument/2006/relationships/slide" Target="slides/slide23.xml"/><Relationship Id="rId17" Type="http://schemas.openxmlformats.org/officeDocument/2006/relationships/slide" Target="slides/slide10.xml"/><Relationship Id="rId18" Type="http://schemas.openxmlformats.org/officeDocument/2006/relationships/slide" Target="slides/slide22.xml"/><Relationship Id="rId19" Type="http://schemas.openxmlformats.org/officeDocument/2006/relationships/slide" Target="slides/slide11.xml"/><Relationship Id="rId20" Type="http://schemas.openxmlformats.org/officeDocument/2006/relationships/slide" Target="slides/slide9.xml"/><Relationship Id="rId21" Type="http://schemas.openxmlformats.org/officeDocument/2006/relationships/slide" Target="slides/slide7.xml"/><Relationship Id="rId22" Type="http://schemas.openxmlformats.org/officeDocument/2006/relationships/slide" Target="slides/slide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notesMaster" Target="notesMasters/notesMaster1.xml"/><Relationship Id="rId31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€#,##0.00</c:formatCode>
                <c:ptCount val="2"/>
                <c:pt idx="0">
                  <c:v>9.853658536585366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€#,##0.00</c:formatCode>
                <c:ptCount val="2"/>
                <c:pt idx="1">
                  <c:v>40.43541788722749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2.5660432533957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0.2058252427184466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0.039466666666666664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2675728155339806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0.675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0.6195671753333872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8775000000000001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0.07772020725388601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10103626943005181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0.024390243902439025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0.08393782383419689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10911917098445596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-0.14700848400636213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44102545201908636"/>
          <c:min val="-0.17347001112750732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-0.09925293489861264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44102545201908636"/>
          <c:min val="-0.17347001112750732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-0.053017712694266916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44102545201908636"/>
          <c:min val="-0.17347001112750732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GMV (€)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Jun 26</c:v>
                </c:pt>
                <c:pt idx="1">
                  <c:v>Jul 26</c:v>
                </c:pt>
                <c:pt idx="2">
                  <c:v>Aug 26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2020.0</c:v>
                </c:pt>
                <c:pt idx="2">
                  <c:v>2020.0</c:v>
                </c:pt>
              </c:numCache>
            </c:numRef>
          </c:val>
        </c:ser>
        <c:gapWidth val="85"/>
        <c:axId val="-2068027336"/>
        <c:axId val="-2113994440"/>
      </c:barChart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Orders</c:v>
                </c:pt>
              </c:strCache>
            </c:strRef>
          </c:tx>
          <c:spPr>
            <a:ln w="31750">
              <a:solidFill>
                <a:srgbClr val="00A082"/>
              </a:solidFill>
            </a:ln>
          </c:spPr>
          <c:marker>
            <c:symbol val="circle"/>
            <c:size val="5"/>
            <c:spPr>
              <a:solidFill>
                <a:srgbClr val="00A082"/>
              </a:solidFill>
              <a:ln>
                <a:solidFill>
                  <a:srgbClr val="00A082"/>
                </a:solidFill>
              </a:ln>
            </c:spPr>
          </c:marker>
          <c:cat>
            <c:strRef>
              <c:f>Sheet1!$A$2:$A$4</c:f>
              <c:strCache>
                <c:ptCount val="3"/>
                <c:pt idx="0">
                  <c:v>Jun 26</c:v>
                </c:pt>
                <c:pt idx="1">
                  <c:v>Jul 26</c:v>
                </c:pt>
                <c:pt idx="2">
                  <c:v>Aug 26</c:v>
                </c:pt>
              </c:strCache>
            </c:strRef>
          </c:cat>
          <c:val>
            <c:numRef>
              <c:f>Sheet1!$C$2:$C$4</c:f>
              <c:numCache>
                <c:formatCode>#,##0</c:formatCode>
                <c:ptCount val="3"/>
                <c:pt idx="0">
                  <c:v>205.0</c:v>
                </c:pt>
                <c:pt idx="2">
                  <c:v>205.0</c:v>
                </c:pt>
              </c:numCache>
            </c:numRef>
          </c:val>
          <c:smooth val="0"/>
        </c:ser>
        <c:marker val="1"/>
        <c:smooth val="0"/>
        <c:axId val="901001"/>
        <c:axId val="901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  <c:catAx>
        <c:axId val="901001"/>
        <c:scaling>
          <c:orientation val="minMax"/>
        </c:scaling>
        <c:delete val="1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2"/>
        <c:crosses val="max"/>
        <c:auto val="1"/>
        <c:lblAlgn val="ctr"/>
        <c:lblOffset val="100"/>
        <c:noMultiLvlLbl val="0"/>
      </c:catAx>
      <c:valAx>
        <c:axId val="901002"/>
        <c:scaling>
          <c:min val="0.0"/>
        </c:scaling>
        <c:delete val="0"/>
        <c:axPos val="r"/>
        <c:numFmt formatCode="#,##0" sourceLinked="0"/>
        <c:majorTickMark val="none"/>
        <c:minorTickMark val="none"/>
        <c:tickLblPos val="high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901001"/>
        <c:crosses val="autoZero"/>
      </c:valAx>
    </c:plotArea>
    <c:legend>
      <c:legendPos val="t"/>
      <c:overlay val="0"/>
      <c:txPr>
        <a:bodyPr/>
        <a:lstStyle/>
        <a:p>
          <a:pPr>
            <a:defRPr sz="900">
              <a:latin typeface="Montserrat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 Sessions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Jun 26</c:v>
                </c:pt>
                <c:pt idx="1">
                  <c:v>Jul 26</c:v>
                </c:pt>
                <c:pt idx="2">
                  <c:v>Aug 26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1030.0</c:v>
                </c:pt>
                <c:pt idx="2">
                  <c:v>1030.0</c:v>
                </c:pt>
              </c:numCache>
            </c:numRef>
          </c:val>
        </c:ser>
        <c:gapWidth val="85"/>
        <c:axId val="-2068027336"/>
        <c:axId val="-2113994440"/>
      </c:barChart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Partner CVR</c:v>
                </c:pt>
              </c:strCache>
            </c:strRef>
          </c:tx>
          <c:spPr>
            <a:ln w="31750">
              <a:solidFill>
                <a:srgbClr val="00A082"/>
              </a:solidFill>
            </a:ln>
          </c:spPr>
          <c:marker>
            <c:symbol val="circle"/>
            <c:size val="5"/>
            <c:spPr>
              <a:solidFill>
                <a:srgbClr val="00A082"/>
              </a:solidFill>
              <a:ln>
                <a:solidFill>
                  <a:srgbClr val="00A082"/>
                </a:solidFill>
              </a:ln>
            </c:spPr>
          </c:marker>
          <c:cat>
            <c:strRef>
              <c:f>Sheet1!$A$2:$A$4</c:f>
              <c:strCache>
                <c:ptCount val="3"/>
                <c:pt idx="0">
                  <c:v>Jun 26</c:v>
                </c:pt>
                <c:pt idx="1">
                  <c:v>Jul 26</c:v>
                </c:pt>
                <c:pt idx="2">
                  <c:v>Aug 26</c:v>
                </c:pt>
              </c:strCache>
            </c:strRef>
          </c:cat>
          <c:val>
            <c:numRef>
              <c:f>Sheet1!$C$2:$C$4</c:f>
              <c:numCache>
                <c:formatCode>0.0%</c:formatCode>
                <c:ptCount val="3"/>
                <c:pt idx="0">
                  <c:v>0.2058252427184466</c:v>
                </c:pt>
                <c:pt idx="2">
                  <c:v>0.2058252427184466</c:v>
                </c:pt>
              </c:numCache>
            </c:numRef>
          </c:val>
          <c:smooth val="0"/>
        </c:ser>
        <c:marker val="1"/>
        <c:smooth val="0"/>
        <c:axId val="901001"/>
        <c:axId val="901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  <c:catAx>
        <c:axId val="901001"/>
        <c:scaling>
          <c:orientation val="minMax"/>
        </c:scaling>
        <c:delete val="1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2"/>
        <c:crosses val="max"/>
        <c:auto val="1"/>
        <c:lblAlgn val="ctr"/>
        <c:lblOffset val="100"/>
        <c:noMultiLvlLbl val="0"/>
      </c:catAx>
      <c:valAx>
        <c:axId val="901002"/>
        <c:scaling>
          <c:min val="0.0"/>
        </c:scaling>
        <c:delete val="0"/>
        <c:axPos val="r"/>
        <c:numFmt formatCode="0%" sourceLinked="0"/>
        <c:majorTickMark val="none"/>
        <c:minorTickMark val="none"/>
        <c:tickLblPos val="high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901001"/>
        <c:crosses val="autoZero"/>
      </c:valAx>
    </c:plotArea>
    <c:legend>
      <c:legendPos val="t"/>
      <c:overlay val="0"/>
      <c:txPr>
        <a:bodyPr/>
        <a:lstStyle/>
        <a:p>
          <a:pPr>
            <a:defRPr sz="900">
              <a:latin typeface="Montserrat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95% target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0.675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95% target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95% target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0.95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2349999999999999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0.07772020725388601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10103626943005181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0.024390243902439025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0.08393782383419689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10911917098445596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"UNCLASSIFIED", "Action Reason": "", "Supporting Rule Matches": [], "Primary Action KPI": "None", "Likely Operational Driver": "Not assessed; review lifecycle / data evidence", "Operational/Data State": ["DATA_REVIEW"]}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"HEALTHY", "Action Reason": "", "Supporting Rule Matches": [], "Primary Action KPI": "None", "Likely Operational Driver": "No supported primary issue", "Operational/Data State": ["COMPLETE", "HYGIENE_REVIEW"]}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Relationship Id="rId6" Type="http://schemas.openxmlformats.org/officeDocument/2006/relationships/chart" Target="../charts/chart5.xml"/><Relationship Id="rId7" Type="http://schemas.openxmlformats.org/officeDocument/2006/relationships/notesSlide" Target="../notesSlides/notesSlide1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chart" Target="../charts/chart7.xml"/><Relationship Id="rId4" Type="http://schemas.openxmlformats.org/officeDocument/2006/relationships/chart" Target="../charts/chart8.xml"/><Relationship Id="rId5" Type="http://schemas.openxmlformats.org/officeDocument/2006/relationships/notesSlide" Target="../notesSlides/notesSlide1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Relationship Id="rId3" Type="http://schemas.openxmlformats.org/officeDocument/2006/relationships/chart" Target="../charts/chart10.xml"/><Relationship Id="rId4" Type="http://schemas.openxmlformats.org/officeDocument/2006/relationships/notesSlide" Target="../notesSlides/notesSlide1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11.xml"/><Relationship Id="rId4" Type="http://schemas.openxmlformats.org/officeDocument/2006/relationships/chart" Target="../charts/chart12.xml"/><Relationship Id="rId5" Type="http://schemas.openxmlformats.org/officeDocument/2006/relationships/chart" Target="../charts/chart1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1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CC3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307969"/>
            <a:ext cx="2331720" cy="7648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485632" y="256032"/>
            <a:ext cx="22860" cy="84124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rtn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8479" y="274320"/>
            <a:ext cx="2509024" cy="822960"/>
          </a:xfrm>
          <a:prstGeom prst="rect">
            <a:avLst/>
          </a:prstGeom>
        </p:spPr>
      </p:pic>
      <p:sp>
        <p:nvSpPr>
          <p:cNvPr id="5" name="Presentation identity title"/>
          <p:cNvSpPr txBox="1"/>
          <p:nvPr/>
        </p:nvSpPr>
        <p:spPr>
          <a:xfrm>
            <a:off x="731520" y="21488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232323"/>
                </a:solidFill>
                <a:latin typeface="Montserrat"/>
              </a:defRPr>
            </a:pPr>
            <a:r>
              <a:t>PetFood Business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97180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Montserrat"/>
              </a:defRPr>
            </a:pPr>
            <a:r>
              <a:t>August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4290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Sub-Business Unit: FLOWERS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Historical periods have Partial Store Coverage · See coverage details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FLOWERS Business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SBU performance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€34,127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D24646"/>
                </a:solidFill>
                <a:latin typeface="Montserrat"/>
              </a:defRPr>
            </a:pPr>
            <a:r>
              <a:t>▼ 14.7%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Orders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844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D24646"/>
                </a:solidFill>
                <a:latin typeface="Montserrat"/>
              </a:defRPr>
            </a:pPr>
            <a:r>
              <a:t>▼ 9.9% vs prev.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AOV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€40.44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D24646"/>
                </a:solidFill>
                <a:latin typeface="Montserrat"/>
              </a:defRPr>
            </a:pPr>
            <a:r>
              <a:t>▼ 5.3% vs prev. 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7824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19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CVR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19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3.9%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19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D24646"/>
                </a:solidFill>
                <a:latin typeface="Montserrat"/>
              </a:defRPr>
            </a:pPr>
            <a:r>
              <a:t>▼ 0.2 pp vs prev. month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33756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Composition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730752"/>
            <a:ext cx="512064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977639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3977639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D24646"/>
                </a:solidFill>
                <a:latin typeface="Montserrat"/>
              </a:defRPr>
            </a:pPr>
            <a:r>
              <a:t>-14.7%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63240" y="4050791"/>
            <a:ext cx="2016368" cy="146304"/>
          </a:xfrm>
          <a:prstGeom prst="roundRect">
            <a:avLst/>
          </a:prstGeom>
          <a:solidFill>
            <a:srgbClr val="D2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462272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Orders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4462272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D24646"/>
                </a:solidFill>
                <a:latin typeface="Montserrat"/>
              </a:defRPr>
            </a:pPr>
            <a:r>
              <a:t>-9.9%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063240" y="4535424"/>
            <a:ext cx="1361353" cy="146304"/>
          </a:xfrm>
          <a:prstGeom prst="roundRect">
            <a:avLst/>
          </a:prstGeom>
          <a:solidFill>
            <a:srgbClr val="D2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946904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57400" y="4946904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D24646"/>
                </a:solidFill>
                <a:latin typeface="Montserrat"/>
              </a:defRPr>
            </a:pPr>
            <a:r>
              <a:t>-5.3%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63240" y="5020056"/>
            <a:ext cx="727190" cy="146304"/>
          </a:xfrm>
          <a:prstGeom prst="roundRect">
            <a:avLst/>
          </a:prstGeom>
          <a:solidFill>
            <a:srgbClr val="D2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0" y="333756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Key Takeaways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3730752"/>
            <a:ext cx="539496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399592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GMV decreased 14.7% vs previous month.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449884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Both order volume and basket size declined vs previous month.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500176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CVR declined by 0.2 pp to 3.9%.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FLOWERS Performance Trend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Last 12 available months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bu_performanc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789920" cy="4343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Across the displayed period, FLOWERS GMV changed +7.5%, while orders changed +9.3%.</a:t>
            </a:r>
          </a:p>
        </p:txBody>
      </p:sp>
      <p:pic>
        <p:nvPicPr>
          <p:cNvPr id="8" name="Picture 7" descr="sbu_flow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551308"/>
            <a:ext cx="1371600" cy="13662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vs FLOWERS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Comparable period: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225295"/>
            <a:ext cx="10460736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FLOWERS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98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24128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933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9933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€9.85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9933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€40.44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19933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75.6% worse than FLOWERS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6791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6791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20.6%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6791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3.9%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6791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16.6 pp better than FLOWERS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3649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3649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67.5%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33649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62.0%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3649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5.5 pp better than FLOWERS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050791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05079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405079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7.8%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4050791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6E6E6E"/>
                </a:solidFill>
                <a:latin typeface="Montserrat"/>
              </a:defRPr>
            </a:pPr>
            <a:r>
              <a:t>Benchmark unavailable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7365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47365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2.4%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47365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8.4%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47365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6.0 pp better than FLOWERS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Benchmark comparison uses the latest common period available in both datasets: August 2026.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Historical periods have Partial Store Coverage · See coverage details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vs FLOWERS ·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August 2026 · Comparable performance metrics · Each metric uses its own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2763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(€)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423160" y="1426464"/>
          <a:ext cx="5257800" cy="81381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26679" y="152933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€9.85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1936242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€40.44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5400" y="1563624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D24646"/>
                </a:solidFill>
                <a:latin typeface="Montserrat"/>
              </a:defRPr>
            </a:pPr>
            <a:r>
              <a:t>75.6% worse than FLOWERS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8716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CVR (%)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423160" y="2286000"/>
          <a:ext cx="5257800" cy="813816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726679" y="238887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20.6%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795778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3.9%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2423160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16.6 pp better than FLOWERS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346704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Uptime (%)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423160" y="3145536"/>
          <a:ext cx="5257800" cy="813816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726679" y="3248406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67.5%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365531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62.0%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3282696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5.5 pp better than FLOWERS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206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PNA (%)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2423160" y="4005072"/>
          <a:ext cx="5257800" cy="813816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7726679" y="41079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79" y="4514849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7.8%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4142232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Benchmark unavailable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065776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Cancels (%)</a:t>
            </a:r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2423160" y="4864608"/>
          <a:ext cx="5257800" cy="813816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7726679" y="4967478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2.4%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79" y="5374386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8.4%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5001768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6.0 pp better than FLOWERS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989320"/>
            <a:ext cx="10652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Benchmark comparison uses the latest common period available in both datasets: August 2026. FLOWERS uptime is opening-hours hygiene, excluded from business Priority.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Historical periods have Partial Store Coverage · See coverage details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Growth vs FLOWERS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MoM growth comparison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225295"/>
            <a:ext cx="10460736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FLOWERS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98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24128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01168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Growth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201168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-14.7%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78892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Orders Growth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278892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-9.9%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56616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Growth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356616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-5.3%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Historical periods have Partial Store Coverage · See coverage details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08076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6E6E6E"/>
                </a:solidFill>
                <a:latin typeface="Montserrat"/>
              </a:defRPr>
            </a:pPr>
            <a:r>
              <a:t>Partner MoM: Not comparable — incomplete store coverage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Growth vs FLOWERS ·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MoM growth comparison — August 2026 · Shared percentage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476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Growth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514600" y="1554480"/>
          <a:ext cx="5120640" cy="112471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80960" y="1735073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22974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-14.7%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18196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Comparison unavailable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192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Orders Growth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514600" y="2926080"/>
          <a:ext cx="5120640" cy="11247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680960" y="310667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36690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-9.9%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31912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Comparison unavailable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908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Growth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514600" y="4297680"/>
          <a:ext cx="5120640" cy="112471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680960" y="447827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50406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-5.3%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45628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Comparison unavailable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Historical periods have Partial Store Coverage · See coverage details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08076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6E6E6E"/>
                </a:solidFill>
                <a:latin typeface="Montserrat"/>
              </a:defRPr>
            </a:pPr>
            <a:r>
              <a:t>Partner MoM: Not comparable — incomplete store coverage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Share of FLOWERS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Partner GMV as a share of FLOWERS GMV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18288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91056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Share of FLOWERS 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83664"/>
            <a:ext cx="29260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5.9%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15184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pic>
        <p:nvPicPr>
          <p:cNvPr id="10" name="Picture 9" descr="partner_sbu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325880"/>
            <a:ext cx="6949440" cy="4206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Historical periods have Partial Store Coverage · See coverage details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80644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Share comparisons involving incomplete store coverage are not comparable.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Performance &amp; Conversion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Monthly GMV and delivered orders · Partner sessions and conversion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&amp; Orders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682496"/>
          <a:ext cx="5852160" cy="194767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3877056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Partner Sessions × Partner CVR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31520" y="4187952"/>
          <a:ext cx="5852160" cy="194767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Meeting KPI GMV 0"/>
          <p:cNvSpPr/>
          <p:nvPr/>
        </p:nvSpPr>
        <p:spPr>
          <a:xfrm>
            <a:off x="6812280" y="15087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Meeting KPI GMV 1"/>
          <p:cNvSpPr txBox="1"/>
          <p:nvPr/>
        </p:nvSpPr>
        <p:spPr>
          <a:xfrm>
            <a:off x="6995160" y="16367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1" name="Meeting KPI GMV 2"/>
          <p:cNvSpPr txBox="1"/>
          <p:nvPr/>
        </p:nvSpPr>
        <p:spPr>
          <a:xfrm>
            <a:off x="6995160" y="19293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€2,020</a:t>
            </a:r>
          </a:p>
        </p:txBody>
      </p:sp>
      <p:sp>
        <p:nvSpPr>
          <p:cNvPr id="12" name="Meeting KPI GMV 3"/>
          <p:cNvSpPr txBox="1"/>
          <p:nvPr/>
        </p:nvSpPr>
        <p:spPr>
          <a:xfrm>
            <a:off x="6995160" y="2377439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3" name="Meeting KPI Orders 0"/>
          <p:cNvSpPr/>
          <p:nvPr/>
        </p:nvSpPr>
        <p:spPr>
          <a:xfrm>
            <a:off x="9464040" y="15087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Meeting KPI Orders 1"/>
          <p:cNvSpPr txBox="1"/>
          <p:nvPr/>
        </p:nvSpPr>
        <p:spPr>
          <a:xfrm>
            <a:off x="9646919" y="16367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Orders</a:t>
            </a:r>
          </a:p>
        </p:txBody>
      </p:sp>
      <p:sp>
        <p:nvSpPr>
          <p:cNvPr id="15" name="Meeting KPI Orders 2"/>
          <p:cNvSpPr txBox="1"/>
          <p:nvPr/>
        </p:nvSpPr>
        <p:spPr>
          <a:xfrm>
            <a:off x="9646919" y="19293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205</a:t>
            </a:r>
          </a:p>
        </p:txBody>
      </p:sp>
      <p:sp>
        <p:nvSpPr>
          <p:cNvPr id="16" name="Meeting KPI Orders 3"/>
          <p:cNvSpPr txBox="1"/>
          <p:nvPr/>
        </p:nvSpPr>
        <p:spPr>
          <a:xfrm>
            <a:off x="9646919" y="2377439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7" name="Meeting KPI Partner Sessions 0"/>
          <p:cNvSpPr/>
          <p:nvPr/>
        </p:nvSpPr>
        <p:spPr>
          <a:xfrm>
            <a:off x="6812280" y="40233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Meeting KPI Partner Sessions 1"/>
          <p:cNvSpPr txBox="1"/>
          <p:nvPr/>
        </p:nvSpPr>
        <p:spPr>
          <a:xfrm>
            <a:off x="6995160" y="41513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Sessions</a:t>
            </a:r>
          </a:p>
        </p:txBody>
      </p:sp>
      <p:sp>
        <p:nvSpPr>
          <p:cNvPr id="19" name="Meeting KPI Partner Sessions 2"/>
          <p:cNvSpPr txBox="1"/>
          <p:nvPr/>
        </p:nvSpPr>
        <p:spPr>
          <a:xfrm>
            <a:off x="6995160" y="44439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1,030</a:t>
            </a:r>
          </a:p>
        </p:txBody>
      </p:sp>
      <p:sp>
        <p:nvSpPr>
          <p:cNvPr id="20" name="Meeting KPI Partner Sessions 3"/>
          <p:cNvSpPr txBox="1"/>
          <p:nvPr/>
        </p:nvSpPr>
        <p:spPr>
          <a:xfrm>
            <a:off x="6995160" y="4892040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21" name="Meeting KPI Partner CVR 0"/>
          <p:cNvSpPr/>
          <p:nvPr/>
        </p:nvSpPr>
        <p:spPr>
          <a:xfrm>
            <a:off x="9464040" y="40233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Meeting KPI Partner CVR 1"/>
          <p:cNvSpPr txBox="1"/>
          <p:nvPr/>
        </p:nvSpPr>
        <p:spPr>
          <a:xfrm>
            <a:off x="9646919" y="41513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CVR</a:t>
            </a:r>
          </a:p>
        </p:txBody>
      </p:sp>
      <p:sp>
        <p:nvSpPr>
          <p:cNvPr id="23" name="Meeting KPI Partner CVR 2"/>
          <p:cNvSpPr txBox="1"/>
          <p:nvPr/>
        </p:nvSpPr>
        <p:spPr>
          <a:xfrm>
            <a:off x="9646919" y="44439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20.6%</a:t>
            </a:r>
          </a:p>
        </p:txBody>
      </p:sp>
      <p:sp>
        <p:nvSpPr>
          <p:cNvPr id="24" name="Meeting KPI Partner CVR 3"/>
          <p:cNvSpPr txBox="1"/>
          <p:nvPr/>
        </p:nvSpPr>
        <p:spPr>
          <a:xfrm>
            <a:off x="9646919" y="4892040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25" name="Meeting KPI Partner CVR 4"/>
          <p:cNvSpPr txBox="1"/>
          <p:nvPr/>
        </p:nvSpPr>
        <p:spPr>
          <a:xfrm>
            <a:off x="9646919" y="5230368"/>
            <a:ext cx="19659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00A082"/>
                </a:solidFill>
                <a:latin typeface="Montserrat"/>
              </a:defRPr>
            </a:pPr>
            <a:r>
              <a:t>16.6 pp above FLOWERS benchmark</a:t>
            </a:r>
          </a:p>
        </p:txBody>
      </p:sp>
      <p:sp>
        <p:nvSpPr>
          <p:cNvPr id="26" name="Meeting interpretation top 0"/>
          <p:cNvSpPr txBox="1"/>
          <p:nvPr/>
        </p:nvSpPr>
        <p:spPr>
          <a:xfrm>
            <a:off x="6812280" y="3273552"/>
            <a:ext cx="4983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• GMV MoM comparison unavailable.</a:t>
            </a:r>
          </a:p>
        </p:txBody>
      </p:sp>
      <p:sp>
        <p:nvSpPr>
          <p:cNvPr id="27" name="Meeting interpretation conversion"/>
          <p:cNvSpPr txBox="1"/>
          <p:nvPr/>
        </p:nvSpPr>
        <p:spPr>
          <a:xfrm>
            <a:off x="6812280" y="5843016"/>
            <a:ext cx="498348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• Partner CVR is 16.6 pp above FLOWERS benchmark.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6419088"/>
            <a:ext cx="106527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Missing months / measurements are blank. Lines break at missing values.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Historical periods have Partial Store Coverage · See coverage details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Health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partner performance — Uptime vs 95% target; PNA/Cancels vs FLOWERS (August 2026)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Operating Store Uptime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67.5%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MoM: Not comparable — incomplete store coverage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D24646"/>
                </a:solidFill>
                <a:latin typeface="Montserrat"/>
              </a:defRPr>
            </a:pPr>
            <a:r>
              <a:t>27.5 pp worse than 95% target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PNA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MoM: Not comparable — incomplete store coverage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Benchmark unavailable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Cancels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2.4%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MoM: Not comparable — incomplete store coverage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00A082"/>
                </a:solidFill>
                <a:latin typeface="Montserrat"/>
              </a:defRPr>
            </a:pPr>
            <a:r>
              <a:t>6.0 pp better than FLOWERS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42239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Interpretation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797296"/>
            <a:ext cx="102412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Uptime is evaluated against a 95% operating target. Observed Uptime is treated as opening-hours configuration hygiene and does not increase business priority. Lower is better for PNA and Cancels. Uptime coverage: 2/2 operating stores. Missing current store records: 0.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Historical periods have Partial Store Coverage · See coverage details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68580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315468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67.5%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5468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95.0%</a:t>
            </a:r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438912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685800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7.8%</a:t>
            </a:r>
          </a:p>
        </p:txBody>
      </p:sp>
      <p:graphicFrame>
        <p:nvGraphicFramePr>
          <p:cNvPr id="29" name="Chart 28"/>
          <p:cNvGraphicFramePr>
            <a:graphicFrameLocks noGrp="1"/>
          </p:cNvGraphicFramePr>
          <p:nvPr/>
        </p:nvGraphicFramePr>
        <p:xfrm>
          <a:off x="809244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1056132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2.4%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6132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8.4%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Top GMV Stores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2648" y="1417320"/>
            <a:ext cx="7818120" cy="448056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36192"/>
            <a:ext cx="24505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Store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93592" y="1536192"/>
            <a:ext cx="9418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1728" y="1536192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Commercial 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0256" y="1536192"/>
            <a:ext cx="16642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Operational status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1965960"/>
            <a:ext cx="7818120" cy="649224"/>
          </a:xfrm>
          <a:prstGeom prst="roundRect">
            <a:avLst>
              <a:gd name="adj" fmla="val 9000"/>
            </a:avLst>
          </a:prstGeom>
          <a:solidFill>
            <a:srgbClr val="F7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93976"/>
            <a:ext cx="2194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039112"/>
            <a:ext cx="24505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Pet supplies branch A, Rustaveli Avenue 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2039112"/>
            <a:ext cx="9418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€2,000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2039112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Top Performer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0256" y="2039112"/>
            <a:ext cx="16642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Data review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" y="2670048"/>
            <a:ext cx="7818120" cy="64922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798064"/>
            <a:ext cx="2194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743200"/>
            <a:ext cx="24505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Pet supplies branch E, Rustaveli Avenue 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93592" y="2743200"/>
            <a:ext cx="9418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81728" y="2743200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Growth Potential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0256" y="2743200"/>
            <a:ext cx="16642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Opening-hours review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68512" y="1417320"/>
            <a:ext cx="2916936" cy="4873752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0" y="1618488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Top Stores</a:t>
            </a:r>
          </a:p>
        </p:txBody>
      </p:sp>
      <p:pic>
        <p:nvPicPr>
          <p:cNvPr id="24" name="Picture 23" descr="goldCrownCele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0388" y="1965960"/>
            <a:ext cx="1716607" cy="170992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869680" y="3767328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900" b="1">
                <a:solidFill>
                  <a:srgbClr val="00A082"/>
                </a:solidFill>
                <a:latin typeface="Montserrat"/>
              </a:defRPr>
            </a:pPr>
            <a:r>
              <a:t>100.0%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4553712"/>
            <a:ext cx="2487168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Top 2 stores generated 100.0% of total partner GMV in August 2026.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5815584"/>
            <a:ext cx="2487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Reported partner GMV: €2,020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Historical periods have Partial Store Coverage · See coverage details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How We Prioritize Opportunities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Higher Priority = stronger case for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537028"/>
            <a:ext cx="429768" cy="4280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89304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SEVERITY — 0–100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How large is the KPI problem?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Compared with the relevant SBU benchmark or operating target.</a:t>
            </a:r>
            <a:br/>
            <a:br/>
            <a:r>
              <a:t>Evidence volume and confidence are considered. Larger reliable negative gaps create higher Severity.</a:t>
            </a:r>
            <a:br/>
            <a:br/>
            <a:r>
              <a:t>Dominant-KPI protection keeps a major problem from being hidden by healthy KPIs.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9704" y="1537028"/>
            <a:ext cx="429768" cy="42809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0056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IMPACT — 0–100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How much business exposure</a:t>
            </a:r>
            <a:br/>
            <a:r>
              <a:t>sits behind the problem?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Order-related exposure behind the KPI gap. Higher-volume problems generally create higher Impact.</a:t>
            </a:r>
            <a:br/>
            <a:br/>
            <a:r>
              <a:t>Not euros. Not guaranteed recovered orders. Not a financial forecast.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5864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456" y="1537028"/>
            <a:ext cx="429768" cy="42809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750808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PRIORITY — 0–100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Where should we act first?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Metric Priority =</a:t>
            </a:r>
            <a:br/>
            <a:r>
              <a:t>KPI Severity × KPI Impact / 100</a:t>
            </a:r>
            <a:br/>
            <a:br/>
            <a:r>
              <a:t>Store Priority combines eligible KPI-level priorities, with dominant-KPI protection so one major issue cannot be diluted.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544568"/>
            <a:ext cx="5440680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681728"/>
            <a:ext cx="50566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038344"/>
            <a:ext cx="505663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The KPI with the strongest paired business case for action at that store.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27064" y="4544568"/>
            <a:ext cx="5486400" cy="96012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4681728"/>
            <a:ext cx="51023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BASE ACTION RULE · Priority ≥ 5.0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944" y="5038344"/>
            <a:ext cx="51023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The 5.0 threshold remains provisional. V2.1 overrides can classify lower-score stores ACTION.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5650992"/>
            <a:ext cx="11064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6E6E6E"/>
                </a:solidFill>
                <a:latin typeface="Montserrat"/>
              </a:defRPr>
            </a:pPr>
            <a:r>
              <a:t>Priority ranks stores. Separate V2.1 triage assigns ACTION / MONITOR / HEALTHY / UNCLASSIFIED (six ACTION stores shown by default).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" y="5971032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Missing evidence → incomplete assessment, not zero. Critical observations are reviewed separately from business Priority.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5352" y="5971032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Uptime: 95% target; restoration exposure uses healthy history where available. FLOWERS: hygiene only; excluded from business Priority.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6327648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Exposure components may overlap; headline exposure uses the largest. An opportunity signal, not a recovery promise.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45352" y="6327648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Benchmark: 2026-08. SBU peer composition is not available.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Historical periods have Partial Store Coverage · See coverage details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&amp; Data Review · Store 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Raw totals are retained. Incomplete-period growth comparisons are suppressed.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July 2026 · Partial Store Coverage · Expected 2 · Present 0 · Missing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Missing: Pet supplies branch A, Rustaveli Avenue 15 | Pet supplies branch E, Rustaveli Avenue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Historical periods have Partial Store Coverage · See coverage details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Confirm actions, responsibilities and the next review date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232323"/>
                </a:solidFill>
                <a:latin typeface="Montserrat"/>
              </a:defRPr>
            </a:pPr>
            <a:r>
              <a:t>Which interventions should we start first?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Partner Business Review · V9_Beta2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600" b="1">
                <a:solidFill>
                  <a:srgbClr val="00A082"/>
                </a:solidFill>
                <a:latin typeface="Montserrat"/>
              </a:defRPr>
            </a:pPr>
            <a:r>
              <a:t>Let’s turn the agreed actions into measurable progress.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APPENDIX — 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2 stores · Reference section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00A082"/>
                </a:solidFill>
                <a:latin typeface="Montserrat"/>
              </a:defRPr>
            </a:pPr>
            <a:r>
              <a:t>Store-level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4612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0">
                <a:solidFill>
                  <a:srgbClr val="232323"/>
                </a:solidFill>
                <a:latin typeface="Montserrat"/>
              </a:defRPr>
            </a:pPr>
            <a:r>
              <a:t>Lifecycle, KPI evidence and recommendations for each store.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Historical periods have Partial Store Coverage · See coverage details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 supplies branch A, Rustaveli Avenue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Tbilisi · 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INCOMPLETE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€2,000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200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400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20.0%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3.9%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+16.1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165734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7.8%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Gap not assessed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8.4%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-5.9 pp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525512" y="2345436"/>
            <a:ext cx="301524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537883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95.0%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At Target · +0.0 pp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2679191"/>
            <a:ext cx="24323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70" b="1">
                <a:solidFill>
                  <a:srgbClr val="6E6E6E"/>
                </a:solidFill>
                <a:latin typeface="Montserrat"/>
              </a:defRPr>
            </a:pPr>
            <a:r>
              <a:t>Hygiene only — excluded from business Priority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Leading known issue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known KPI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None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known exposure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87% · n=1,000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3867912" y="4453127"/>
            <a:ext cx="1637968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31520" y="4626864"/>
            <a:ext cx="48920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69" b="0">
                <a:solidFill>
                  <a:srgbClr val="232323"/>
                </a:solidFill>
                <a:latin typeface="Montserrat"/>
              </a:defRPr>
            </a:pPr>
            <a:r>
              <a:t>PNA · Rate unavailable / not assessed · n=400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98% · n=400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3867912" y="4983479"/>
            <a:ext cx="183772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Leading known issue trend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254496" y="448056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6E6E6E"/>
                </a:solidFill>
                <a:latin typeface="Montserrat"/>
              </a:defRPr>
            </a:pPr>
            <a:r>
              <a:t>Trend unavailable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Assessment incomplete — review evidence before selecting a business action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Unavailable metrics: PNA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Required data review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Review incomplete assessment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31520" y="6464808"/>
            <a:ext cx="10698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Evidence: Unavailable metrics: PNA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UNCLASSIFIED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 supplies branch E, Rustaveli Avenue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Tbilisi · 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40.0%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3.9%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+36.1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06584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7.8%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-7.8 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45736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75810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8.4%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-8.4 pp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537883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40.0%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Target · -55.0 pp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61704" y="2679191"/>
            <a:ext cx="24323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70" b="1">
                <a:solidFill>
                  <a:srgbClr val="6E6E6E"/>
                </a:solidFill>
                <a:latin typeface="Montserrat"/>
              </a:defRPr>
            </a:pPr>
            <a:r>
              <a:t>Hygiene only — excluded from business Priority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0.00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0.00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0.00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232323"/>
                </a:solidFill>
                <a:latin typeface="Montserrat"/>
              </a:defRPr>
            </a:pPr>
            <a:r>
              <a:t>PRIORITY &lt; 5.0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None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KPI / Severity Driver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None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Exposure KPI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 assessed exposure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17% · n=30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3867912" y="4453127"/>
            <a:ext cx="313944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1520" y="4626864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25% · n=10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3867912" y="4718303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3867912" y="4718303"/>
            <a:ext cx="470916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50% · n=10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3867912" y="4983479"/>
            <a:ext cx="941832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Main KPI trend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254496" y="448056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6E6E6E"/>
                </a:solidFill>
                <a:latin typeface="Montserrat"/>
              </a:defRPr>
            </a:pPr>
            <a:r>
              <a:t>Trend unavailable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Critical Review — raw observations; separate from business materiality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Uptime 40.0% · uptime observation (hygiene only)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Likely operational driver: No supported primary issue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Continue routine monitoring of performance and evidence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HEALTHY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Priority Opportunities &amp;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V2.1 business triage · Priority ranking remains unchanged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68512" y="1417320"/>
            <a:ext cx="2916936" cy="4901184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2648" y="1417320"/>
            <a:ext cx="7818120" cy="49011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2148840"/>
            <a:ext cx="7086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300" b="1">
                <a:solidFill>
                  <a:srgbClr val="232323"/>
                </a:solidFill>
                <a:latin typeface="Montserrat"/>
              </a:defRPr>
            </a:pPr>
            <a:r>
              <a:t>No stores classified ACTION</a:t>
            </a:r>
            <a:br/>
            <a:r>
              <a:t>under the current V2.1 rules.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3657600"/>
            <a:ext cx="7086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6E6E6E"/>
                </a:solidFill>
                <a:latin typeface="Montserrat"/>
              </a:defRPr>
            </a:pPr>
            <a:r>
              <a:t>MONITOR, HEALTHY and UNCLASSIFIED remain separate.</a:t>
            </a:r>
            <a:br/>
            <a:r>
              <a:t>Review operational/data observations and Appendix context.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06256" y="1865376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Next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06256" y="2231136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62288" y="2231136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Confirm priority stores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06256" y="2496312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62288" y="2496312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Assign owner / deadline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06256" y="2761488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62288" y="2761488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Track progress next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Historical periods have Partial Store Coverage · See coverage details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&amp; Data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 and hygiene remain visible independently of business Priority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10991088" cy="49377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view summary items to review"/>
          <p:cNvSpPr txBox="1"/>
          <p:nvPr/>
        </p:nvSpPr>
        <p:spPr>
          <a:xfrm>
            <a:off x="795528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7" name="Review summary label"/>
          <p:cNvSpPr txBox="1"/>
          <p:nvPr/>
        </p:nvSpPr>
        <p:spPr>
          <a:xfrm>
            <a:off x="1399032" y="1581912"/>
            <a:ext cx="2743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items to review</a:t>
            </a:r>
          </a:p>
        </p:txBody>
      </p:sp>
      <p:sp>
        <p:nvSpPr>
          <p:cNvPr id="8" name="Review summary stores affected"/>
          <p:cNvSpPr txBox="1"/>
          <p:nvPr/>
        </p:nvSpPr>
        <p:spPr>
          <a:xfrm>
            <a:off x="4462272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9" name="Review summary label"/>
          <p:cNvSpPr txBox="1"/>
          <p:nvPr/>
        </p:nvSpPr>
        <p:spPr>
          <a:xfrm>
            <a:off x="5065776" y="1581912"/>
            <a:ext cx="2743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stores affected</a:t>
            </a:r>
          </a:p>
        </p:txBody>
      </p:sp>
      <p:sp>
        <p:nvSpPr>
          <p:cNvPr id="10" name="Review summary critical observations"/>
          <p:cNvSpPr txBox="1"/>
          <p:nvPr/>
        </p:nvSpPr>
        <p:spPr>
          <a:xfrm>
            <a:off x="8129015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0</a:t>
            </a:r>
          </a:p>
        </p:txBody>
      </p:sp>
      <p:sp>
        <p:nvSpPr>
          <p:cNvPr id="11" name="Review summary label"/>
          <p:cNvSpPr txBox="1"/>
          <p:nvPr/>
        </p:nvSpPr>
        <p:spPr>
          <a:xfrm>
            <a:off x="8732519" y="1581912"/>
            <a:ext cx="2743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</a:t>
            </a:r>
          </a:p>
        </p:txBody>
      </p:sp>
      <p:sp>
        <p:nvSpPr>
          <p:cNvPr id="12" name="Review column STORE / LOCATION"/>
          <p:cNvSpPr txBox="1"/>
          <p:nvPr/>
        </p:nvSpPr>
        <p:spPr>
          <a:xfrm>
            <a:off x="813816" y="2039112"/>
            <a:ext cx="30175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STORE / LOCATION</a:t>
            </a:r>
          </a:p>
        </p:txBody>
      </p:sp>
      <p:sp>
        <p:nvSpPr>
          <p:cNvPr id="13" name="Review column TYPE"/>
          <p:cNvSpPr txBox="1"/>
          <p:nvPr/>
        </p:nvSpPr>
        <p:spPr>
          <a:xfrm>
            <a:off x="4059936" y="2039112"/>
            <a:ext cx="13258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TYPE</a:t>
            </a:r>
          </a:p>
        </p:txBody>
      </p:sp>
      <p:sp>
        <p:nvSpPr>
          <p:cNvPr id="14" name="Review column EVIDENCE"/>
          <p:cNvSpPr txBox="1"/>
          <p:nvPr/>
        </p:nvSpPr>
        <p:spPr>
          <a:xfrm>
            <a:off x="5577840" y="2039112"/>
            <a:ext cx="239572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EVIDENCE</a:t>
            </a:r>
          </a:p>
        </p:txBody>
      </p:sp>
      <p:sp>
        <p:nvSpPr>
          <p:cNvPr id="15" name="Review column REVIEW ACTION"/>
          <p:cNvSpPr txBox="1"/>
          <p:nvPr/>
        </p:nvSpPr>
        <p:spPr>
          <a:xfrm>
            <a:off x="8147304" y="2039112"/>
            <a:ext cx="32004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REVIEW ACTION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2368296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94360" y="2404872"/>
            <a:ext cx="41148" cy="822960"/>
          </a:xfrm>
          <a:prstGeom prst="roundRect">
            <a:avLst>
              <a:gd name="adj" fmla="val 8000"/>
            </a:avLst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view 0 store"/>
          <p:cNvSpPr txBox="1"/>
          <p:nvPr/>
        </p:nvSpPr>
        <p:spPr>
          <a:xfrm>
            <a:off x="813816" y="2514600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A, Rustaveli Avenue 15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13632" y="2523744"/>
            <a:ext cx="1572768" cy="402336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Review 0 icon" descr="icon_data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1063" y="2560320"/>
            <a:ext cx="256032" cy="256032"/>
          </a:xfrm>
          <a:prstGeom prst="rect">
            <a:avLst/>
          </a:prstGeom>
        </p:spPr>
      </p:pic>
      <p:sp>
        <p:nvSpPr>
          <p:cNvPr id="21" name="Review 0 type"/>
          <p:cNvSpPr txBox="1"/>
          <p:nvPr/>
        </p:nvSpPr>
        <p:spPr>
          <a:xfrm>
            <a:off x="4251960" y="2587752"/>
            <a:ext cx="11612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232323"/>
                </a:solidFill>
                <a:latin typeface="Montserrat"/>
              </a:defRPr>
            </a:pPr>
            <a:r>
              <a:t>Data quality</a:t>
            </a:r>
          </a:p>
        </p:txBody>
      </p:sp>
      <p:sp>
        <p:nvSpPr>
          <p:cNvPr id="22" name="Review 0 evidence"/>
          <p:cNvSpPr txBox="1"/>
          <p:nvPr/>
        </p:nvSpPr>
        <p:spPr>
          <a:xfrm>
            <a:off x="5577840" y="2514600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Missing scoring evidence: PNA</a:t>
            </a:r>
          </a:p>
        </p:txBody>
      </p:sp>
      <p:sp>
        <p:nvSpPr>
          <p:cNvPr id="23" name="Review 0 action"/>
          <p:cNvSpPr txBox="1"/>
          <p:nvPr/>
        </p:nvSpPr>
        <p:spPr>
          <a:xfrm>
            <a:off x="8147304" y="2514600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Reconcile current activity, lifecycle, missing inputs and benchmark coverage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3346704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94360" y="3383280"/>
            <a:ext cx="41148" cy="822960"/>
          </a:xfrm>
          <a:prstGeom prst="roundRect">
            <a:avLst>
              <a:gd name="adj" fmla="val 8000"/>
            </a:avLst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view 1 store"/>
          <p:cNvSpPr txBox="1"/>
          <p:nvPr/>
        </p:nvSpPr>
        <p:spPr>
          <a:xfrm>
            <a:off x="813816" y="3493008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E, Rustaveli Avenue 15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913632" y="3502152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Review 1 icon" descr="icon_opening_hou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1063" y="3538728"/>
            <a:ext cx="256032" cy="256032"/>
          </a:xfrm>
          <a:prstGeom prst="rect">
            <a:avLst/>
          </a:prstGeom>
        </p:spPr>
      </p:pic>
      <p:sp>
        <p:nvSpPr>
          <p:cNvPr id="29" name="Review 1 type"/>
          <p:cNvSpPr txBox="1"/>
          <p:nvPr/>
        </p:nvSpPr>
        <p:spPr>
          <a:xfrm>
            <a:off x="4251960" y="3566160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232323"/>
                </a:solidFill>
                <a:latin typeface="Montserrat"/>
              </a:defRPr>
            </a:pPr>
            <a:r>
              <a:t>Opening-hours hygiene</a:t>
            </a:r>
          </a:p>
        </p:txBody>
      </p:sp>
      <p:sp>
        <p:nvSpPr>
          <p:cNvPr id="30" name="Review 1 evidence"/>
          <p:cNvSpPr txBox="1"/>
          <p:nvPr/>
        </p:nvSpPr>
        <p:spPr>
          <a:xfrm>
            <a:off x="5577840" y="3493008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Observed uptime 40.0%; verify configured opening hours</a:t>
            </a:r>
          </a:p>
        </p:txBody>
      </p:sp>
      <p:sp>
        <p:nvSpPr>
          <p:cNvPr id="31" name="Review 1 action"/>
          <p:cNvSpPr txBox="1"/>
          <p:nvPr/>
        </p:nvSpPr>
        <p:spPr>
          <a:xfrm>
            <a:off x="8147304" y="3493008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Verify and correct configured store opening hours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Historical periods have Partial Store Coverage · See coverage details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Action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Additional agreed actions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dditional action 1"/>
          <p:cNvSpPr txBox="1"/>
          <p:nvPr/>
        </p:nvSpPr>
        <p:spPr>
          <a:xfrm>
            <a:off x="777240" y="1627632"/>
            <a:ext cx="5001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ACTION 1</a:t>
            </a:r>
          </a:p>
        </p:txBody>
      </p:sp>
      <p:sp>
        <p:nvSpPr>
          <p:cNvPr id="7" name="Additional action 1Action / Topic label"/>
          <p:cNvSpPr txBox="1"/>
          <p:nvPr/>
        </p:nvSpPr>
        <p:spPr>
          <a:xfrm>
            <a:off x="777240" y="2103120"/>
            <a:ext cx="5001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Action / Topic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23160"/>
            <a:ext cx="5093208" cy="64008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dditional action 1Action / Topic"/>
          <p:cNvSpPr txBox="1"/>
          <p:nvPr/>
        </p:nvSpPr>
        <p:spPr>
          <a:xfrm>
            <a:off x="850392" y="254203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pic>
        <p:nvPicPr>
          <p:cNvPr id="10" name="Additional action 1 agreed icon" descr="icon_agreed_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127248"/>
            <a:ext cx="246888" cy="246888"/>
          </a:xfrm>
          <a:prstGeom prst="rect">
            <a:avLst/>
          </a:prstGeom>
        </p:spPr>
      </p:pic>
      <p:sp>
        <p:nvSpPr>
          <p:cNvPr id="11" name="Additional action 1Agreed Action label"/>
          <p:cNvSpPr txBox="1"/>
          <p:nvPr/>
        </p:nvSpPr>
        <p:spPr>
          <a:xfrm>
            <a:off x="1088136" y="3154680"/>
            <a:ext cx="46908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Agreed Action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74720"/>
            <a:ext cx="5093208" cy="91440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Additional action 1Agreed Action"/>
          <p:cNvSpPr txBox="1"/>
          <p:nvPr/>
        </p:nvSpPr>
        <p:spPr>
          <a:xfrm>
            <a:off x="850392" y="359359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4" name="Additional action 1Owner label"/>
          <p:cNvSpPr txBox="1"/>
          <p:nvPr/>
        </p:nvSpPr>
        <p:spPr>
          <a:xfrm>
            <a:off x="777240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15" name="Additional action 1Owner"/>
          <p:cNvSpPr txBox="1"/>
          <p:nvPr/>
        </p:nvSpPr>
        <p:spPr>
          <a:xfrm>
            <a:off x="777240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6" name="Additional action 1Contact label"/>
          <p:cNvSpPr txBox="1"/>
          <p:nvPr/>
        </p:nvSpPr>
        <p:spPr>
          <a:xfrm>
            <a:off x="3461004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17" name="Additional action 1Contact"/>
          <p:cNvSpPr txBox="1"/>
          <p:nvPr/>
        </p:nvSpPr>
        <p:spPr>
          <a:xfrm>
            <a:off x="3461004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8" name="Additional action 1ETA label"/>
          <p:cNvSpPr txBox="1"/>
          <p:nvPr/>
        </p:nvSpPr>
        <p:spPr>
          <a:xfrm>
            <a:off x="777240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19" name="Additional action 1ETA"/>
          <p:cNvSpPr txBox="1"/>
          <p:nvPr/>
        </p:nvSpPr>
        <p:spPr>
          <a:xfrm>
            <a:off x="777240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0" name="Additional action 1Follow-up KPI label"/>
          <p:cNvSpPr txBox="1"/>
          <p:nvPr/>
        </p:nvSpPr>
        <p:spPr>
          <a:xfrm>
            <a:off x="3461004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21" name="Additional action 1Follow-up KPI"/>
          <p:cNvSpPr txBox="1"/>
          <p:nvPr/>
        </p:nvSpPr>
        <p:spPr>
          <a:xfrm>
            <a:off x="3461004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Additional action 2"/>
          <p:cNvSpPr txBox="1"/>
          <p:nvPr/>
        </p:nvSpPr>
        <p:spPr>
          <a:xfrm>
            <a:off x="6400800" y="1627632"/>
            <a:ext cx="5001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ACTION 2</a:t>
            </a:r>
          </a:p>
        </p:txBody>
      </p:sp>
      <p:sp>
        <p:nvSpPr>
          <p:cNvPr id="24" name="Additional action 2Action / Topic label"/>
          <p:cNvSpPr txBox="1"/>
          <p:nvPr/>
        </p:nvSpPr>
        <p:spPr>
          <a:xfrm>
            <a:off x="6400800" y="2103120"/>
            <a:ext cx="5001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Action / Topic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2423160"/>
            <a:ext cx="5093208" cy="64008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Additional action 2Action / Topic"/>
          <p:cNvSpPr txBox="1"/>
          <p:nvPr/>
        </p:nvSpPr>
        <p:spPr>
          <a:xfrm>
            <a:off x="6473952" y="254203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pic>
        <p:nvPicPr>
          <p:cNvPr id="27" name="Additional action 2 agreed icon" descr="icon_agreed_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127248"/>
            <a:ext cx="246888" cy="246888"/>
          </a:xfrm>
          <a:prstGeom prst="rect">
            <a:avLst/>
          </a:prstGeom>
        </p:spPr>
      </p:pic>
      <p:sp>
        <p:nvSpPr>
          <p:cNvPr id="28" name="Additional action 2Agreed Action label"/>
          <p:cNvSpPr txBox="1"/>
          <p:nvPr/>
        </p:nvSpPr>
        <p:spPr>
          <a:xfrm>
            <a:off x="6711696" y="3154680"/>
            <a:ext cx="46908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Agreed Action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5080" y="3474720"/>
            <a:ext cx="5093208" cy="91440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Additional action 2Agreed Action"/>
          <p:cNvSpPr txBox="1"/>
          <p:nvPr/>
        </p:nvSpPr>
        <p:spPr>
          <a:xfrm>
            <a:off x="6473952" y="359359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1" name="Additional action 2Owner label"/>
          <p:cNvSpPr txBox="1"/>
          <p:nvPr/>
        </p:nvSpPr>
        <p:spPr>
          <a:xfrm>
            <a:off x="6400800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32" name="Additional action 2Owner"/>
          <p:cNvSpPr txBox="1"/>
          <p:nvPr/>
        </p:nvSpPr>
        <p:spPr>
          <a:xfrm>
            <a:off x="6400800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3" name="Additional action 2Contact label"/>
          <p:cNvSpPr txBox="1"/>
          <p:nvPr/>
        </p:nvSpPr>
        <p:spPr>
          <a:xfrm>
            <a:off x="9084564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34" name="Additional action 2Contact"/>
          <p:cNvSpPr txBox="1"/>
          <p:nvPr/>
        </p:nvSpPr>
        <p:spPr>
          <a:xfrm>
            <a:off x="9084564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5" name="Additional action 2ETA label"/>
          <p:cNvSpPr txBox="1"/>
          <p:nvPr/>
        </p:nvSpPr>
        <p:spPr>
          <a:xfrm>
            <a:off x="6400800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36" name="Additional action 2ETA"/>
          <p:cNvSpPr txBox="1"/>
          <p:nvPr/>
        </p:nvSpPr>
        <p:spPr>
          <a:xfrm>
            <a:off x="6400800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7" name="Additional action 2Follow-up KPI label"/>
          <p:cNvSpPr txBox="1"/>
          <p:nvPr/>
        </p:nvSpPr>
        <p:spPr>
          <a:xfrm>
            <a:off x="9084564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38" name="Additional action 2Follow-up KPI"/>
          <p:cNvSpPr txBox="1"/>
          <p:nvPr/>
        </p:nvSpPr>
        <p:spPr>
          <a:xfrm>
            <a:off x="9084564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4360" y="6144768"/>
            <a:ext cx="10991088" cy="393192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Next check-in icon" descr="icon_next_check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6217920"/>
            <a:ext cx="256032" cy="256032"/>
          </a:xfrm>
          <a:prstGeom prst="rect">
            <a:avLst/>
          </a:prstGeom>
        </p:spPr>
      </p:pic>
      <p:sp>
        <p:nvSpPr>
          <p:cNvPr id="41" name="Next check-in label"/>
          <p:cNvSpPr txBox="1"/>
          <p:nvPr/>
        </p:nvSpPr>
        <p:spPr>
          <a:xfrm>
            <a:off x="1097280" y="6245352"/>
            <a:ext cx="11247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Next check-in:</a:t>
            </a:r>
          </a:p>
        </p:txBody>
      </p:sp>
      <p:sp>
        <p:nvSpPr>
          <p:cNvPr id="42" name="Next check-in"/>
          <p:cNvSpPr txBox="1"/>
          <p:nvPr/>
        </p:nvSpPr>
        <p:spPr>
          <a:xfrm>
            <a:off x="2267712" y="6236208"/>
            <a:ext cx="8961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Historical periods have Partial Store Coverage · See coverage details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PetFood Business Review</dc:title>
  <dc:subject>PetFood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cp:version>V9_Beta2</cp:version>
</cp:coreProperties>
</file>
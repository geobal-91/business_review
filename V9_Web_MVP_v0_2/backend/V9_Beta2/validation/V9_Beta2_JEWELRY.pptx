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7" r:id="rId29"/>
    <p:sldId id="278" r:id="rId30"/>
    <p:sldId id="279" r:id="rId31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"None", "Likely Operational Driver": "No supported primary issue",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Partner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September 2025 –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JEWELRY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V9_Beta2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JEWELRY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€3,816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19.7%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26.9%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9.8%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0.6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205740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205740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13456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decreased 19.7%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Higher basket size partly offset lower order volume.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declined by 0.6 pp to 2.2%.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JEWELRY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JEWELRY GMV changed +332.0%, while orders changed +182.1%.</a:t>
            </a:r>
          </a:p>
        </p:txBody>
      </p:sp>
      <p:pic>
        <p:nvPicPr>
          <p:cNvPr id="8" name="Picture 7" descr="sbu_jewel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vs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JEWELRY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€44.10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8.7% worse than JEWELRY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2.0 pp better than JEWELRY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59.8%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39.1 pp better than JEWELRY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vs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JEWELRY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+759.7%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+779.4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+400.0%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+426.9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+71.9%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+62.1 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Share of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JEWELRY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JEWELRY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5.2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gained 5.24 pp of JEWELRY GMV share vs previous month.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759.7% vs prev. month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400.0% vs prev. month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€44.10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71.9% vs prev.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8.7% worse than JEWELRY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3.4 pp vs prev.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2.0 pp better than JEWELRY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42900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• GMV changed +759.7% vs previous month.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95928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• Order volume moved more sharply than basket size during the month.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62856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• Partner CVR is 2.0 pp better than the selected JEWELRY benchmark (August 2026).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Performance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rtner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Order volume and average basket evolution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owth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Conversion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CVR vs JEWELRY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version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JEWELRY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1.0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3.9 pp better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4747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84048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Store Performance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Commercial position is separate from operational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ore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417320"/>
            <a:ext cx="6720840" cy="45537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417320"/>
            <a:ext cx="3950208" cy="464515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1" y="1572768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Store legend</a:t>
            </a:r>
          </a:p>
        </p:txBody>
      </p:sp>
      <p:sp>
        <p:nvSpPr>
          <p:cNvPr id="8" name="Store color: address:70 vazha pshavela ave, tbilisi 0186 0101 tbilisi t'bilisi georgia"/>
          <p:cNvSpPr/>
          <p:nvPr/>
        </p:nvSpPr>
        <p:spPr>
          <a:xfrm>
            <a:off x="7818120" y="1970532"/>
            <a:ext cx="118872" cy="118872"/>
          </a:xfrm>
          <a:prstGeom prst="ellipse">
            <a:avLst/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ore legend: address:70 vazha pshavela ave, tbilisi 0186 0101 tbilisi t'bilisi georgia"/>
          <p:cNvSpPr txBox="1"/>
          <p:nvPr/>
        </p:nvSpPr>
        <p:spPr>
          <a:xfrm>
            <a:off x="8065008" y="1938528"/>
            <a:ext cx="331927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70 Vazha Pshavela Ave, Tbilisi 0186 0101 Tbilisi T'bilisi Georgia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91656"/>
            <a:ext cx="106984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Positioning uses GMV and conversion; opportunity ranking uses the assessed KPI gaps and exposure.</a:t>
            </a:r>
          </a:p>
        </p:txBody>
      </p:sp>
      <p:sp>
        <p:nvSpPr>
          <p:cNvPr id="11" name="Matrix cohort note"/>
          <p:cNvSpPr txBox="1"/>
          <p:nvPr/>
        </p:nvSpPr>
        <p:spPr>
          <a:xfrm>
            <a:off x="731520" y="6117336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1 store plotted · 0 stores reviewed separately.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70 Vazha Pshavela Ave, Tbilisi 0186 0101 Tbilisi T'bilisi Georgia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3639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70 Vazha Pshavela Ave, Tbilisi 0186 0101 Tbilisi T'bilisi Georgia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+2.0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9866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12.1%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-12.1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11.0%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-11.0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Target · +3.9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7783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44% · n=118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82937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14% · n=5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26909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33% · n=5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62788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No supported primary issue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Continue routine monitoring of performance and evidence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owners and dates for the selected V2.1 ACTION stores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Primary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71600"/>
            <a:ext cx="5925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Recommended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9" y="1371600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Owner / deadline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